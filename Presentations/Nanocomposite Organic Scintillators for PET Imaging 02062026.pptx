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301" r:id="rId3"/>
    <p:sldId id="294" r:id="rId4"/>
    <p:sldId id="302" r:id="rId5"/>
    <p:sldId id="341" r:id="rId6"/>
    <p:sldId id="263" r:id="rId7"/>
    <p:sldId id="277" r:id="rId8"/>
    <p:sldId id="281" r:id="rId9"/>
    <p:sldId id="297" r:id="rId10"/>
    <p:sldId id="282" r:id="rId11"/>
    <p:sldId id="298" r:id="rId12"/>
    <p:sldId id="340" r:id="rId13"/>
    <p:sldId id="288" r:id="rId14"/>
    <p:sldId id="271" r:id="rId15"/>
    <p:sldId id="273" r:id="rId16"/>
    <p:sldId id="303" r:id="rId17"/>
    <p:sldId id="343" r:id="rId18"/>
    <p:sldId id="344" r:id="rId19"/>
    <p:sldId id="345" r:id="rId20"/>
    <p:sldId id="347" r:id="rId21"/>
    <p:sldId id="346" r:id="rId22"/>
    <p:sldId id="349" r:id="rId23"/>
    <p:sldId id="350" r:id="rId24"/>
    <p:sldId id="262" r:id="rId25"/>
    <p:sldId id="285" r:id="rId26"/>
    <p:sldId id="351" r:id="rId27"/>
    <p:sldId id="352" r:id="rId28"/>
    <p:sldId id="353" r:id="rId29"/>
    <p:sldId id="354" r:id="rId30"/>
    <p:sldId id="355" r:id="rId31"/>
    <p:sldId id="339" r:id="rId32"/>
    <p:sldId id="337" r:id="rId33"/>
    <p:sldId id="357" r:id="rId34"/>
    <p:sldId id="356" r:id="rId35"/>
    <p:sldId id="338" r:id="rId36"/>
    <p:sldId id="29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0C5626-C32A-402F-BE00-6C735D94C686}">
          <p14:sldIdLst>
            <p14:sldId id="257"/>
            <p14:sldId id="301"/>
            <p14:sldId id="294"/>
            <p14:sldId id="302"/>
          </p14:sldIdLst>
        </p14:section>
        <p14:section name="Detection Mechanisms" id="{5000312F-0D0F-439B-9439-80F7BAA5F8CE}">
          <p14:sldIdLst>
            <p14:sldId id="341"/>
            <p14:sldId id="263"/>
            <p14:sldId id="277"/>
            <p14:sldId id="281"/>
            <p14:sldId id="297"/>
            <p14:sldId id="282"/>
            <p14:sldId id="298"/>
            <p14:sldId id="340"/>
            <p14:sldId id="288"/>
            <p14:sldId id="271"/>
            <p14:sldId id="273"/>
            <p14:sldId id="303"/>
            <p14:sldId id="343"/>
            <p14:sldId id="344"/>
            <p14:sldId id="345"/>
            <p14:sldId id="347"/>
            <p14:sldId id="346"/>
            <p14:sldId id="349"/>
            <p14:sldId id="350"/>
            <p14:sldId id="262"/>
            <p14:sldId id="285"/>
            <p14:sldId id="351"/>
            <p14:sldId id="352"/>
            <p14:sldId id="353"/>
            <p14:sldId id="354"/>
            <p14:sldId id="355"/>
            <p14:sldId id="339"/>
            <p14:sldId id="337"/>
            <p14:sldId id="357"/>
            <p14:sldId id="356"/>
            <p14:sldId id="338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8555"/>
    <a:srgbClr val="004A7A"/>
    <a:srgbClr val="CCD2D8"/>
    <a:srgbClr val="959696"/>
    <a:srgbClr val="A6CAEC"/>
    <a:srgbClr val="000000"/>
    <a:srgbClr val="167FC1"/>
    <a:srgbClr val="D1EFD7"/>
    <a:srgbClr val="1E78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102" autoAdjust="0"/>
  </p:normalViewPr>
  <p:slideViewPr>
    <p:cSldViewPr snapToGrid="0">
      <p:cViewPr varScale="1">
        <p:scale>
          <a:sx n="79" d="100"/>
          <a:sy n="79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8DFE1-7EAC-43FD-BA9B-99B7BB719F87}" type="datetimeFigureOut">
              <a:rPr lang="en-ZA" smtClean="0"/>
              <a:t>2026/06/01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0D3248-42F3-4A3E-9A0B-C5E0B6D37D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694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sz="1200" dirty="0">
                <a:solidFill>
                  <a:schemeClr val="accent3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Why are they expensive?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sz="1200" dirty="0">
                <a:solidFill>
                  <a:schemeClr val="accent3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How can we make them cheaper?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3248-42F3-4A3E-9A0B-C5E0B6D37D5C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328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In this case, we are “seeing” gamma rays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3248-42F3-4A3E-9A0B-C5E0B6D37D5C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6614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3A3E-23F8-3F56-F64B-3583FD674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BADB2-1C68-C6B2-8EB0-0449F7E05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9D3CA-D267-AECC-B525-D5C3E57A6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Talk about the excitation and decay of electrons (excitons)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836A3-4B04-C7FE-A92D-E4913A3BD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3248-42F3-4A3E-9A0B-C5E0B6D37D5C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3852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F622E-B94C-97F7-C0E3-5613C686A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4936F-1488-EF6B-9FF7-74312AEAD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EA2F8-C8C1-0DD9-1DD5-91D2F586A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E0BCF-5033-4399-AA5F-B38387D73348}" type="datetime1">
              <a:rPr lang="en-ZA" smtClean="0"/>
              <a:t>2026/06/01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199D0-2F68-33E2-8C13-24A07F58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C8D86-0A76-0549-BCD6-D1ECD81D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09429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CE953-E225-E932-7D2C-0911E2919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6E40F-F37E-353F-D133-7C46EFE0B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DB2E1-412A-7EE4-DDAE-FBE02A6C1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9135-4A97-4E5A-8CD3-E77ED191C6AA}" type="datetime1">
              <a:rPr lang="en-ZA" smtClean="0"/>
              <a:t>2026/06/01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C9DB7-8095-68EB-493E-45F632E77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F39D7-82AA-4FA2-7328-BC5C997D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6954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06DF-074A-611B-A393-1BB886BA1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E570A-9D62-B498-E0C2-6506E5A90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AAC74-0797-8B82-27FB-DFC012C0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69A2-6B1A-473D-931F-6DD9AFD9B928}" type="datetime1">
              <a:rPr lang="en-ZA" smtClean="0"/>
              <a:t>2026/06/01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8DAB8-F303-7F97-75FC-68E9DB9CC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3288D-38D4-7CA7-B532-DE6848625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229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F9F5E-79FE-8B90-20FB-377F6B441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C3EA-6A19-2707-C93F-1732F33C8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39C64-7CDB-0B9A-10E1-FFB311823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312F7-1A7B-BE62-A1FA-6085B3255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5623-FEC3-4389-B176-DBA8162DA411}" type="datetime1">
              <a:rPr lang="en-ZA" smtClean="0"/>
              <a:t>2026/06/01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D60FA-74BE-F9EE-DDFA-40FA15E3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9FC99-8D55-D295-A9C4-E863DBCF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9465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4B82-7184-C614-DD9F-2BD55BC78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1927A-BC8A-2EBB-C8CA-AFC3513FA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674BB-AC0A-C945-3311-402D216CA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FC7DFD-618B-2BF7-A868-E0059C8254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E9EFEA-BD69-3156-B08F-CEA720BC1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78B677-AB1D-5BF4-5630-F29B2908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CC7E0-5854-45A3-B3C2-238E23BFFD5D}" type="datetime1">
              <a:rPr lang="en-ZA" smtClean="0"/>
              <a:t>2026/06/01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B6168-31FF-CCCE-2F73-9F04E8D34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09F7F-5F0F-A7B5-A0D1-E4236DC1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114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4826-48C9-4330-D03B-8E35D4B76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4F632-3F91-E612-8796-6F6870DE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225C-63E2-44AC-AD3D-794F01DB85C6}" type="datetime1">
              <a:rPr lang="en-ZA" smtClean="0"/>
              <a:t>2026/06/01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605D0-8974-5271-F5E5-26050D39C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15C3F-429C-13D7-1BC1-71D54DED0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625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C7D1B9-3743-0E48-3AB0-3B3DF3BC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DF87-C7D9-4D98-97D1-CF8FAF96D86F}" type="datetime1">
              <a:rPr lang="en-ZA" smtClean="0"/>
              <a:t>2026/06/01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48761-1CB2-8339-0E00-303AE593E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C49D8-8729-71AB-28F7-DA8B8CB0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7665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1AD9-2D80-9A04-257C-74A208553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3A0FF-1AD6-7692-F753-DFD52E1E1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CDC35-3A05-2ADD-18E1-2C287523B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4930C-39B8-5F9F-C16C-3762959B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78296-1CE6-4AAC-A22D-01462A7CC43F}" type="datetime1">
              <a:rPr lang="en-ZA" smtClean="0"/>
              <a:t>2026/06/01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30B5F-FC5B-312D-1D1F-7B727DEE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EE549-067E-BDFA-73D7-7C5BDE2D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5270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BEBB-9EC0-93EE-4FB0-530A5249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698859-185C-6DEA-4E63-ECFF874DF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03D9D-7583-FB9A-BDF6-66A340E72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10B4F-ECB5-BED8-5328-411532A60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5250D-9D25-4665-98DB-DD4E830ED65C}" type="datetime1">
              <a:rPr lang="en-ZA" smtClean="0"/>
              <a:t>2026/06/01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35F32-5323-3843-9579-68C0BEB0C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D9CB0-9C59-2FC7-ED0C-F4CCE8225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986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D11CF-C74A-6FD9-AC48-C0EAF31C6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FFB24-23B0-9AEA-C494-3D051EFB2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D8599-AAA6-417D-BF27-57C9809BC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9F45-8621-47CF-968F-6F4D9CB7788E}" type="datetime1">
              <a:rPr lang="en-ZA" smtClean="0"/>
              <a:t>2026/06/01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BD587-F1B9-4AA2-0E84-5F2BEE17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E0B98-CEB1-EA1F-25A6-B32AFE02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497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82EA0E-4709-33FF-BB96-E96C12AFDD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ACFCF-68EB-9F2C-2B06-3CCDA6F08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E5ACF-2CA8-D0DB-1DB5-DA2673BC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743F-F590-42A7-A481-E539F2340CE5}" type="datetime1">
              <a:rPr lang="en-ZA" smtClean="0"/>
              <a:t>2026/06/01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B00AA-9A44-DD3C-B94D-44FE38FB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90412-5EBE-1190-F134-82C86AC7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09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56163-B30D-178E-7BB0-5B2279919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CCF56-966B-52D8-2B14-FE858C272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CAC42-7692-B02D-2BAC-45F9ACC60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BBD84-E90B-4F15-88B7-EFB9BF229170}" type="datetime1">
              <a:rPr lang="en-ZA" smtClean="0"/>
              <a:t>2026/06/01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41837-A352-1A5F-9BBA-00409F6B1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E6327-D286-4AB1-53A1-CA8FE8825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8E0BBC-C811-4B41-B5E2-8F25E4C64F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5830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.jp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" Type="http://schemas.openxmlformats.org/officeDocument/2006/relationships/image" Target="../media/image140.png"/><Relationship Id="rId21" Type="http://schemas.openxmlformats.org/officeDocument/2006/relationships/image" Target="../media/image39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2" Type="http://schemas.openxmlformats.org/officeDocument/2006/relationships/image" Target="../media/image4.svg"/><Relationship Id="rId16" Type="http://schemas.openxmlformats.org/officeDocument/2006/relationships/image" Target="../media/image17.sv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2.png"/><Relationship Id="rId5" Type="http://schemas.openxmlformats.org/officeDocument/2006/relationships/image" Target="../media/image1.jpg"/><Relationship Id="rId15" Type="http://schemas.openxmlformats.org/officeDocument/2006/relationships/image" Target="../media/image34.png"/><Relationship Id="rId23" Type="http://schemas.openxmlformats.org/officeDocument/2006/relationships/image" Target="../media/image41.png"/><Relationship Id="rId10" Type="http://schemas.openxmlformats.org/officeDocument/2006/relationships/image" Target="../media/image29.png"/><Relationship Id="rId19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65.png"/><Relationship Id="rId3" Type="http://schemas.openxmlformats.org/officeDocument/2006/relationships/image" Target="../media/image160.png"/><Relationship Id="rId21" Type="http://schemas.openxmlformats.org/officeDocument/2006/relationships/image" Target="../media/image60.png"/><Relationship Id="rId34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33" Type="http://schemas.openxmlformats.org/officeDocument/2006/relationships/image" Target="../media/image41.png"/><Relationship Id="rId2" Type="http://schemas.openxmlformats.org/officeDocument/2006/relationships/image" Target="../media/image4.svg"/><Relationship Id="rId16" Type="http://schemas.openxmlformats.org/officeDocument/2006/relationships/image" Target="../media/image17.svg"/><Relationship Id="rId20" Type="http://schemas.openxmlformats.org/officeDocument/2006/relationships/image" Target="../media/image59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32" Type="http://schemas.openxmlformats.org/officeDocument/2006/relationships/image" Target="../media/image40.png"/><Relationship Id="rId5" Type="http://schemas.openxmlformats.org/officeDocument/2006/relationships/image" Target="../media/image1.jp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28" Type="http://schemas.openxmlformats.org/officeDocument/2006/relationships/image" Target="../media/image36.png"/><Relationship Id="rId36" Type="http://schemas.openxmlformats.org/officeDocument/2006/relationships/image" Target="../media/image44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31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35" Type="http://schemas.openxmlformats.org/officeDocument/2006/relationships/image" Target="../media/image43.png"/><Relationship Id="rId8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55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11" Type="http://schemas.openxmlformats.org/officeDocument/2006/relationships/image" Target="../media/image2.png"/><Relationship Id="rId5" Type="http://schemas.openxmlformats.org/officeDocument/2006/relationships/image" Target="../media/image19.png"/><Relationship Id="rId15" Type="http://schemas.openxmlformats.org/officeDocument/2006/relationships/image" Target="../media/image4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7" Type="http://schemas.openxmlformats.org/officeDocument/2006/relationships/image" Target="../media/image69.png"/><Relationship Id="rId12" Type="http://schemas.openxmlformats.org/officeDocument/2006/relationships/image" Target="../media/image740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1.jp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74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11" Type="http://schemas.openxmlformats.org/officeDocument/2006/relationships/image" Target="../media/image5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78.svg"/><Relationship Id="rId18" Type="http://schemas.openxmlformats.org/officeDocument/2006/relationships/image" Target="../media/image4.svg"/><Relationship Id="rId3" Type="http://schemas.openxmlformats.org/officeDocument/2006/relationships/image" Target="../media/image80.png"/><Relationship Id="rId7" Type="http://schemas.openxmlformats.org/officeDocument/2006/relationships/image" Target="../media/image810.png"/><Relationship Id="rId12" Type="http://schemas.openxmlformats.org/officeDocument/2006/relationships/image" Target="../media/image1.jpg"/><Relationship Id="rId17" Type="http://schemas.openxmlformats.org/officeDocument/2006/relationships/image" Target="../media/image88.png"/><Relationship Id="rId2" Type="http://schemas.openxmlformats.org/officeDocument/2006/relationships/image" Target="../media/image76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15" Type="http://schemas.openxmlformats.org/officeDocument/2006/relationships/image" Target="../media/image80.svg"/><Relationship Id="rId10" Type="http://schemas.openxmlformats.org/officeDocument/2006/relationships/image" Target="../media/image77.svg"/><Relationship Id="rId19" Type="http://schemas.openxmlformats.org/officeDocument/2006/relationships/image" Target="../media/image89.png"/><Relationship Id="rId4" Type="http://schemas.openxmlformats.org/officeDocument/2006/relationships/image" Target="../media/image81.png"/><Relationship Id="rId9" Type="http://schemas.openxmlformats.org/officeDocument/2006/relationships/image" Target="../media/image17.svg"/><Relationship Id="rId14" Type="http://schemas.openxmlformats.org/officeDocument/2006/relationships/image" Target="../media/image7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g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g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3.pn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4.pn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5.png"/><Relationship Id="rId5" Type="http://schemas.openxmlformats.org/officeDocument/2006/relationships/image" Target="../media/image90.png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7.jpeg"/><Relationship Id="rId5" Type="http://schemas.openxmlformats.org/officeDocument/2006/relationships/image" Target="../media/image86.jpg"/><Relationship Id="rId4" Type="http://schemas.openxmlformats.org/officeDocument/2006/relationships/image" Target="../media/image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6.jpg"/><Relationship Id="rId4" Type="http://schemas.openxmlformats.org/officeDocument/2006/relationships/image" Target="../media/image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jpg"/><Relationship Id="rId5" Type="http://schemas.openxmlformats.org/officeDocument/2006/relationships/image" Target="../media/image2.png"/><Relationship Id="rId4" Type="http://schemas.openxmlformats.org/officeDocument/2006/relationships/image" Target="../media/image9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10.png"/><Relationship Id="rId7" Type="http://schemas.openxmlformats.org/officeDocument/2006/relationships/image" Target="../media/image97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6.png"/><Relationship Id="rId5" Type="http://schemas.openxmlformats.org/officeDocument/2006/relationships/image" Target="../media/image1.jpg"/><Relationship Id="rId10" Type="http://schemas.openxmlformats.org/officeDocument/2006/relationships/image" Target="../media/image100.png"/><Relationship Id="rId4" Type="http://schemas.openxmlformats.org/officeDocument/2006/relationships/image" Target="../media/image2.png"/><Relationship Id="rId9" Type="http://schemas.openxmlformats.org/officeDocument/2006/relationships/image" Target="../media/image9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95.png"/><Relationship Id="rId4" Type="http://schemas.openxmlformats.org/officeDocument/2006/relationships/image" Target="../media/image9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5.jpe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4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2.png"/><Relationship Id="rId7" Type="http://schemas.openxmlformats.org/officeDocument/2006/relationships/image" Target="../media/image10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1.jpeg"/><Relationship Id="rId5" Type="http://schemas.openxmlformats.org/officeDocument/2006/relationships/image" Target="../media/image110.jpeg"/><Relationship Id="rId4" Type="http://schemas.openxmlformats.org/officeDocument/2006/relationships/image" Target="../media/image4.svg"/><Relationship Id="rId9" Type="http://schemas.openxmlformats.org/officeDocument/2006/relationships/image" Target="../media/image10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2.png"/><Relationship Id="rId4" Type="http://schemas.openxmlformats.org/officeDocument/2006/relationships/image" Target="../media/image4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6CD72C4-3267-170C-EE92-F3B44668AB8E}"/>
              </a:ext>
            </a:extLst>
          </p:cNvPr>
          <p:cNvSpPr/>
          <p:nvPr/>
        </p:nvSpPr>
        <p:spPr>
          <a:xfrm>
            <a:off x="0" y="2386598"/>
            <a:ext cx="12192000" cy="3081898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9DAA96-3BC4-96BC-BB17-9D51F327E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114" y="2584430"/>
            <a:ext cx="11588885" cy="1973223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Nanocomposite Organic Scintillators for PET Imaging</a:t>
            </a:r>
            <a:endParaRPr lang="en-ZA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1E773-15C2-5974-D6D7-3CC08A8E5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114" y="4202922"/>
            <a:ext cx="9144000" cy="1368398"/>
          </a:xfrm>
        </p:spPr>
        <p:txBody>
          <a:bodyPr/>
          <a:lstStyle/>
          <a:p>
            <a:pPr algn="l"/>
            <a:endParaRPr lang="en-ZA" i="1" u="sng" dirty="0">
              <a:solidFill>
                <a:schemeClr val="bg1"/>
              </a:solidFill>
            </a:endParaRPr>
          </a:p>
          <a:p>
            <a:pPr algn="l"/>
            <a:r>
              <a:rPr lang="en-ZA" i="1" dirty="0">
                <a:solidFill>
                  <a:schemeClr val="bg1"/>
                </a:solidFill>
              </a:rPr>
              <a:t>Declan Mahony, James Keaveney, Mark Blumenthal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9BDA6-FDEC-EEE6-79AB-1C12FB38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8A2E-7959-466D-8508-99564D9C4A02}" type="slidenum">
              <a:rPr lang="en-ZA" smtClean="0"/>
              <a:t>1</a:t>
            </a:fld>
            <a:endParaRPr lang="en-Z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6B8BB2E-164A-15EE-6E25-32CE860A057C}"/>
              </a:ext>
            </a:extLst>
          </p:cNvPr>
          <p:cNvGrpSpPr/>
          <p:nvPr/>
        </p:nvGrpSpPr>
        <p:grpSpPr>
          <a:xfrm>
            <a:off x="111022" y="136525"/>
            <a:ext cx="11864546" cy="843345"/>
            <a:chOff x="111022" y="136525"/>
            <a:chExt cx="11864546" cy="843345"/>
          </a:xfrm>
        </p:grpSpPr>
        <p:pic>
          <p:nvPicPr>
            <p:cNvPr id="5" name="Picture 4" descr="A close-up of a logo&#10;&#10;Description automatically generated">
              <a:extLst>
                <a:ext uri="{FF2B5EF4-FFF2-40B4-BE49-F238E27FC236}">
                  <a16:creationId xmlns:a16="http://schemas.microsoft.com/office/drawing/2014/main" id="{599A0761-E2F7-2809-FD7C-A1F662C89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022" y="136525"/>
              <a:ext cx="3600000" cy="84334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EC6F89C-0A9B-3091-1A7A-6474DAB46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77211" y="137470"/>
              <a:ext cx="1298357" cy="842400"/>
            </a:xfrm>
            <a:prstGeom prst="rect">
              <a:avLst/>
            </a:prstGeom>
          </p:spPr>
        </p:pic>
      </p:grpSp>
      <p:pic>
        <p:nvPicPr>
          <p:cNvPr id="1026" name="Picture 2" descr="Tracey Webster - Chief Executive Officer - Oppenheimer Memorial Trust |  LinkedIn">
            <a:extLst>
              <a:ext uri="{FF2B5EF4-FFF2-40B4-BE49-F238E27FC236}">
                <a16:creationId xmlns:a16="http://schemas.microsoft.com/office/drawing/2014/main" id="{1C4F1233-1560-F69E-B03E-8FC916E04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66" y="5910791"/>
            <a:ext cx="3564467" cy="891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E22BF-88BD-904F-35C4-99781D80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438D-66BC-4B19-BEE6-F78B7661F339}" type="datetime1">
              <a:rPr lang="en-ZA" smtClean="0"/>
              <a:t>2026/06/01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568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8145A-53FB-6E20-B9F8-62502C844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C7BC19B-70DE-0BE5-6979-5518C7A5744F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EEEF5-FD04-C3FE-F1BE-0D7A4A136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Outline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4BA87B-78C5-BD7F-6E23-337A1BE0CE67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0B8EEE27-88CA-B7FA-CD81-91DC785C2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BD4CB6-5076-0011-06E2-FCBFF3365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C3F03-62DA-E39E-27F1-EBF0C30B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2</a:t>
            </a:fld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5C041-475C-448A-3DD9-FC36C30DE07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3883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Context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How scintillators work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What makes a good scintillator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Scintillator landscape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Motivation for nanocomposites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Progress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275601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08500-DCFD-DE09-C9CD-4BA59FE2F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86A817A-3139-CBD3-9F6B-A3520F0F414E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86AF4-40F6-2872-18C9-727C36408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The Big Question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86DC05-1002-D17C-9362-F40E401C78B8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15090AA8-4272-5401-E16B-8FA11E37E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CC9912-F544-E29A-EC5D-EF9900540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56C5D-9E32-C1E8-7F97-C5CBA50C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3</a:t>
            </a:fld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491DA-E22B-A100-D294-F4156E80147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596065" cy="3883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How do we make PET cheaper and more accessible?</a:t>
            </a:r>
          </a:p>
          <a:p>
            <a:pPr marL="0" indent="0">
              <a:lnSpc>
                <a:spcPct val="150000"/>
              </a:lnSpc>
              <a:buNone/>
            </a:pPr>
            <a:endParaRPr lang="en-ZA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ZA" sz="2400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 cheaper scintillators?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endParaRPr lang="en-ZA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5" name="Content Placeholder 14" descr="A map of the world&#10;&#10;AI-generated content may be incorrect.">
            <a:extLst>
              <a:ext uri="{FF2B5EF4-FFF2-40B4-BE49-F238E27FC236}">
                <a16:creationId xmlns:a16="http://schemas.microsoft.com/office/drawing/2014/main" id="{6E638F35-1F0C-E4E4-44F1-A8F1C0EA2A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" b="11958"/>
          <a:stretch>
            <a:fillRect/>
          </a:stretch>
        </p:blipFill>
        <p:spPr>
          <a:xfrm>
            <a:off x="5786299" y="1600253"/>
            <a:ext cx="6172200" cy="430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1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71AEC-04F7-E047-B35C-D2B7A1E0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C75BB02-5D59-F10D-9FA2-12C9784A557F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D7054-91BE-A890-409C-D8D8AF890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What scintillators do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68F04D-FDDB-0ECB-B325-59E9CE262DD0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982271DE-3560-7951-4F4F-AB7C9F89C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F2540F-F9CF-6A88-5307-7467284A3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7DB380C1-E8E5-ADC5-E6DE-959D1BD3BAFB}"/>
              </a:ext>
            </a:extLst>
          </p:cNvPr>
          <p:cNvGrpSpPr/>
          <p:nvPr/>
        </p:nvGrpSpPr>
        <p:grpSpPr>
          <a:xfrm>
            <a:off x="1230192" y="1968311"/>
            <a:ext cx="9731616" cy="2921378"/>
            <a:chOff x="1314170" y="2546308"/>
            <a:chExt cx="9731616" cy="2921378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1033673-B198-E4E7-BB82-803201D5F215}"/>
                </a:ext>
              </a:extLst>
            </p:cNvPr>
            <p:cNvSpPr/>
            <p:nvPr/>
          </p:nvSpPr>
          <p:spPr>
            <a:xfrm>
              <a:off x="8525786" y="2546308"/>
              <a:ext cx="2520000" cy="2520000"/>
            </a:xfrm>
            <a:prstGeom prst="ellipse">
              <a:avLst/>
            </a:prstGeom>
            <a:solidFill>
              <a:schemeClr val="bg1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ZA" dirty="0"/>
            </a:p>
          </p:txBody>
        </p:sp>
        <p:sp>
          <p:nvSpPr>
            <p:cNvPr id="47" name="Arrow: Pentagon 46">
              <a:extLst>
                <a:ext uri="{FF2B5EF4-FFF2-40B4-BE49-F238E27FC236}">
                  <a16:creationId xmlns:a16="http://schemas.microsoft.com/office/drawing/2014/main" id="{D692F084-A056-B75D-FC5D-5C3DC9C83A01}"/>
                </a:ext>
              </a:extLst>
            </p:cNvPr>
            <p:cNvSpPr/>
            <p:nvPr/>
          </p:nvSpPr>
          <p:spPr>
            <a:xfrm>
              <a:off x="7253742" y="3461101"/>
              <a:ext cx="1440000" cy="720000"/>
            </a:xfrm>
            <a:prstGeom prst="homePlate">
              <a:avLst/>
            </a:prstGeom>
            <a:solidFill>
              <a:srgbClr val="004A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8B389CB-B6DB-70CC-0191-6F534585C3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01494" y="2650966"/>
              <a:ext cx="2327956" cy="2327956"/>
            </a:xfrm>
            <a:prstGeom prst="ellipse">
              <a:avLst/>
            </a:prstGeom>
            <a:solidFill>
              <a:schemeClr val="bg1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ZA" dirty="0"/>
            </a:p>
          </p:txBody>
        </p:sp>
        <p:sp>
          <p:nvSpPr>
            <p:cNvPr id="45" name="Arrow: Pentagon 44">
              <a:extLst>
                <a:ext uri="{FF2B5EF4-FFF2-40B4-BE49-F238E27FC236}">
                  <a16:creationId xmlns:a16="http://schemas.microsoft.com/office/drawing/2014/main" id="{2934F45F-E977-9560-A267-8F233FD06016}"/>
                </a:ext>
              </a:extLst>
            </p:cNvPr>
            <p:cNvSpPr/>
            <p:nvPr/>
          </p:nvSpPr>
          <p:spPr>
            <a:xfrm>
              <a:off x="3561494" y="3461101"/>
              <a:ext cx="1440000" cy="720000"/>
            </a:xfrm>
            <a:prstGeom prst="homePlate">
              <a:avLst/>
            </a:prstGeom>
            <a:solidFill>
              <a:srgbClr val="004A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44C82A3-BE89-D0A7-3291-EA94A43800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14170" y="2663281"/>
              <a:ext cx="2327956" cy="2327956"/>
            </a:xfrm>
            <a:prstGeom prst="ellipse">
              <a:avLst/>
            </a:prstGeom>
            <a:solidFill>
              <a:schemeClr val="bg1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ZA" dirty="0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A73684B-5FA3-0ECE-F5FF-AD848793818A}"/>
                </a:ext>
              </a:extLst>
            </p:cNvPr>
            <p:cNvGrpSpPr/>
            <p:nvPr/>
          </p:nvGrpSpPr>
          <p:grpSpPr>
            <a:xfrm>
              <a:off x="1314170" y="4541101"/>
              <a:ext cx="9563660" cy="926585"/>
              <a:chOff x="1166256" y="4541101"/>
              <a:chExt cx="9563660" cy="926585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747FA265-4845-59F6-0449-FE1962D8B192}"/>
                  </a:ext>
                </a:extLst>
              </p:cNvPr>
              <p:cNvSpPr/>
              <p:nvPr/>
            </p:nvSpPr>
            <p:spPr>
              <a:xfrm>
                <a:off x="1166256" y="4541101"/>
                <a:ext cx="2184088" cy="926583"/>
              </a:xfrm>
              <a:custGeom>
                <a:avLst/>
                <a:gdLst>
                  <a:gd name="connsiteX0" fmla="*/ 0 w 2184088"/>
                  <a:gd name="connsiteY0" fmla="*/ 0 h 926583"/>
                  <a:gd name="connsiteX1" fmla="*/ 2184088 w 2184088"/>
                  <a:gd name="connsiteY1" fmla="*/ 0 h 926583"/>
                  <a:gd name="connsiteX2" fmla="*/ 2184088 w 2184088"/>
                  <a:gd name="connsiteY2" fmla="*/ 926583 h 926583"/>
                  <a:gd name="connsiteX3" fmla="*/ 0 w 2184088"/>
                  <a:gd name="connsiteY3" fmla="*/ 926583 h 926583"/>
                  <a:gd name="connsiteX4" fmla="*/ 0 w 2184088"/>
                  <a:gd name="connsiteY4" fmla="*/ 0 h 92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4088" h="926583">
                    <a:moveTo>
                      <a:pt x="0" y="0"/>
                    </a:moveTo>
                    <a:lnTo>
                      <a:pt x="2184088" y="0"/>
                    </a:lnTo>
                    <a:lnTo>
                      <a:pt x="2184088" y="926583"/>
                    </a:lnTo>
                    <a:lnTo>
                      <a:pt x="0" y="926583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ZA" sz="2400" kern="1200" dirty="0"/>
                  <a:t> </a:t>
                </a:r>
                <a:r>
                  <a:rPr lang="en-ZA" sz="2400" dirty="0"/>
                  <a:t>Detection</a:t>
                </a:r>
                <a:endParaRPr lang="en-US" sz="2400" kern="1200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5002FE78-97A8-0911-36EF-9E0EB6476815}"/>
                  </a:ext>
                </a:extLst>
              </p:cNvPr>
              <p:cNvSpPr/>
              <p:nvPr/>
            </p:nvSpPr>
            <p:spPr>
              <a:xfrm>
                <a:off x="4990218" y="4541103"/>
                <a:ext cx="2184088" cy="926583"/>
              </a:xfrm>
              <a:custGeom>
                <a:avLst/>
                <a:gdLst>
                  <a:gd name="connsiteX0" fmla="*/ 0 w 2184088"/>
                  <a:gd name="connsiteY0" fmla="*/ 0 h 926583"/>
                  <a:gd name="connsiteX1" fmla="*/ 2184088 w 2184088"/>
                  <a:gd name="connsiteY1" fmla="*/ 0 h 926583"/>
                  <a:gd name="connsiteX2" fmla="*/ 2184088 w 2184088"/>
                  <a:gd name="connsiteY2" fmla="*/ 926583 h 926583"/>
                  <a:gd name="connsiteX3" fmla="*/ 0 w 2184088"/>
                  <a:gd name="connsiteY3" fmla="*/ 926583 h 926583"/>
                  <a:gd name="connsiteX4" fmla="*/ 0 w 2184088"/>
                  <a:gd name="connsiteY4" fmla="*/ 0 h 92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4088" h="926583">
                    <a:moveTo>
                      <a:pt x="0" y="0"/>
                    </a:moveTo>
                    <a:lnTo>
                      <a:pt x="2184088" y="0"/>
                    </a:lnTo>
                    <a:lnTo>
                      <a:pt x="2184088" y="926583"/>
                    </a:lnTo>
                    <a:lnTo>
                      <a:pt x="0" y="926583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ZA" sz="2400" kern="1200" dirty="0"/>
                  <a:t>Transmission</a:t>
                </a:r>
                <a:endParaRPr lang="en-US" sz="2400" kern="1200" dirty="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C2885DC-C1B8-C1CE-6482-4E21E84DAF32}"/>
                  </a:ext>
                </a:extLst>
              </p:cNvPr>
              <p:cNvSpPr/>
              <p:nvPr/>
            </p:nvSpPr>
            <p:spPr>
              <a:xfrm>
                <a:off x="8545828" y="4541102"/>
                <a:ext cx="2184088" cy="926583"/>
              </a:xfrm>
              <a:custGeom>
                <a:avLst/>
                <a:gdLst>
                  <a:gd name="connsiteX0" fmla="*/ 0 w 2184088"/>
                  <a:gd name="connsiteY0" fmla="*/ 0 h 926583"/>
                  <a:gd name="connsiteX1" fmla="*/ 2184088 w 2184088"/>
                  <a:gd name="connsiteY1" fmla="*/ 0 h 926583"/>
                  <a:gd name="connsiteX2" fmla="*/ 2184088 w 2184088"/>
                  <a:gd name="connsiteY2" fmla="*/ 926583 h 926583"/>
                  <a:gd name="connsiteX3" fmla="*/ 0 w 2184088"/>
                  <a:gd name="connsiteY3" fmla="*/ 926583 h 926583"/>
                  <a:gd name="connsiteX4" fmla="*/ 0 w 2184088"/>
                  <a:gd name="connsiteY4" fmla="*/ 0 h 92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4088" h="926583">
                    <a:moveTo>
                      <a:pt x="0" y="0"/>
                    </a:moveTo>
                    <a:lnTo>
                      <a:pt x="2184088" y="0"/>
                    </a:lnTo>
                    <a:lnTo>
                      <a:pt x="2184088" y="926583"/>
                    </a:lnTo>
                    <a:lnTo>
                      <a:pt x="0" y="926583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ZA" sz="2400" kern="1200" dirty="0"/>
                  <a:t> Processing</a:t>
                </a:r>
                <a:endParaRPr lang="en-US" sz="2400" kern="1200" dirty="0"/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302CAE8-BF45-E7E5-9C88-35E47439EDF6}"/>
                </a:ext>
              </a:extLst>
            </p:cNvPr>
            <p:cNvSpPr/>
            <p:nvPr/>
          </p:nvSpPr>
          <p:spPr>
            <a:xfrm>
              <a:off x="1686214" y="3101101"/>
              <a:ext cx="1440000" cy="1440000"/>
            </a:xfrm>
            <a:prstGeom prst="ellipse">
              <a:avLst/>
            </a:prstGeom>
            <a:ln w="76200">
              <a:solidFill>
                <a:srgbClr val="00B050"/>
              </a:solidFill>
            </a:ln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ZA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CDF6F65-E65C-DC16-61E6-18DAEBD24A75}"/>
                </a:ext>
              </a:extLst>
            </p:cNvPr>
            <p:cNvSpPr/>
            <p:nvPr/>
          </p:nvSpPr>
          <p:spPr>
            <a:xfrm>
              <a:off x="5436774" y="3101101"/>
              <a:ext cx="1440000" cy="1440000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ZA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DED2857-2F97-1A25-C113-D8307C806F2C}"/>
                </a:ext>
              </a:extLst>
            </p:cNvPr>
            <p:cNvSpPr/>
            <p:nvPr/>
          </p:nvSpPr>
          <p:spPr>
            <a:xfrm>
              <a:off x="9065786" y="3101101"/>
              <a:ext cx="1440000" cy="1440000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ZA" dirty="0"/>
            </a:p>
          </p:txBody>
        </p:sp>
        <p:pic>
          <p:nvPicPr>
            <p:cNvPr id="27" name="Graphic 26" descr="Brain in head outline">
              <a:extLst>
                <a:ext uri="{FF2B5EF4-FFF2-40B4-BE49-F238E27FC236}">
                  <a16:creationId xmlns:a16="http://schemas.microsoft.com/office/drawing/2014/main" id="{1A657002-1F35-9416-9B3C-76BF31B278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28586" y="3363901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Nerve outline">
              <a:extLst>
                <a:ext uri="{FF2B5EF4-FFF2-40B4-BE49-F238E27FC236}">
                  <a16:creationId xmlns:a16="http://schemas.microsoft.com/office/drawing/2014/main" id="{93F90677-EA7C-5AA8-CED8-10E5FA8824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99574" y="3363901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Eye outline">
              <a:extLst>
                <a:ext uri="{FF2B5EF4-FFF2-40B4-BE49-F238E27FC236}">
                  <a16:creationId xmlns:a16="http://schemas.microsoft.com/office/drawing/2014/main" id="{67BC2A19-45A1-BD3E-2AD4-32ECA96B1E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49014" y="3363901"/>
              <a:ext cx="914400" cy="914400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B88E4-5EF7-8600-C532-E1C6F7B5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4158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F0638-1017-7802-FD4B-669A3BB88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812999FF-EFF1-438D-30C0-E48C66D7BD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000" y="2886012"/>
            <a:ext cx="9750482" cy="106797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CA163F7-945A-9A2F-22C8-BAC047097121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BA9ED7-4949-DE6A-8DC9-C20C6243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How scintillators work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653F50-636C-39EC-9997-D632B7B968D7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0D40614-29AD-DAF8-26C2-CFD1EEF7D4B5}"/>
              </a:ext>
            </a:extLst>
          </p:cNvPr>
          <p:cNvSpPr/>
          <p:nvPr/>
        </p:nvSpPr>
        <p:spPr>
          <a:xfrm>
            <a:off x="1230654" y="3960000"/>
            <a:ext cx="2184088" cy="926583"/>
          </a:xfrm>
          <a:custGeom>
            <a:avLst/>
            <a:gdLst>
              <a:gd name="connsiteX0" fmla="*/ 0 w 2184088"/>
              <a:gd name="connsiteY0" fmla="*/ 0 h 926583"/>
              <a:gd name="connsiteX1" fmla="*/ 2184088 w 2184088"/>
              <a:gd name="connsiteY1" fmla="*/ 0 h 926583"/>
              <a:gd name="connsiteX2" fmla="*/ 2184088 w 2184088"/>
              <a:gd name="connsiteY2" fmla="*/ 926583 h 926583"/>
              <a:gd name="connsiteX3" fmla="*/ 0 w 2184088"/>
              <a:gd name="connsiteY3" fmla="*/ 926583 h 926583"/>
              <a:gd name="connsiteX4" fmla="*/ 0 w 2184088"/>
              <a:gd name="connsiteY4" fmla="*/ 0 h 926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4088" h="926583">
                <a:moveTo>
                  <a:pt x="0" y="0"/>
                </a:moveTo>
                <a:lnTo>
                  <a:pt x="2184088" y="0"/>
                </a:lnTo>
                <a:lnTo>
                  <a:pt x="2184088" y="926583"/>
                </a:lnTo>
                <a:lnTo>
                  <a:pt x="0" y="92658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0668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ZA" sz="2400" dirty="0"/>
              <a:t>Absorption</a:t>
            </a:r>
            <a:endParaRPr lang="en-US" sz="24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B6971E-1EBA-3DBC-F6B7-AAF99DC9A0FE}"/>
              </a:ext>
            </a:extLst>
          </p:cNvPr>
          <p:cNvSpPr/>
          <p:nvPr/>
        </p:nvSpPr>
        <p:spPr>
          <a:xfrm>
            <a:off x="5003956" y="3960000"/>
            <a:ext cx="2184088" cy="926583"/>
          </a:xfrm>
          <a:custGeom>
            <a:avLst/>
            <a:gdLst>
              <a:gd name="connsiteX0" fmla="*/ 0 w 2184088"/>
              <a:gd name="connsiteY0" fmla="*/ 0 h 926583"/>
              <a:gd name="connsiteX1" fmla="*/ 2184088 w 2184088"/>
              <a:gd name="connsiteY1" fmla="*/ 0 h 926583"/>
              <a:gd name="connsiteX2" fmla="*/ 2184088 w 2184088"/>
              <a:gd name="connsiteY2" fmla="*/ 926583 h 926583"/>
              <a:gd name="connsiteX3" fmla="*/ 0 w 2184088"/>
              <a:gd name="connsiteY3" fmla="*/ 926583 h 926583"/>
              <a:gd name="connsiteX4" fmla="*/ 0 w 2184088"/>
              <a:gd name="connsiteY4" fmla="*/ 0 h 926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4088" h="926583">
                <a:moveTo>
                  <a:pt x="0" y="0"/>
                </a:moveTo>
                <a:lnTo>
                  <a:pt x="2184088" y="0"/>
                </a:lnTo>
                <a:lnTo>
                  <a:pt x="2184088" y="926583"/>
                </a:lnTo>
                <a:lnTo>
                  <a:pt x="0" y="92658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0668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ZA" sz="2400" kern="1200" dirty="0"/>
              <a:t>Energy Transfer</a:t>
            </a:r>
            <a:endParaRPr lang="en-US" sz="24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1AC4E28-20CE-A81A-C8F4-B57C3E1B0222}"/>
              </a:ext>
            </a:extLst>
          </p:cNvPr>
          <p:cNvSpPr/>
          <p:nvPr/>
        </p:nvSpPr>
        <p:spPr>
          <a:xfrm>
            <a:off x="8545828" y="3960000"/>
            <a:ext cx="2184088" cy="926583"/>
          </a:xfrm>
          <a:custGeom>
            <a:avLst/>
            <a:gdLst>
              <a:gd name="connsiteX0" fmla="*/ 0 w 2184088"/>
              <a:gd name="connsiteY0" fmla="*/ 0 h 926583"/>
              <a:gd name="connsiteX1" fmla="*/ 2184088 w 2184088"/>
              <a:gd name="connsiteY1" fmla="*/ 0 h 926583"/>
              <a:gd name="connsiteX2" fmla="*/ 2184088 w 2184088"/>
              <a:gd name="connsiteY2" fmla="*/ 926583 h 926583"/>
              <a:gd name="connsiteX3" fmla="*/ 0 w 2184088"/>
              <a:gd name="connsiteY3" fmla="*/ 926583 h 926583"/>
              <a:gd name="connsiteX4" fmla="*/ 0 w 2184088"/>
              <a:gd name="connsiteY4" fmla="*/ 0 h 926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4088" h="926583">
                <a:moveTo>
                  <a:pt x="0" y="0"/>
                </a:moveTo>
                <a:lnTo>
                  <a:pt x="2184088" y="0"/>
                </a:lnTo>
                <a:lnTo>
                  <a:pt x="2184088" y="926583"/>
                </a:lnTo>
                <a:lnTo>
                  <a:pt x="0" y="92658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0668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ZA" sz="2400" kern="1200" dirty="0"/>
              <a:t> Luminescence</a:t>
            </a:r>
            <a:endParaRPr lang="en-US" sz="2400" kern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856AFF-C28C-C635-6191-4AE79D31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5</a:t>
            </a:fld>
            <a:endParaRPr lang="en-Z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32520B-E01B-D9B1-545F-8C3BA59A6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27FC50E1-E3F3-6341-8C0A-6E6F056E8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3F69ED9-FF97-8549-4DF3-921EE3938411}"/>
              </a:ext>
            </a:extLst>
          </p:cNvPr>
          <p:cNvCxnSpPr>
            <a:cxnSpLocks/>
            <a:stCxn id="38" idx="0"/>
            <a:endCxn id="37" idx="4"/>
          </p:cNvCxnSpPr>
          <p:nvPr/>
        </p:nvCxnSpPr>
        <p:spPr>
          <a:xfrm flipV="1">
            <a:off x="2314279" y="3075068"/>
            <a:ext cx="0" cy="668177"/>
          </a:xfrm>
          <a:prstGeom prst="straightConnector1">
            <a:avLst/>
          </a:prstGeom>
          <a:ln w="25400">
            <a:solidFill>
              <a:srgbClr val="C0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8DE99B1-936A-FBB3-5729-60F0BD83F525}"/>
                  </a:ext>
                </a:extLst>
              </p:cNvPr>
              <p:cNvSpPr/>
              <p:nvPr/>
            </p:nvSpPr>
            <p:spPr>
              <a:xfrm>
                <a:off x="9442621" y="2898796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8DE99B1-936A-FBB3-5729-60F0BD83F5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621" y="2898796"/>
                <a:ext cx="180000" cy="180000"/>
              </a:xfrm>
              <a:prstGeom prst="ellipse">
                <a:avLst/>
              </a:prstGeom>
              <a:blipFill>
                <a:blip r:embed="rId6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F61818A-2590-3D15-5E4E-96A7F93B1AD2}"/>
                  </a:ext>
                </a:extLst>
              </p:cNvPr>
              <p:cNvSpPr/>
              <p:nvPr/>
            </p:nvSpPr>
            <p:spPr>
              <a:xfrm>
                <a:off x="9442621" y="374697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F61818A-2590-3D15-5E4E-96A7F93B1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621" y="3746973"/>
                <a:ext cx="180000" cy="180000"/>
              </a:xfrm>
              <a:prstGeom prst="ellipse">
                <a:avLst/>
              </a:prstGeom>
              <a:blipFill>
                <a:blip r:embed="rId7"/>
                <a:stretch>
                  <a:fillRect l="-26667" t="-24138" r="-36667" b="-413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23B05F-645A-1987-9034-8F7FAA099A0F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9532621" y="3429000"/>
            <a:ext cx="0" cy="317973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EFAD8D-0D58-64FB-9EB0-0F85E15C4F92}"/>
              </a:ext>
            </a:extLst>
          </p:cNvPr>
          <p:cNvCxnSpPr>
            <a:cxnSpLocks/>
            <a:stCxn id="22" idx="4"/>
          </p:cNvCxnSpPr>
          <p:nvPr/>
        </p:nvCxnSpPr>
        <p:spPr>
          <a:xfrm>
            <a:off x="9532621" y="3078796"/>
            <a:ext cx="0" cy="323534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ED1DAF2-D00C-14E6-7148-80C93054A313}"/>
                  </a:ext>
                </a:extLst>
              </p:cNvPr>
              <p:cNvSpPr/>
              <p:nvPr/>
            </p:nvSpPr>
            <p:spPr>
              <a:xfrm>
                <a:off x="2224279" y="2895068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ED1DAF2-D00C-14E6-7148-80C93054A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279" y="2895068"/>
                <a:ext cx="180000" cy="180000"/>
              </a:xfrm>
              <a:prstGeom prst="ellipse">
                <a:avLst/>
              </a:prstGeom>
              <a:blipFill>
                <a:blip r:embed="rId8"/>
                <a:stretch>
                  <a:fillRect l="-10345" r="-24138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6B9C576-3C86-ED00-46D8-C746A0F19047}"/>
                  </a:ext>
                </a:extLst>
              </p:cNvPr>
              <p:cNvSpPr/>
              <p:nvPr/>
            </p:nvSpPr>
            <p:spPr>
              <a:xfrm>
                <a:off x="2224279" y="3743245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6B9C576-3C86-ED00-46D8-C746A0F190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279" y="3743245"/>
                <a:ext cx="180000" cy="180000"/>
              </a:xfrm>
              <a:prstGeom prst="ellipse">
                <a:avLst/>
              </a:prstGeom>
              <a:blipFill>
                <a:blip r:embed="rId9"/>
                <a:stretch>
                  <a:fillRect l="-27586" t="-23333" r="-41379" b="-3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7C1384A-D6C7-655A-8A3D-3A3F3613B461}"/>
                  </a:ext>
                </a:extLst>
              </p:cNvPr>
              <p:cNvSpPr/>
              <p:nvPr/>
            </p:nvSpPr>
            <p:spPr>
              <a:xfrm>
                <a:off x="5838232" y="2895068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7C1384A-D6C7-655A-8A3D-3A3F3613B4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232" y="2895068"/>
                <a:ext cx="180000" cy="180000"/>
              </a:xfrm>
              <a:prstGeom prst="ellipse">
                <a:avLst/>
              </a:prstGeom>
              <a:blipFill>
                <a:blip r:embed="rId10"/>
                <a:stretch>
                  <a:fillRect l="-10345" r="-24138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37771A31-7ED8-1B75-BC8D-8C32F5DEAE4F}"/>
                  </a:ext>
                </a:extLst>
              </p:cNvPr>
              <p:cNvSpPr/>
              <p:nvPr/>
            </p:nvSpPr>
            <p:spPr>
              <a:xfrm>
                <a:off x="5838232" y="3743245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37771A31-7ED8-1B75-BC8D-8C32F5DEAE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232" y="3743245"/>
                <a:ext cx="180000" cy="180000"/>
              </a:xfrm>
              <a:prstGeom prst="ellipse">
                <a:avLst/>
              </a:prstGeom>
              <a:blipFill>
                <a:blip r:embed="rId11"/>
                <a:stretch>
                  <a:fillRect l="-27586" t="-23333" r="-41379" b="-3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8059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7202C-86A3-B961-DE18-A31D83C30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fferential attenuation method of determining radioactive decay products.">
            <a:extLst>
              <a:ext uri="{FF2B5EF4-FFF2-40B4-BE49-F238E27FC236}">
                <a16:creationId xmlns:a16="http://schemas.microsoft.com/office/drawing/2014/main" id="{C98DB252-839F-7026-BEB5-0FB6C35486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" t="9355" r="1142" b="958"/>
          <a:stretch>
            <a:fillRect/>
          </a:stretch>
        </p:blipFill>
        <p:spPr bwMode="auto">
          <a:xfrm>
            <a:off x="2409738" y="1421556"/>
            <a:ext cx="7389455" cy="450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0DEE88B-BE2B-EDA7-33F4-811E05DCF9E0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0321A8-CF42-ED6C-EA98-6CD4AB0DD50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ZA" dirty="0">
                    <a:solidFill>
                      <a:schemeClr val="bg1"/>
                    </a:solidFill>
                  </a:rPr>
                  <a:t>Stopping </a:t>
                </a:r>
                <a14:m>
                  <m:oMath xmlns:m="http://schemas.openxmlformats.org/officeDocument/2006/math">
                    <m:r>
                      <a:rPr lang="en-ZA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ZA" dirty="0">
                    <a:solidFill>
                      <a:schemeClr val="bg1"/>
                    </a:solidFill>
                  </a:rPr>
                  <a:t> photons is not trivial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0321A8-CF42-ED6C-EA98-6CD4AB0DD5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7176485-81C8-8632-017B-82B4EF983184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8F60304-229A-1D9B-3DAB-A019F576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6</a:t>
            </a:fld>
            <a:endParaRPr lang="en-ZA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E55A8B-4A22-C75D-F876-E6D8C8D01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18" name="Picture 17" descr="A close-up of a logo&#10;&#10;Description automatically generated">
            <a:extLst>
              <a:ext uri="{FF2B5EF4-FFF2-40B4-BE49-F238E27FC236}">
                <a16:creationId xmlns:a16="http://schemas.microsoft.com/office/drawing/2014/main" id="{66633665-DAA2-4770-0756-4505724FEF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882CDD0-CC5C-CC89-6F50-E8341BB8069F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How scintillators work</a:t>
            </a:r>
          </a:p>
        </p:txBody>
      </p:sp>
    </p:spTree>
    <p:extLst>
      <p:ext uri="{BB962C8B-B14F-4D97-AF65-F5344CB8AC3E}">
        <p14:creationId xmlns:p14="http://schemas.microsoft.com/office/powerpoint/2010/main" val="108735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F1046-36BC-7C82-66CE-6116B035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ABB222-7A0F-55CF-0EC2-03B7D4419F53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5472B-1101-A776-3CC6-26BE9FE7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Absorption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FF44EF-C950-6974-6F43-1BB4A8BB60C8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09C6993-AAEB-97E8-CD87-3265915804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5181600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Photoelectric Effect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Z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Z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Z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Z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Z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Z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Z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Compton Scattering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Z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</a:buBlip>
                </a:pPr>
                <a:r>
                  <a:rPr lang="en-ZA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Exciton creation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09C6993-AAEB-97E8-CD87-326591580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5181600" cy="435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Slide Number Placeholder 211">
            <a:extLst>
              <a:ext uri="{FF2B5EF4-FFF2-40B4-BE49-F238E27FC236}">
                <a16:creationId xmlns:a16="http://schemas.microsoft.com/office/drawing/2014/main" id="{17E95119-0260-2EE6-2FF6-A75F89F0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7</a:t>
            </a:fld>
            <a:endParaRPr lang="en-ZA"/>
          </a:p>
        </p:txBody>
      </p:sp>
      <p:pic>
        <p:nvPicPr>
          <p:cNvPr id="213" name="Picture 212">
            <a:extLst>
              <a:ext uri="{FF2B5EF4-FFF2-40B4-BE49-F238E27FC236}">
                <a16:creationId xmlns:a16="http://schemas.microsoft.com/office/drawing/2014/main" id="{A595C4F0-06AC-41B7-BA5F-284ADC72F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214" name="Picture 213" descr="A close-up of a logo&#10;&#10;Description automatically generated">
            <a:extLst>
              <a:ext uri="{FF2B5EF4-FFF2-40B4-BE49-F238E27FC236}">
                <a16:creationId xmlns:a16="http://schemas.microsoft.com/office/drawing/2014/main" id="{B09D4077-9AE5-1137-D94A-8B06EB680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9DFD751-00ED-FD83-AF6E-9D92365337E7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How scintillators work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4C0DA52-E8B1-B3AD-C625-123BE15FF67F}"/>
              </a:ext>
            </a:extLst>
          </p:cNvPr>
          <p:cNvGrpSpPr/>
          <p:nvPr/>
        </p:nvGrpSpPr>
        <p:grpSpPr>
          <a:xfrm>
            <a:off x="9364249" y="2200928"/>
            <a:ext cx="2289820" cy="3121959"/>
            <a:chOff x="9381744" y="76602"/>
            <a:chExt cx="2289820" cy="312195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6B3A1-D902-AE01-5F25-6087DB143208}"/>
                </a:ext>
              </a:extLst>
            </p:cNvPr>
            <p:cNvSpPr/>
            <p:nvPr/>
          </p:nvSpPr>
          <p:spPr>
            <a:xfrm>
              <a:off x="9381744" y="76602"/>
              <a:ext cx="2289820" cy="481114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tint val="66000"/>
                    <a:satMod val="160000"/>
                  </a:srgbClr>
                </a:gs>
                <a:gs pos="69000">
                  <a:srgbClr val="C00000">
                    <a:tint val="44500"/>
                    <a:satMod val="160000"/>
                  </a:srgbClr>
                </a:gs>
                <a:gs pos="100000">
                  <a:srgbClr val="C0000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ZA" dirty="0">
                <a:solidFill>
                  <a:schemeClr val="tx2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F4B218B-8166-DE85-BA5D-79DDBFE9B9FF}"/>
                </a:ext>
              </a:extLst>
            </p:cNvPr>
            <p:cNvSpPr/>
            <p:nvPr/>
          </p:nvSpPr>
          <p:spPr>
            <a:xfrm>
              <a:off x="9381744" y="2717447"/>
              <a:ext cx="2289820" cy="481114"/>
            </a:xfrm>
            <a:prstGeom prst="rect">
              <a:avLst/>
            </a:prstGeom>
            <a:gradFill flip="none" rotWithShape="1">
              <a:gsLst>
                <a:gs pos="0">
                  <a:srgbClr val="00B050"/>
                </a:gs>
                <a:gs pos="81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ZA" dirty="0">
                <a:solidFill>
                  <a:schemeClr val="tx2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5AA30DB-782B-D43B-06CB-58418F711006}"/>
                </a:ext>
              </a:extLst>
            </p:cNvPr>
            <p:cNvSpPr/>
            <p:nvPr/>
          </p:nvSpPr>
          <p:spPr>
            <a:xfrm>
              <a:off x="10430813" y="293145"/>
              <a:ext cx="180000" cy="18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rtlCol="0" anchor="ctr"/>
            <a:lstStyle/>
            <a:p>
              <a:pPr algn="ctr"/>
              <a:endParaRPr lang="en-ZA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C0F0745-F41C-AA2A-B691-8E22912D6E84}"/>
                </a:ext>
              </a:extLst>
            </p:cNvPr>
            <p:cNvSpPr/>
            <p:nvPr/>
          </p:nvSpPr>
          <p:spPr>
            <a:xfrm>
              <a:off x="10452565" y="2781397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rtlCol="0" anchor="ctr"/>
            <a:lstStyle/>
            <a:p>
              <a:pPr algn="ctr"/>
              <a:endParaRPr lang="en-ZA" dirty="0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AD74CF8-9EF4-09DD-430F-7346A755815E}"/>
                </a:ext>
              </a:extLst>
            </p:cNvPr>
            <p:cNvCxnSpPr>
              <a:cxnSpLocks/>
              <a:stCxn id="13" idx="0"/>
              <a:endCxn id="10" idx="2"/>
            </p:cNvCxnSpPr>
            <p:nvPr/>
          </p:nvCxnSpPr>
          <p:spPr>
            <a:xfrm flipV="1">
              <a:off x="10526654" y="557716"/>
              <a:ext cx="0" cy="2159731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6D9F974D-B2C6-4284-2893-852E15E20070}"/>
              </a:ext>
            </a:extLst>
          </p:cNvPr>
          <p:cNvSpPr txBox="1"/>
          <p:nvPr/>
        </p:nvSpPr>
        <p:spPr>
          <a:xfrm>
            <a:off x="9361522" y="1825625"/>
            <a:ext cx="2283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dirty="0">
                <a:solidFill>
                  <a:schemeClr val="tx2"/>
                </a:solidFill>
              </a:rPr>
              <a:t>Conduction Band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8CBECAB-9382-12CA-29D0-5A31188351FF}"/>
              </a:ext>
            </a:extLst>
          </p:cNvPr>
          <p:cNvGrpSpPr/>
          <p:nvPr/>
        </p:nvGrpSpPr>
        <p:grpSpPr>
          <a:xfrm>
            <a:off x="5290039" y="1992233"/>
            <a:ext cx="2618764" cy="1352567"/>
            <a:chOff x="5745265" y="1699112"/>
            <a:chExt cx="2618764" cy="1352567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BF69541-620E-3798-0645-772D99C4A021}"/>
                </a:ext>
              </a:extLst>
            </p:cNvPr>
            <p:cNvSpPr/>
            <p:nvPr/>
          </p:nvSpPr>
          <p:spPr>
            <a:xfrm>
              <a:off x="6503541" y="2067333"/>
              <a:ext cx="720000" cy="720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DFF5DEFF-1F8F-0E0F-32AE-5B1E300655D6}"/>
                </a:ext>
              </a:extLst>
            </p:cNvPr>
            <p:cNvGrpSpPr/>
            <p:nvPr/>
          </p:nvGrpSpPr>
          <p:grpSpPr>
            <a:xfrm flipH="1">
              <a:off x="6679030" y="2237515"/>
              <a:ext cx="360000" cy="360000"/>
              <a:chOff x="7153338" y="2179362"/>
              <a:chExt cx="574122" cy="568110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DF642978-F6C7-122E-3FB5-1A50DE1D4856}"/>
                  </a:ext>
                </a:extLst>
              </p:cNvPr>
              <p:cNvSpPr/>
              <p:nvPr/>
            </p:nvSpPr>
            <p:spPr>
              <a:xfrm>
                <a:off x="7435340" y="2534311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sz="600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9AE475B3-5C16-DD56-572B-665B88580CC4}"/>
                  </a:ext>
                </a:extLst>
              </p:cNvPr>
              <p:cNvSpPr/>
              <p:nvPr/>
            </p:nvSpPr>
            <p:spPr>
              <a:xfrm>
                <a:off x="7547460" y="2337249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78862D63-D6C0-95EE-F024-374B341C3E26}"/>
                  </a:ext>
                </a:extLst>
              </p:cNvPr>
              <p:cNvSpPr/>
              <p:nvPr/>
            </p:nvSpPr>
            <p:spPr>
              <a:xfrm>
                <a:off x="7522840" y="2474037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B395A9FA-6F35-870C-4E11-D29AE345960D}"/>
                  </a:ext>
                </a:extLst>
              </p:cNvPr>
              <p:cNvSpPr/>
              <p:nvPr/>
            </p:nvSpPr>
            <p:spPr>
              <a:xfrm>
                <a:off x="7384628" y="2189073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B533CBA7-5634-D182-2F74-8ECADCCE5A3F}"/>
                  </a:ext>
                </a:extLst>
              </p:cNvPr>
              <p:cNvSpPr/>
              <p:nvPr/>
            </p:nvSpPr>
            <p:spPr>
              <a:xfrm>
                <a:off x="7398680" y="2411637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sz="6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A0CB590-7A1E-5AF9-D4E2-BA78B9319A9F}"/>
                  </a:ext>
                </a:extLst>
              </p:cNvPr>
              <p:cNvSpPr/>
              <p:nvPr/>
            </p:nvSpPr>
            <p:spPr>
              <a:xfrm>
                <a:off x="7326585" y="2179362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53535F0E-977A-ECF8-4A0B-D616729173FB}"/>
                  </a:ext>
                </a:extLst>
              </p:cNvPr>
              <p:cNvSpPr/>
              <p:nvPr/>
            </p:nvSpPr>
            <p:spPr>
              <a:xfrm>
                <a:off x="7483554" y="2230540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647750FF-52BF-F53F-E604-FBBC43DAD27F}"/>
                  </a:ext>
                </a:extLst>
              </p:cNvPr>
              <p:cNvSpPr/>
              <p:nvPr/>
            </p:nvSpPr>
            <p:spPr>
              <a:xfrm>
                <a:off x="7393568" y="2567472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C44DF4ED-6576-5CFA-6862-B8EF8E25ED17}"/>
                  </a:ext>
                </a:extLst>
              </p:cNvPr>
              <p:cNvSpPr/>
              <p:nvPr/>
            </p:nvSpPr>
            <p:spPr>
              <a:xfrm>
                <a:off x="7538751" y="2364053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82001D5E-2E99-9215-D9D9-B55B46B35559}"/>
                  </a:ext>
                </a:extLst>
              </p:cNvPr>
              <p:cNvSpPr/>
              <p:nvPr/>
            </p:nvSpPr>
            <p:spPr>
              <a:xfrm>
                <a:off x="7195820" y="2497209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E374D41D-056F-BF51-12C0-5F3964622519}"/>
                  </a:ext>
                </a:extLst>
              </p:cNvPr>
              <p:cNvSpPr/>
              <p:nvPr/>
            </p:nvSpPr>
            <p:spPr>
              <a:xfrm>
                <a:off x="7153338" y="2280344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061362EE-FB51-5614-78D3-B60B5B9873C0}"/>
                  </a:ext>
                </a:extLst>
              </p:cNvPr>
              <p:cNvSpPr/>
              <p:nvPr/>
            </p:nvSpPr>
            <p:spPr>
              <a:xfrm>
                <a:off x="7467643" y="2375939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E2873847-D939-04C4-C17B-3D1A1D1DAAB4}"/>
                  </a:ext>
                </a:extLst>
              </p:cNvPr>
              <p:cNvSpPr/>
              <p:nvPr/>
            </p:nvSpPr>
            <p:spPr>
              <a:xfrm>
                <a:off x="7158153" y="2395819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79832B90-E4F7-6169-F9DE-F48AB90FD6BC}"/>
                  </a:ext>
                </a:extLst>
              </p:cNvPr>
              <p:cNvSpPr/>
              <p:nvPr/>
            </p:nvSpPr>
            <p:spPr>
              <a:xfrm>
                <a:off x="7365955" y="2298912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D08FE357-23B9-26FE-7B6B-72BBE03555E6}"/>
                  </a:ext>
                </a:extLst>
              </p:cNvPr>
              <p:cNvSpPr/>
              <p:nvPr/>
            </p:nvSpPr>
            <p:spPr>
              <a:xfrm>
                <a:off x="7282940" y="2381911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FEBE488E-74BE-2757-1FA5-FDAAFC06C559}"/>
                  </a:ext>
                </a:extLst>
              </p:cNvPr>
              <p:cNvSpPr/>
              <p:nvPr/>
            </p:nvSpPr>
            <p:spPr>
              <a:xfrm>
                <a:off x="7236353" y="2234174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21362580-630A-3A9E-300C-E40DCBD8CA5D}"/>
                  </a:ext>
                </a:extLst>
              </p:cNvPr>
              <p:cNvSpPr/>
              <p:nvPr/>
            </p:nvSpPr>
            <p:spPr>
              <a:xfrm>
                <a:off x="7287206" y="2555939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8F86415E-DEC6-AA4A-984A-A1351BD2EFAD}"/>
                  </a:ext>
                </a:extLst>
              </p:cNvPr>
              <p:cNvSpPr/>
              <p:nvPr/>
            </p:nvSpPr>
            <p:spPr>
              <a:xfrm>
                <a:off x="7360163" y="2465939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514AEF5-AC0F-FFD5-E069-A0460BA81518}"/>
                </a:ext>
              </a:extLst>
            </p:cNvPr>
            <p:cNvSpPr/>
            <p:nvPr/>
          </p:nvSpPr>
          <p:spPr>
            <a:xfrm>
              <a:off x="6322202" y="1879113"/>
              <a:ext cx="1080000" cy="1080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61C706A3-116B-528D-9512-63CC38761AB9}"/>
                    </a:ext>
                  </a:extLst>
                </p:cNvPr>
                <p:cNvSpPr/>
                <p:nvPr/>
              </p:nvSpPr>
              <p:spPr>
                <a:xfrm>
                  <a:off x="8184029" y="1770938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61C706A3-116B-528D-9512-63CC38761A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4029" y="1770938"/>
                  <a:ext cx="180000" cy="180000"/>
                </a:xfrm>
                <a:prstGeom prst="ellipse">
                  <a:avLst/>
                </a:prstGeom>
                <a:blipFill>
                  <a:blip r:embed="rId6"/>
                  <a:stretch>
                    <a:fillRect l="-10000" t="-3448" r="-20000" b="-1379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CE0A763E-8840-E2E7-9406-265B3B5648E8}"/>
                    </a:ext>
                  </a:extLst>
                </p:cNvPr>
                <p:cNvSpPr/>
                <p:nvPr/>
              </p:nvSpPr>
              <p:spPr>
                <a:xfrm>
                  <a:off x="6781133" y="2871679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CE0A763E-8840-E2E7-9406-265B3B5648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1133" y="2871679"/>
                  <a:ext cx="180000" cy="180000"/>
                </a:xfrm>
                <a:prstGeom prst="ellipse">
                  <a:avLst/>
                </a:prstGeom>
                <a:blipFill>
                  <a:blip r:embed="rId7"/>
                  <a:stretch>
                    <a:fillRect l="-13333" t="-3333" r="-16667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A0BF85AF-6B7B-B3C6-58A4-2C4FB0F9ABA0}"/>
                    </a:ext>
                  </a:extLst>
                </p:cNvPr>
                <p:cNvSpPr/>
                <p:nvPr/>
              </p:nvSpPr>
              <p:spPr>
                <a:xfrm>
                  <a:off x="7309030" y="2321581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A0BF85AF-6B7B-B3C6-58A4-2C4FB0F9AB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9030" y="2321581"/>
                  <a:ext cx="180000" cy="180000"/>
                </a:xfrm>
                <a:prstGeom prst="ellipse">
                  <a:avLst/>
                </a:prstGeom>
                <a:blipFill>
                  <a:blip r:embed="rId8"/>
                  <a:stretch>
                    <a:fillRect l="-13793" t="-3448" r="-20690" b="-1379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BB035D7B-C01F-EA82-DE3A-15229F032ED2}"/>
                    </a:ext>
                  </a:extLst>
                </p:cNvPr>
                <p:cNvSpPr/>
                <p:nvPr/>
              </p:nvSpPr>
              <p:spPr>
                <a:xfrm>
                  <a:off x="6227687" y="2321581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BB035D7B-C01F-EA82-DE3A-15229F032E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7687" y="2321581"/>
                  <a:ext cx="180000" cy="180000"/>
                </a:xfrm>
                <a:prstGeom prst="ellipse">
                  <a:avLst/>
                </a:prstGeom>
                <a:blipFill>
                  <a:blip r:embed="rId9"/>
                  <a:stretch>
                    <a:fillRect l="-10000" t="-3448" r="-20000" b="-1379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89839FCF-7D0A-9119-C7A3-E9B7CFA67643}"/>
                    </a:ext>
                  </a:extLst>
                </p:cNvPr>
                <p:cNvSpPr/>
                <p:nvPr/>
              </p:nvSpPr>
              <p:spPr>
                <a:xfrm>
                  <a:off x="6930396" y="2649662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89839FCF-7D0A-9119-C7A3-E9B7CFA676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0396" y="2649662"/>
                  <a:ext cx="180000" cy="180000"/>
                </a:xfrm>
                <a:prstGeom prst="ellipse">
                  <a:avLst/>
                </a:prstGeom>
                <a:blipFill>
                  <a:blip r:embed="rId10"/>
                  <a:stretch>
                    <a:fillRect l="-13793" t="-3448" r="-20690" b="-1379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F44D99F4-865C-7134-88C6-8BAE880768A7}"/>
                    </a:ext>
                  </a:extLst>
                </p:cNvPr>
                <p:cNvSpPr/>
                <p:nvPr/>
              </p:nvSpPr>
              <p:spPr>
                <a:xfrm>
                  <a:off x="6629102" y="2016969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F44D99F4-865C-7134-88C6-8BAE880768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9102" y="2016969"/>
                  <a:ext cx="180000" cy="180000"/>
                </a:xfrm>
                <a:prstGeom prst="ellipse">
                  <a:avLst/>
                </a:prstGeom>
                <a:blipFill>
                  <a:blip r:embed="rId11"/>
                  <a:stretch>
                    <a:fillRect l="-13333" t="-3448" r="-16667" b="-1379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CA09243F-EA4A-C8EF-8C2E-0855DAAADB10}"/>
                    </a:ext>
                  </a:extLst>
                </p:cNvPr>
                <p:cNvSpPr/>
                <p:nvPr/>
              </p:nvSpPr>
              <p:spPr>
                <a:xfrm>
                  <a:off x="6388703" y="2703313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CA09243F-EA4A-C8EF-8C2E-0855DAAADB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8703" y="2703313"/>
                  <a:ext cx="180000" cy="180000"/>
                </a:xfrm>
                <a:prstGeom prst="ellipse">
                  <a:avLst/>
                </a:prstGeom>
                <a:blipFill>
                  <a:blip r:embed="rId12"/>
                  <a:stretch>
                    <a:fillRect l="-13793" r="-2069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2C6D2E68-2B4E-1097-1FF6-79E74DC08A28}"/>
                    </a:ext>
                  </a:extLst>
                </p:cNvPr>
                <p:cNvSpPr/>
                <p:nvPr/>
              </p:nvSpPr>
              <p:spPr>
                <a:xfrm>
                  <a:off x="7165098" y="1947034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2C6D2E68-2B4E-1097-1FF6-79E74DC08A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5098" y="1947034"/>
                  <a:ext cx="180000" cy="180000"/>
                </a:xfrm>
                <a:prstGeom prst="ellipse">
                  <a:avLst/>
                </a:prstGeom>
                <a:blipFill>
                  <a:blip r:embed="rId13"/>
                  <a:stretch>
                    <a:fillRect l="-13333" r="-16667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A6C3289C-5F51-4DAE-A564-E52FF4E29FEB}"/>
                    </a:ext>
                  </a:extLst>
                </p:cNvPr>
                <p:cNvSpPr/>
                <p:nvPr/>
              </p:nvSpPr>
              <p:spPr>
                <a:xfrm>
                  <a:off x="7165098" y="2698615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A6C3289C-5F51-4DAE-A564-E52FF4E29F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5098" y="2698615"/>
                  <a:ext cx="180000" cy="180000"/>
                </a:xfrm>
                <a:prstGeom prst="ellipse">
                  <a:avLst/>
                </a:prstGeom>
                <a:blipFill>
                  <a:blip r:embed="rId14"/>
                  <a:stretch>
                    <a:fillRect l="-13333" t="-3448" r="-16667" b="-1379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79986700-4441-7266-FBFB-7E9AEA834BC2}"/>
                    </a:ext>
                  </a:extLst>
                </p:cNvPr>
                <p:cNvSpPr/>
                <p:nvPr/>
              </p:nvSpPr>
              <p:spPr>
                <a:xfrm>
                  <a:off x="6392455" y="1947034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79986700-4441-7266-FBFB-7E9AEA834B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2455" y="1947034"/>
                  <a:ext cx="180000" cy="180000"/>
                </a:xfrm>
                <a:prstGeom prst="ellipse">
                  <a:avLst/>
                </a:prstGeom>
                <a:blipFill>
                  <a:blip r:embed="rId15"/>
                  <a:stretch>
                    <a:fillRect l="-10000" r="-2000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Graphic 59">
              <a:extLst>
                <a:ext uri="{FF2B5EF4-FFF2-40B4-BE49-F238E27FC236}">
                  <a16:creationId xmlns:a16="http://schemas.microsoft.com/office/drawing/2014/main" id="{280687A9-F2B0-5991-01BF-D10C54231BA6}"/>
                </a:ext>
              </a:extLst>
            </p:cNvPr>
            <p:cNvSpPr/>
            <p:nvPr/>
          </p:nvSpPr>
          <p:spPr>
            <a:xfrm rot="10800000" flipH="1" flipV="1">
              <a:off x="5745265" y="1768721"/>
              <a:ext cx="938939" cy="216030"/>
            </a:xfrm>
            <a:custGeom>
              <a:avLst/>
              <a:gdLst>
                <a:gd name="csX0" fmla="*/ -39 w 938939"/>
                <a:gd name="csY0" fmla="*/ 216511 h 216030"/>
                <a:gd name="csX1" fmla="*/ 169053 w 938939"/>
                <a:gd name="csY1" fmla="*/ 510 h 216030"/>
                <a:gd name="csX2" fmla="*/ 335340 w 938939"/>
                <a:gd name="csY2" fmla="*/ 216511 h 216030"/>
                <a:gd name="csX3" fmla="*/ 501627 w 938939"/>
                <a:gd name="csY3" fmla="*/ 510 h 216030"/>
                <a:gd name="csX4" fmla="*/ 667908 w 938939"/>
                <a:gd name="csY4" fmla="*/ 216511 h 216030"/>
                <a:gd name="csX5" fmla="*/ 803937 w 938939"/>
                <a:gd name="csY5" fmla="*/ 108523 h 216030"/>
                <a:gd name="csX6" fmla="*/ 938900 w 938939"/>
                <a:gd name="csY6" fmla="*/ 108523 h 2160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38939" h="216030">
                  <a:moveTo>
                    <a:pt x="-39" y="216511"/>
                  </a:moveTo>
                  <a:cubicBezTo>
                    <a:pt x="93632" y="216511"/>
                    <a:pt x="78189" y="510"/>
                    <a:pt x="169053" y="510"/>
                  </a:cubicBezTo>
                  <a:cubicBezTo>
                    <a:pt x="259917" y="510"/>
                    <a:pt x="244476" y="216511"/>
                    <a:pt x="335340" y="216511"/>
                  </a:cubicBezTo>
                  <a:cubicBezTo>
                    <a:pt x="426204" y="216511"/>
                    <a:pt x="410763" y="510"/>
                    <a:pt x="501627" y="510"/>
                  </a:cubicBezTo>
                  <a:cubicBezTo>
                    <a:pt x="592492" y="510"/>
                    <a:pt x="577072" y="214416"/>
                    <a:pt x="667908" y="216511"/>
                  </a:cubicBezTo>
                  <a:cubicBezTo>
                    <a:pt x="759525" y="218619"/>
                    <a:pt x="720016" y="108523"/>
                    <a:pt x="803937" y="108523"/>
                  </a:cubicBezTo>
                  <a:lnTo>
                    <a:pt x="938900" y="108523"/>
                  </a:lnTo>
                </a:path>
              </a:pathLst>
            </a:custGeom>
            <a:noFill/>
            <a:ln w="38100" cap="flat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triangle" w="lg" len="med"/>
            </a:ln>
          </p:spPr>
          <p:txBody>
            <a:bodyPr/>
            <a:lstStyle/>
            <a:p>
              <a:endParaRPr lang="en-ZA" dirty="0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C5B84A9C-3E4F-C924-701B-6F9986FBFD47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V="1">
              <a:off x="6862202" y="1876736"/>
              <a:ext cx="1323829" cy="2377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4" name="Graphic 83" descr="Collision with solid fill">
              <a:extLst>
                <a:ext uri="{FF2B5EF4-FFF2-40B4-BE49-F238E27FC236}">
                  <a16:creationId xmlns:a16="http://schemas.microsoft.com/office/drawing/2014/main" id="{D1B7826D-CA82-B0C8-EADE-36393E1A99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639966" y="1699112"/>
              <a:ext cx="360000" cy="360000"/>
            </a:xfrm>
            <a:prstGeom prst="rect">
              <a:avLst/>
            </a:prstGeom>
          </p:spPr>
        </p:pic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1422BEDE-1776-ED31-D777-B2F00E4F82DD}"/>
              </a:ext>
            </a:extLst>
          </p:cNvPr>
          <p:cNvGrpSpPr/>
          <p:nvPr/>
        </p:nvGrpSpPr>
        <p:grpSpPr>
          <a:xfrm>
            <a:off x="5290039" y="3728480"/>
            <a:ext cx="2172247" cy="1666622"/>
            <a:chOff x="4356274" y="1984395"/>
            <a:chExt cx="2172247" cy="1666622"/>
          </a:xfrm>
        </p:grpSpPr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90DEACC1-32B8-A616-9405-7EE808367E28}"/>
                </a:ext>
              </a:extLst>
            </p:cNvPr>
            <p:cNvSpPr/>
            <p:nvPr/>
          </p:nvSpPr>
          <p:spPr>
            <a:xfrm>
              <a:off x="5114550" y="2666671"/>
              <a:ext cx="720000" cy="720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DFDE8AF0-C86D-0A16-6B92-D2227A0F1B08}"/>
                </a:ext>
              </a:extLst>
            </p:cNvPr>
            <p:cNvGrpSpPr/>
            <p:nvPr/>
          </p:nvGrpSpPr>
          <p:grpSpPr>
            <a:xfrm flipH="1">
              <a:off x="5290039" y="2836853"/>
              <a:ext cx="360000" cy="360000"/>
              <a:chOff x="7153338" y="2179362"/>
              <a:chExt cx="574122" cy="568110"/>
            </a:xfrm>
          </p:grpSpPr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C34E38E3-1077-EAE5-3775-11548EC4414A}"/>
                  </a:ext>
                </a:extLst>
              </p:cNvPr>
              <p:cNvSpPr/>
              <p:nvPr/>
            </p:nvSpPr>
            <p:spPr>
              <a:xfrm>
                <a:off x="7435340" y="2534311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sz="600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8671C03C-8D9E-9C04-E064-B8557AA2925E}"/>
                  </a:ext>
                </a:extLst>
              </p:cNvPr>
              <p:cNvSpPr/>
              <p:nvPr/>
            </p:nvSpPr>
            <p:spPr>
              <a:xfrm>
                <a:off x="7547460" y="2337249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93E755B0-9D64-9DC8-700E-2026302CA7E3}"/>
                  </a:ext>
                </a:extLst>
              </p:cNvPr>
              <p:cNvSpPr/>
              <p:nvPr/>
            </p:nvSpPr>
            <p:spPr>
              <a:xfrm>
                <a:off x="7522840" y="2474037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2391BEF9-5DAD-0E40-601B-E462D24317B9}"/>
                  </a:ext>
                </a:extLst>
              </p:cNvPr>
              <p:cNvSpPr/>
              <p:nvPr/>
            </p:nvSpPr>
            <p:spPr>
              <a:xfrm>
                <a:off x="7384628" y="2189073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83A124DE-D746-C2E7-4FDF-ACD69D1C61B7}"/>
                  </a:ext>
                </a:extLst>
              </p:cNvPr>
              <p:cNvSpPr/>
              <p:nvPr/>
            </p:nvSpPr>
            <p:spPr>
              <a:xfrm>
                <a:off x="7398680" y="2411637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sz="600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9BD8FE9F-4112-EE77-039D-DD64AFB47CFA}"/>
                  </a:ext>
                </a:extLst>
              </p:cNvPr>
              <p:cNvSpPr/>
              <p:nvPr/>
            </p:nvSpPr>
            <p:spPr>
              <a:xfrm>
                <a:off x="7326585" y="2179362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EF6731BF-DF0E-9313-4CB7-CE9E9342C046}"/>
                  </a:ext>
                </a:extLst>
              </p:cNvPr>
              <p:cNvSpPr/>
              <p:nvPr/>
            </p:nvSpPr>
            <p:spPr>
              <a:xfrm>
                <a:off x="7483554" y="2230540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AB648EE7-7AF8-EC58-3AEC-0552FACFF31C}"/>
                  </a:ext>
                </a:extLst>
              </p:cNvPr>
              <p:cNvSpPr/>
              <p:nvPr/>
            </p:nvSpPr>
            <p:spPr>
              <a:xfrm>
                <a:off x="7393568" y="2567472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F63B2CFB-FDD2-20F0-A53B-8590F2048DEA}"/>
                  </a:ext>
                </a:extLst>
              </p:cNvPr>
              <p:cNvSpPr/>
              <p:nvPr/>
            </p:nvSpPr>
            <p:spPr>
              <a:xfrm>
                <a:off x="7538751" y="2364053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1731E17F-746C-46D7-807D-1F97E1404494}"/>
                  </a:ext>
                </a:extLst>
              </p:cNvPr>
              <p:cNvSpPr/>
              <p:nvPr/>
            </p:nvSpPr>
            <p:spPr>
              <a:xfrm>
                <a:off x="7195820" y="2497209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B7790E2D-F89D-0C86-9DF4-41C5C9916667}"/>
                  </a:ext>
                </a:extLst>
              </p:cNvPr>
              <p:cNvSpPr/>
              <p:nvPr/>
            </p:nvSpPr>
            <p:spPr>
              <a:xfrm>
                <a:off x="7153338" y="2280344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2E1778CE-DCF2-0D97-D8F0-1D7599EFD17E}"/>
                  </a:ext>
                </a:extLst>
              </p:cNvPr>
              <p:cNvSpPr/>
              <p:nvPr/>
            </p:nvSpPr>
            <p:spPr>
              <a:xfrm>
                <a:off x="7467643" y="2375939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BD1BD1B3-C7B4-4E3B-EBB0-6386EDEF7AFA}"/>
                  </a:ext>
                </a:extLst>
              </p:cNvPr>
              <p:cNvSpPr/>
              <p:nvPr/>
            </p:nvSpPr>
            <p:spPr>
              <a:xfrm>
                <a:off x="7158153" y="2395819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B0923561-D3AD-6812-3B60-D51DC02ED345}"/>
                  </a:ext>
                </a:extLst>
              </p:cNvPr>
              <p:cNvSpPr/>
              <p:nvPr/>
            </p:nvSpPr>
            <p:spPr>
              <a:xfrm>
                <a:off x="7365955" y="2298912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250F6A4E-022D-CBED-6846-ADBD5E4B7941}"/>
                  </a:ext>
                </a:extLst>
              </p:cNvPr>
              <p:cNvSpPr/>
              <p:nvPr/>
            </p:nvSpPr>
            <p:spPr>
              <a:xfrm>
                <a:off x="7282940" y="2381911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EBB680C9-8009-5CD0-F02C-9C502E3360AB}"/>
                  </a:ext>
                </a:extLst>
              </p:cNvPr>
              <p:cNvSpPr/>
              <p:nvPr/>
            </p:nvSpPr>
            <p:spPr>
              <a:xfrm>
                <a:off x="7236353" y="2234174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DFB969B9-57B9-E5CB-663F-A3153D4A4734}"/>
                  </a:ext>
                </a:extLst>
              </p:cNvPr>
              <p:cNvSpPr/>
              <p:nvPr/>
            </p:nvSpPr>
            <p:spPr>
              <a:xfrm>
                <a:off x="7287206" y="2555939"/>
                <a:ext cx="180000" cy="180000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>
                    <a:solidFill>
                      <a:srgbClr val="004A7A"/>
                    </a:solidFill>
                  </a:rPr>
                  <a:t>n</a:t>
                </a:r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8D99808D-6298-2C9A-241C-22EEC94F6404}"/>
                  </a:ext>
                </a:extLst>
              </p:cNvPr>
              <p:cNvSpPr/>
              <p:nvPr/>
            </p:nvSpPr>
            <p:spPr>
              <a:xfrm>
                <a:off x="7360163" y="2465939"/>
                <a:ext cx="180000" cy="180000"/>
              </a:xfrm>
              <a:prstGeom prst="ellipse">
                <a:avLst/>
              </a:prstGeom>
              <a:solidFill>
                <a:srgbClr val="004A7A"/>
              </a:solidFill>
              <a:ln w="3175">
                <a:solidFill>
                  <a:srgbClr val="004A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600" dirty="0"/>
                  <a:t>p</a:t>
                </a:r>
              </a:p>
            </p:txBody>
          </p:sp>
        </p:grp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364EC95C-1D7D-F5B7-EF25-4261E8CE76E7}"/>
                </a:ext>
              </a:extLst>
            </p:cNvPr>
            <p:cNvSpPr/>
            <p:nvPr/>
          </p:nvSpPr>
          <p:spPr>
            <a:xfrm>
              <a:off x="4933211" y="2478451"/>
              <a:ext cx="1080000" cy="1080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D8A8CD14-2844-C3D5-EDAB-F0B9FE88E27E}"/>
                    </a:ext>
                  </a:extLst>
                </p:cNvPr>
                <p:cNvSpPr/>
                <p:nvPr/>
              </p:nvSpPr>
              <p:spPr>
                <a:xfrm>
                  <a:off x="6348521" y="2867874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D8A8CD14-2844-C3D5-EDAB-F0B9FE88E2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8521" y="2867874"/>
                  <a:ext cx="180000" cy="180000"/>
                </a:xfrm>
                <a:prstGeom prst="ellipse">
                  <a:avLst/>
                </a:prstGeom>
                <a:blipFill>
                  <a:blip r:embed="rId17"/>
                  <a:stretch>
                    <a:fillRect l="-13793" r="-2069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1B4D3B6B-BF04-F242-B73D-100CAA1369A3}"/>
                    </a:ext>
                  </a:extLst>
                </p:cNvPr>
                <p:cNvSpPr/>
                <p:nvPr/>
              </p:nvSpPr>
              <p:spPr>
                <a:xfrm>
                  <a:off x="5392142" y="3471017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1B4D3B6B-BF04-F242-B73D-100CAA1369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2142" y="3471017"/>
                  <a:ext cx="180000" cy="180000"/>
                </a:xfrm>
                <a:prstGeom prst="ellipse">
                  <a:avLst/>
                </a:prstGeom>
                <a:blipFill>
                  <a:blip r:embed="rId18"/>
                  <a:stretch>
                    <a:fillRect l="-13793" r="-2069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AEF8DAD5-C0E9-890E-F055-80D3A8B6842E}"/>
                    </a:ext>
                  </a:extLst>
                </p:cNvPr>
                <p:cNvSpPr/>
                <p:nvPr/>
              </p:nvSpPr>
              <p:spPr>
                <a:xfrm>
                  <a:off x="5920039" y="2920919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AEF8DAD5-C0E9-890E-F055-80D3A8B684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0039" y="2920919"/>
                  <a:ext cx="180000" cy="180000"/>
                </a:xfrm>
                <a:prstGeom prst="ellipse">
                  <a:avLst/>
                </a:prstGeom>
                <a:blipFill>
                  <a:blip r:embed="rId19"/>
                  <a:stretch>
                    <a:fillRect l="-10000" t="-3333" r="-2000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1B256663-B023-F405-4989-C47D0A712C85}"/>
                    </a:ext>
                  </a:extLst>
                </p:cNvPr>
                <p:cNvSpPr/>
                <p:nvPr/>
              </p:nvSpPr>
              <p:spPr>
                <a:xfrm>
                  <a:off x="4838696" y="2920919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1B256663-B023-F405-4989-C47D0A712C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8696" y="2920919"/>
                  <a:ext cx="180000" cy="180000"/>
                </a:xfrm>
                <a:prstGeom prst="ellipse">
                  <a:avLst/>
                </a:prstGeom>
                <a:blipFill>
                  <a:blip r:embed="rId20"/>
                  <a:stretch>
                    <a:fillRect l="-13793" t="-3333" r="-2069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D4B7DC7D-00BA-8136-B40C-2F4536038B0D}"/>
                    </a:ext>
                  </a:extLst>
                </p:cNvPr>
                <p:cNvSpPr/>
                <p:nvPr/>
              </p:nvSpPr>
              <p:spPr>
                <a:xfrm>
                  <a:off x="5541405" y="3249000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D4B7DC7D-00BA-8136-B40C-2F4536038B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1405" y="3249000"/>
                  <a:ext cx="180000" cy="180000"/>
                </a:xfrm>
                <a:prstGeom prst="ellipse">
                  <a:avLst/>
                </a:prstGeom>
                <a:blipFill>
                  <a:blip r:embed="rId21"/>
                  <a:stretch>
                    <a:fillRect l="-13333" t="-3333" r="-16667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F0103C75-6ECC-7B42-73F6-AB605749334A}"/>
                    </a:ext>
                  </a:extLst>
                </p:cNvPr>
                <p:cNvSpPr/>
                <p:nvPr/>
              </p:nvSpPr>
              <p:spPr>
                <a:xfrm>
                  <a:off x="5240111" y="2616307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F0103C75-6ECC-7B42-73F6-AB60574933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0111" y="2616307"/>
                  <a:ext cx="180000" cy="180000"/>
                </a:xfrm>
                <a:prstGeom prst="ellipse">
                  <a:avLst/>
                </a:prstGeom>
                <a:blipFill>
                  <a:blip r:embed="rId22"/>
                  <a:stretch>
                    <a:fillRect l="-13793" t="-3333" r="-2069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B9B0BCFB-8B7C-21A9-BC35-F7B867EEEC00}"/>
                    </a:ext>
                  </a:extLst>
                </p:cNvPr>
                <p:cNvSpPr/>
                <p:nvPr/>
              </p:nvSpPr>
              <p:spPr>
                <a:xfrm>
                  <a:off x="4999712" y="3302651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B9B0BCFB-8B7C-21A9-BC35-F7B867EEEC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9712" y="3302651"/>
                  <a:ext cx="180000" cy="180000"/>
                </a:xfrm>
                <a:prstGeom prst="ellipse">
                  <a:avLst/>
                </a:prstGeom>
                <a:blipFill>
                  <a:blip r:embed="rId23"/>
                  <a:stretch>
                    <a:fillRect l="-10000" t="-3448" r="-20000" b="-1379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15F94BFA-2C5D-03DC-B501-67A19E0B5185}"/>
                    </a:ext>
                  </a:extLst>
                </p:cNvPr>
                <p:cNvSpPr/>
                <p:nvPr/>
              </p:nvSpPr>
              <p:spPr>
                <a:xfrm>
                  <a:off x="5776107" y="2546372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15F94BFA-2C5D-03DC-B501-67A19E0B51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6107" y="2546372"/>
                  <a:ext cx="180000" cy="180000"/>
                </a:xfrm>
                <a:prstGeom prst="ellipse">
                  <a:avLst/>
                </a:prstGeom>
                <a:blipFill>
                  <a:blip r:embed="rId24"/>
                  <a:stretch>
                    <a:fillRect l="-13793" t="-3448" r="-20690" b="-1379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78812E15-B720-9567-9CDD-24EFC143BB89}"/>
                    </a:ext>
                  </a:extLst>
                </p:cNvPr>
                <p:cNvSpPr/>
                <p:nvPr/>
              </p:nvSpPr>
              <p:spPr>
                <a:xfrm>
                  <a:off x="5776107" y="3297953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78812E15-B720-9567-9CDD-24EFC143BB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6107" y="3297953"/>
                  <a:ext cx="180000" cy="180000"/>
                </a:xfrm>
                <a:prstGeom prst="ellipse">
                  <a:avLst/>
                </a:prstGeom>
                <a:blipFill>
                  <a:blip r:embed="rId25"/>
                  <a:stretch>
                    <a:fillRect l="-13793" t="-3333" r="-2069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49FEBA9-6E6E-4970-40D6-8278490D55C3}"/>
                    </a:ext>
                  </a:extLst>
                </p:cNvPr>
                <p:cNvSpPr/>
                <p:nvPr/>
              </p:nvSpPr>
              <p:spPr>
                <a:xfrm>
                  <a:off x="5003464" y="2546372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49FEBA9-6E6E-4970-40D6-8278490D55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3464" y="2546372"/>
                  <a:ext cx="180000" cy="180000"/>
                </a:xfrm>
                <a:prstGeom prst="ellipse">
                  <a:avLst/>
                </a:prstGeom>
                <a:blipFill>
                  <a:blip r:embed="rId26"/>
                  <a:stretch>
                    <a:fillRect l="-13793" t="-3448" r="-20690" b="-1379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9" name="Graphic 59">
              <a:extLst>
                <a:ext uri="{FF2B5EF4-FFF2-40B4-BE49-F238E27FC236}">
                  <a16:creationId xmlns:a16="http://schemas.microsoft.com/office/drawing/2014/main" id="{3A88AE42-ED36-D175-F87F-50BA59C7772F}"/>
                </a:ext>
              </a:extLst>
            </p:cNvPr>
            <p:cNvSpPr/>
            <p:nvPr/>
          </p:nvSpPr>
          <p:spPr>
            <a:xfrm rot="10800000" flipH="1" flipV="1">
              <a:off x="4356274" y="2368059"/>
              <a:ext cx="938939" cy="216030"/>
            </a:xfrm>
            <a:custGeom>
              <a:avLst/>
              <a:gdLst>
                <a:gd name="csX0" fmla="*/ -39 w 938939"/>
                <a:gd name="csY0" fmla="*/ 216511 h 216030"/>
                <a:gd name="csX1" fmla="*/ 169053 w 938939"/>
                <a:gd name="csY1" fmla="*/ 510 h 216030"/>
                <a:gd name="csX2" fmla="*/ 335340 w 938939"/>
                <a:gd name="csY2" fmla="*/ 216511 h 216030"/>
                <a:gd name="csX3" fmla="*/ 501627 w 938939"/>
                <a:gd name="csY3" fmla="*/ 510 h 216030"/>
                <a:gd name="csX4" fmla="*/ 667908 w 938939"/>
                <a:gd name="csY4" fmla="*/ 216511 h 216030"/>
                <a:gd name="csX5" fmla="*/ 803937 w 938939"/>
                <a:gd name="csY5" fmla="*/ 108523 h 216030"/>
                <a:gd name="csX6" fmla="*/ 938900 w 938939"/>
                <a:gd name="csY6" fmla="*/ 108523 h 2160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38939" h="216030">
                  <a:moveTo>
                    <a:pt x="-39" y="216511"/>
                  </a:moveTo>
                  <a:cubicBezTo>
                    <a:pt x="93632" y="216511"/>
                    <a:pt x="78189" y="510"/>
                    <a:pt x="169053" y="510"/>
                  </a:cubicBezTo>
                  <a:cubicBezTo>
                    <a:pt x="259917" y="510"/>
                    <a:pt x="244476" y="216511"/>
                    <a:pt x="335340" y="216511"/>
                  </a:cubicBezTo>
                  <a:cubicBezTo>
                    <a:pt x="426204" y="216511"/>
                    <a:pt x="410763" y="510"/>
                    <a:pt x="501627" y="510"/>
                  </a:cubicBezTo>
                  <a:cubicBezTo>
                    <a:pt x="592492" y="510"/>
                    <a:pt x="577072" y="214416"/>
                    <a:pt x="667908" y="216511"/>
                  </a:cubicBezTo>
                  <a:cubicBezTo>
                    <a:pt x="759525" y="218619"/>
                    <a:pt x="720016" y="108523"/>
                    <a:pt x="803937" y="108523"/>
                  </a:cubicBezTo>
                  <a:lnTo>
                    <a:pt x="938900" y="108523"/>
                  </a:lnTo>
                </a:path>
              </a:pathLst>
            </a:custGeom>
            <a:noFill/>
            <a:ln w="38100" cap="flat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triangle" w="lg" len="med"/>
            </a:ln>
          </p:spPr>
          <p:txBody>
            <a:bodyPr/>
            <a:lstStyle/>
            <a:p>
              <a:endParaRPr lang="en-ZA" dirty="0"/>
            </a:p>
          </p:txBody>
        </p: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52D252A5-DB7E-FF8D-79B6-7ADBA9C9BC52}"/>
                </a:ext>
              </a:extLst>
            </p:cNvPr>
            <p:cNvCxnSpPr>
              <a:cxnSpLocks/>
              <a:stCxn id="178" idx="0"/>
            </p:cNvCxnSpPr>
            <p:nvPr/>
          </p:nvCxnSpPr>
          <p:spPr>
            <a:xfrm>
              <a:off x="5473211" y="2478451"/>
              <a:ext cx="884241" cy="446786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1" name="Graphic 190" descr="Collision with solid fill">
              <a:extLst>
                <a:ext uri="{FF2B5EF4-FFF2-40B4-BE49-F238E27FC236}">
                  <a16:creationId xmlns:a16="http://schemas.microsoft.com/office/drawing/2014/main" id="{EA2A8457-514E-F59C-4789-99EC9FD3EA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250975" y="2298450"/>
              <a:ext cx="360000" cy="360000"/>
            </a:xfrm>
            <a:prstGeom prst="rect">
              <a:avLst/>
            </a:prstGeom>
          </p:spPr>
        </p:pic>
        <p:sp>
          <p:nvSpPr>
            <p:cNvPr id="192" name="Graphic 59">
              <a:extLst>
                <a:ext uri="{FF2B5EF4-FFF2-40B4-BE49-F238E27FC236}">
                  <a16:creationId xmlns:a16="http://schemas.microsoft.com/office/drawing/2014/main" id="{200C3394-9F9E-D611-E777-63596EDD468E}"/>
                </a:ext>
              </a:extLst>
            </p:cNvPr>
            <p:cNvSpPr/>
            <p:nvPr/>
          </p:nvSpPr>
          <p:spPr>
            <a:xfrm rot="8817758" flipH="1" flipV="1">
              <a:off x="5459269" y="1984395"/>
              <a:ext cx="938939" cy="216030"/>
            </a:xfrm>
            <a:custGeom>
              <a:avLst/>
              <a:gdLst>
                <a:gd name="csX0" fmla="*/ -39 w 938939"/>
                <a:gd name="csY0" fmla="*/ 216511 h 216030"/>
                <a:gd name="csX1" fmla="*/ 169053 w 938939"/>
                <a:gd name="csY1" fmla="*/ 510 h 216030"/>
                <a:gd name="csX2" fmla="*/ 335340 w 938939"/>
                <a:gd name="csY2" fmla="*/ 216511 h 216030"/>
                <a:gd name="csX3" fmla="*/ 501627 w 938939"/>
                <a:gd name="csY3" fmla="*/ 510 h 216030"/>
                <a:gd name="csX4" fmla="*/ 667908 w 938939"/>
                <a:gd name="csY4" fmla="*/ 216511 h 216030"/>
                <a:gd name="csX5" fmla="*/ 803937 w 938939"/>
                <a:gd name="csY5" fmla="*/ 108523 h 216030"/>
                <a:gd name="csX6" fmla="*/ 938900 w 938939"/>
                <a:gd name="csY6" fmla="*/ 108523 h 2160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38939" h="216030">
                  <a:moveTo>
                    <a:pt x="-39" y="216511"/>
                  </a:moveTo>
                  <a:cubicBezTo>
                    <a:pt x="93632" y="216511"/>
                    <a:pt x="78189" y="510"/>
                    <a:pt x="169053" y="510"/>
                  </a:cubicBezTo>
                  <a:cubicBezTo>
                    <a:pt x="259917" y="510"/>
                    <a:pt x="244476" y="216511"/>
                    <a:pt x="335340" y="216511"/>
                  </a:cubicBezTo>
                  <a:cubicBezTo>
                    <a:pt x="426204" y="216511"/>
                    <a:pt x="410763" y="510"/>
                    <a:pt x="501627" y="510"/>
                  </a:cubicBezTo>
                  <a:cubicBezTo>
                    <a:pt x="592492" y="510"/>
                    <a:pt x="577072" y="214416"/>
                    <a:pt x="667908" y="216511"/>
                  </a:cubicBezTo>
                  <a:cubicBezTo>
                    <a:pt x="759525" y="218619"/>
                    <a:pt x="720016" y="108523"/>
                    <a:pt x="803937" y="108523"/>
                  </a:cubicBezTo>
                  <a:lnTo>
                    <a:pt x="938900" y="108523"/>
                  </a:lnTo>
                </a:path>
              </a:pathLst>
            </a:custGeom>
            <a:noFill/>
            <a:ln w="38100" cap="flat">
              <a:solidFill>
                <a:srgbClr val="00B0F0"/>
              </a:solidFill>
              <a:prstDash val="solid"/>
              <a:round/>
              <a:headEnd type="none" w="med" len="med"/>
              <a:tailEnd type="triangle" w="lg" len="med"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4DE053A-4CE4-8DD0-6929-56D42BCD0B6B}"/>
              </a:ext>
            </a:extLst>
          </p:cNvPr>
          <p:cNvSpPr txBox="1"/>
          <p:nvPr/>
        </p:nvSpPr>
        <p:spPr>
          <a:xfrm>
            <a:off x="9361522" y="5314345"/>
            <a:ext cx="2283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dirty="0">
                <a:solidFill>
                  <a:schemeClr val="tx2"/>
                </a:solidFill>
              </a:rPr>
              <a:t>Valence Band</a:t>
            </a:r>
          </a:p>
        </p:txBody>
      </p:sp>
    </p:spTree>
    <p:extLst>
      <p:ext uri="{BB962C8B-B14F-4D97-AF65-F5344CB8AC3E}">
        <p14:creationId xmlns:p14="http://schemas.microsoft.com/office/powerpoint/2010/main" val="4060100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2A36C-D29B-F457-0747-CB3CBEA89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BCA08A8-9958-C643-A7F0-636CC258007B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D35571-F193-076B-3C7E-C48AE4DCD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Absorption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DD7442-01A5-A020-CAE6-428CB286D298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4A1DC03-1E0A-3469-3CF7-89C01A5FA1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5181600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Secondary scatters</a:t>
                </a:r>
              </a:p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</a:buBlip>
                </a:pPr>
                <a14:m>
                  <m:oMath xmlns:m="http://schemas.openxmlformats.org/officeDocument/2006/math">
                    <m:r>
                      <a:rPr lang="en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energy depletion</a:t>
                </a:r>
              </a:p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</a:buBlip>
                </a:pPr>
                <a:r>
                  <a:rPr lang="en-ZA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Exciton cascade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4A1DC03-1E0A-3469-3CF7-89C01A5FA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5181600" cy="435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Slide Number Placeholder 233">
            <a:extLst>
              <a:ext uri="{FF2B5EF4-FFF2-40B4-BE49-F238E27FC236}">
                <a16:creationId xmlns:a16="http://schemas.microsoft.com/office/drawing/2014/main" id="{1CBD1264-9C15-AC0F-033C-7A5A59B3D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8</a:t>
            </a:fld>
            <a:endParaRPr lang="en-ZA"/>
          </a:p>
        </p:txBody>
      </p:sp>
      <p:pic>
        <p:nvPicPr>
          <p:cNvPr id="235" name="Picture 234">
            <a:extLst>
              <a:ext uri="{FF2B5EF4-FFF2-40B4-BE49-F238E27FC236}">
                <a16:creationId xmlns:a16="http://schemas.microsoft.com/office/drawing/2014/main" id="{FD66E4AD-C234-5079-BF61-F8282B0AD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236" name="Picture 235" descr="A close-up of a logo&#10;&#10;Description automatically generated">
            <a:extLst>
              <a:ext uri="{FF2B5EF4-FFF2-40B4-BE49-F238E27FC236}">
                <a16:creationId xmlns:a16="http://schemas.microsoft.com/office/drawing/2014/main" id="{1E289676-43D5-F2F3-23A2-210A7BE3B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380" name="Title 1">
            <a:extLst>
              <a:ext uri="{FF2B5EF4-FFF2-40B4-BE49-F238E27FC236}">
                <a16:creationId xmlns:a16="http://schemas.microsoft.com/office/drawing/2014/main" id="{DD5C4805-FD1D-36BB-72FB-A16F626CDEB2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How scintillators work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BF4471-60E1-E660-890C-79DADE85E22D}"/>
              </a:ext>
            </a:extLst>
          </p:cNvPr>
          <p:cNvGrpSpPr/>
          <p:nvPr/>
        </p:nvGrpSpPr>
        <p:grpSpPr>
          <a:xfrm>
            <a:off x="4343326" y="1825625"/>
            <a:ext cx="7310510" cy="3858052"/>
            <a:chOff x="4382239" y="1532504"/>
            <a:chExt cx="7310510" cy="385805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5A6B98-6608-B31E-0248-66319BF10BD3}"/>
                </a:ext>
              </a:extLst>
            </p:cNvPr>
            <p:cNvSpPr/>
            <p:nvPr/>
          </p:nvSpPr>
          <p:spPr>
            <a:xfrm>
              <a:off x="9402929" y="1907807"/>
              <a:ext cx="2289820" cy="481114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tint val="66000"/>
                    <a:satMod val="160000"/>
                  </a:srgbClr>
                </a:gs>
                <a:gs pos="69000">
                  <a:srgbClr val="C00000">
                    <a:tint val="44500"/>
                    <a:satMod val="160000"/>
                  </a:srgbClr>
                </a:gs>
                <a:gs pos="100000">
                  <a:srgbClr val="C0000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ZA" dirty="0">
                <a:solidFill>
                  <a:schemeClr val="tx2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736F565-0FFE-AA85-3D6D-73B0F6A5DB96}"/>
                </a:ext>
              </a:extLst>
            </p:cNvPr>
            <p:cNvSpPr/>
            <p:nvPr/>
          </p:nvSpPr>
          <p:spPr>
            <a:xfrm>
              <a:off x="9402929" y="4548652"/>
              <a:ext cx="2289820" cy="481114"/>
            </a:xfrm>
            <a:prstGeom prst="rect">
              <a:avLst/>
            </a:prstGeom>
            <a:gradFill flip="none" rotWithShape="1">
              <a:gsLst>
                <a:gs pos="0">
                  <a:srgbClr val="00B050"/>
                </a:gs>
                <a:gs pos="81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ZA" dirty="0">
                <a:solidFill>
                  <a:schemeClr val="tx2"/>
                </a:solidFill>
              </a:endParaRPr>
            </a:p>
          </p:txBody>
        </p: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6FABCCFC-7FF4-18A0-FF5A-7504A2C403FD}"/>
                </a:ext>
              </a:extLst>
            </p:cNvPr>
            <p:cNvGrpSpPr/>
            <p:nvPr/>
          </p:nvGrpSpPr>
          <p:grpSpPr>
            <a:xfrm>
              <a:off x="10067682" y="2117725"/>
              <a:ext cx="201752" cy="2668252"/>
              <a:chOff x="10067682" y="2117725"/>
              <a:chExt cx="201752" cy="2668252"/>
            </a:xfrm>
          </p:grpSpPr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5DB8A452-328E-9087-6BC1-B7B88F048A61}"/>
                  </a:ext>
                </a:extLst>
              </p:cNvPr>
              <p:cNvSpPr/>
              <p:nvPr/>
            </p:nvSpPr>
            <p:spPr>
              <a:xfrm>
                <a:off x="10067682" y="2117725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ctr"/>
              <a:lstStyle/>
              <a:p>
                <a:pPr algn="ctr"/>
                <a:endParaRPr lang="en-ZA" dirty="0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90098690-3869-AB9B-4410-AB20D5740639}"/>
                  </a:ext>
                </a:extLst>
              </p:cNvPr>
              <p:cNvSpPr/>
              <p:nvPr/>
            </p:nvSpPr>
            <p:spPr>
              <a:xfrm>
                <a:off x="10089434" y="4605977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ctr"/>
              <a:lstStyle/>
              <a:p>
                <a:pPr algn="ctr"/>
                <a:endParaRPr lang="en-ZA" dirty="0"/>
              </a:p>
            </p:txBody>
          </p:sp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A0098CDB-35D3-05EB-FC46-D2CD596102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63523" y="2382296"/>
                <a:ext cx="0" cy="2159731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3091C399-F94D-8B93-7945-606125060DBE}"/>
                </a:ext>
              </a:extLst>
            </p:cNvPr>
            <p:cNvGrpSpPr/>
            <p:nvPr/>
          </p:nvGrpSpPr>
          <p:grpSpPr>
            <a:xfrm>
              <a:off x="10474448" y="2117725"/>
              <a:ext cx="201752" cy="2668252"/>
              <a:chOff x="10067682" y="2117725"/>
              <a:chExt cx="201752" cy="2668252"/>
            </a:xfrm>
          </p:grpSpPr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F0F2CDDB-5159-F5A4-1E98-40C6888779F8}"/>
                  </a:ext>
                </a:extLst>
              </p:cNvPr>
              <p:cNvSpPr/>
              <p:nvPr/>
            </p:nvSpPr>
            <p:spPr>
              <a:xfrm>
                <a:off x="10067682" y="2117725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ctr"/>
              <a:lstStyle/>
              <a:p>
                <a:pPr algn="ctr"/>
                <a:endParaRPr lang="en-ZA" dirty="0"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1C5AA893-3ED8-CFA0-C37C-96D1DF88F0B3}"/>
                  </a:ext>
                </a:extLst>
              </p:cNvPr>
              <p:cNvSpPr/>
              <p:nvPr/>
            </p:nvSpPr>
            <p:spPr>
              <a:xfrm>
                <a:off x="10089434" y="4605977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ctr"/>
              <a:lstStyle/>
              <a:p>
                <a:pPr algn="ctr"/>
                <a:endParaRPr lang="en-ZA" dirty="0"/>
              </a:p>
            </p:txBody>
          </p:sp>
          <p:cxnSp>
            <p:nvCxnSpPr>
              <p:cNvPr id="226" name="Straight Arrow Connector 225">
                <a:extLst>
                  <a:ext uri="{FF2B5EF4-FFF2-40B4-BE49-F238E27FC236}">
                    <a16:creationId xmlns:a16="http://schemas.microsoft.com/office/drawing/2014/main" id="{67719C8A-08CD-CB62-3D49-690854AE6C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63523" y="2382296"/>
                <a:ext cx="0" cy="2159731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94EE1BE9-12D9-53DC-7D1C-5741E71E0B1D}"/>
                </a:ext>
              </a:extLst>
            </p:cNvPr>
            <p:cNvGrpSpPr/>
            <p:nvPr/>
          </p:nvGrpSpPr>
          <p:grpSpPr>
            <a:xfrm>
              <a:off x="10881214" y="2117725"/>
              <a:ext cx="201752" cy="2668252"/>
              <a:chOff x="10067682" y="2117725"/>
              <a:chExt cx="201752" cy="2668252"/>
            </a:xfrm>
          </p:grpSpPr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1E920519-062E-EF88-AA54-F8A235D7D958}"/>
                  </a:ext>
                </a:extLst>
              </p:cNvPr>
              <p:cNvSpPr/>
              <p:nvPr/>
            </p:nvSpPr>
            <p:spPr>
              <a:xfrm>
                <a:off x="10067682" y="2117725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ctr"/>
              <a:lstStyle/>
              <a:p>
                <a:pPr algn="ctr"/>
                <a:endParaRPr lang="en-ZA" dirty="0"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8B33E742-80D2-3546-04BB-7155F8CC4D65}"/>
                  </a:ext>
                </a:extLst>
              </p:cNvPr>
              <p:cNvSpPr/>
              <p:nvPr/>
            </p:nvSpPr>
            <p:spPr>
              <a:xfrm>
                <a:off x="10089434" y="4605977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ctr"/>
              <a:lstStyle/>
              <a:p>
                <a:pPr algn="ctr"/>
                <a:endParaRPr lang="en-ZA" dirty="0"/>
              </a:p>
            </p:txBody>
          </p:sp>
          <p:cxnSp>
            <p:nvCxnSpPr>
              <p:cNvPr id="230" name="Straight Arrow Connector 229">
                <a:extLst>
                  <a:ext uri="{FF2B5EF4-FFF2-40B4-BE49-F238E27FC236}">
                    <a16:creationId xmlns:a16="http://schemas.microsoft.com/office/drawing/2014/main" id="{A98EF6AE-B98F-1D9F-8388-D9686308A4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63523" y="2382296"/>
                <a:ext cx="0" cy="2159731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4008AF18-2DD5-A139-C988-31AF0A274C87}"/>
                </a:ext>
              </a:extLst>
            </p:cNvPr>
            <p:cNvGrpSpPr/>
            <p:nvPr/>
          </p:nvGrpSpPr>
          <p:grpSpPr>
            <a:xfrm>
              <a:off x="6906727" y="3841249"/>
              <a:ext cx="2136342" cy="1352567"/>
              <a:chOff x="6227687" y="1699112"/>
              <a:chExt cx="2136342" cy="1352567"/>
            </a:xfrm>
          </p:grpSpPr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BFE09308-0D27-7988-4A8E-C04CAE415F92}"/>
                  </a:ext>
                </a:extLst>
              </p:cNvPr>
              <p:cNvSpPr/>
              <p:nvPr/>
            </p:nvSpPr>
            <p:spPr>
              <a:xfrm>
                <a:off x="6503541" y="2067333"/>
                <a:ext cx="720000" cy="720000"/>
              </a:xfrm>
              <a:prstGeom prst="ellipse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A457CDEB-A5FD-4E74-93AB-78B2B2BFC986}"/>
                  </a:ext>
                </a:extLst>
              </p:cNvPr>
              <p:cNvGrpSpPr/>
              <p:nvPr/>
            </p:nvGrpSpPr>
            <p:grpSpPr>
              <a:xfrm flipH="1">
                <a:off x="6679030" y="2237515"/>
                <a:ext cx="360000" cy="360000"/>
                <a:chOff x="7153338" y="2179362"/>
                <a:chExt cx="574122" cy="568110"/>
              </a:xfrm>
            </p:grpSpPr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1230FBE7-D604-C681-1739-468F979FFDA9}"/>
                    </a:ext>
                  </a:extLst>
                </p:cNvPr>
                <p:cNvSpPr/>
                <p:nvPr/>
              </p:nvSpPr>
              <p:spPr>
                <a:xfrm>
                  <a:off x="7435340" y="2534311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600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0947D6A9-24B2-E7A9-B0C5-6AF04DB3F68A}"/>
                    </a:ext>
                  </a:extLst>
                </p:cNvPr>
                <p:cNvSpPr/>
                <p:nvPr/>
              </p:nvSpPr>
              <p:spPr>
                <a:xfrm>
                  <a:off x="7547460" y="2337249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C194257D-7333-76AD-BE0F-DB2A60B07C22}"/>
                    </a:ext>
                  </a:extLst>
                </p:cNvPr>
                <p:cNvSpPr/>
                <p:nvPr/>
              </p:nvSpPr>
              <p:spPr>
                <a:xfrm>
                  <a:off x="7522840" y="2474037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513F9550-8F71-94B7-E0A4-7131BE351EC1}"/>
                    </a:ext>
                  </a:extLst>
                </p:cNvPr>
                <p:cNvSpPr/>
                <p:nvPr/>
              </p:nvSpPr>
              <p:spPr>
                <a:xfrm>
                  <a:off x="7384628" y="2189073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C37A4EAA-5FB0-CD6D-0E56-0153365526AB}"/>
                    </a:ext>
                  </a:extLst>
                </p:cNvPr>
                <p:cNvSpPr/>
                <p:nvPr/>
              </p:nvSpPr>
              <p:spPr>
                <a:xfrm>
                  <a:off x="7398680" y="2411637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600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1A048F90-C1CB-CD27-A5D1-FA2F63213A77}"/>
                    </a:ext>
                  </a:extLst>
                </p:cNvPr>
                <p:cNvSpPr/>
                <p:nvPr/>
              </p:nvSpPr>
              <p:spPr>
                <a:xfrm>
                  <a:off x="7326585" y="2179362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54C3EA4-0BB9-93C1-9B75-975850B0B118}"/>
                    </a:ext>
                  </a:extLst>
                </p:cNvPr>
                <p:cNvSpPr/>
                <p:nvPr/>
              </p:nvSpPr>
              <p:spPr>
                <a:xfrm>
                  <a:off x="7483554" y="2230540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949635B9-6143-7066-2183-6C71E3280249}"/>
                    </a:ext>
                  </a:extLst>
                </p:cNvPr>
                <p:cNvSpPr/>
                <p:nvPr/>
              </p:nvSpPr>
              <p:spPr>
                <a:xfrm>
                  <a:off x="7393568" y="2567472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5CE3FB00-59AD-5A95-025B-7721FC7B75AB}"/>
                    </a:ext>
                  </a:extLst>
                </p:cNvPr>
                <p:cNvSpPr/>
                <p:nvPr/>
              </p:nvSpPr>
              <p:spPr>
                <a:xfrm>
                  <a:off x="7538751" y="2364053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02F802F4-6DA9-09E5-667B-7A3E82A4BA7D}"/>
                    </a:ext>
                  </a:extLst>
                </p:cNvPr>
                <p:cNvSpPr/>
                <p:nvPr/>
              </p:nvSpPr>
              <p:spPr>
                <a:xfrm>
                  <a:off x="7195820" y="2497209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895207E2-1507-29D6-3D51-87E6BA1F1B7E}"/>
                    </a:ext>
                  </a:extLst>
                </p:cNvPr>
                <p:cNvSpPr/>
                <p:nvPr/>
              </p:nvSpPr>
              <p:spPr>
                <a:xfrm>
                  <a:off x="7153338" y="2280344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E8166F05-CCA2-04E5-D5E9-0BE308D41D7B}"/>
                    </a:ext>
                  </a:extLst>
                </p:cNvPr>
                <p:cNvSpPr/>
                <p:nvPr/>
              </p:nvSpPr>
              <p:spPr>
                <a:xfrm>
                  <a:off x="7467643" y="2375939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01B397A9-07A5-96E4-F72E-1EE38FF1D9FB}"/>
                    </a:ext>
                  </a:extLst>
                </p:cNvPr>
                <p:cNvSpPr/>
                <p:nvPr/>
              </p:nvSpPr>
              <p:spPr>
                <a:xfrm>
                  <a:off x="7158153" y="2395819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C8970DE2-1C56-F934-AC87-2230F4DCE0E7}"/>
                    </a:ext>
                  </a:extLst>
                </p:cNvPr>
                <p:cNvSpPr/>
                <p:nvPr/>
              </p:nvSpPr>
              <p:spPr>
                <a:xfrm>
                  <a:off x="7365955" y="2298912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8726E79C-F1B7-5FF2-5D9B-A0B71C0D811E}"/>
                    </a:ext>
                  </a:extLst>
                </p:cNvPr>
                <p:cNvSpPr/>
                <p:nvPr/>
              </p:nvSpPr>
              <p:spPr>
                <a:xfrm>
                  <a:off x="7282940" y="2381911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F11F2A43-59F7-1E64-BEC7-B72851C2535B}"/>
                    </a:ext>
                  </a:extLst>
                </p:cNvPr>
                <p:cNvSpPr/>
                <p:nvPr/>
              </p:nvSpPr>
              <p:spPr>
                <a:xfrm>
                  <a:off x="7236353" y="2234174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94D237E2-142D-1898-3E1E-E1786D8C6230}"/>
                    </a:ext>
                  </a:extLst>
                </p:cNvPr>
                <p:cNvSpPr/>
                <p:nvPr/>
              </p:nvSpPr>
              <p:spPr>
                <a:xfrm>
                  <a:off x="7287206" y="2555939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E8114496-C92F-D2DB-E903-1E7B538AA57A}"/>
                    </a:ext>
                  </a:extLst>
                </p:cNvPr>
                <p:cNvSpPr/>
                <p:nvPr/>
              </p:nvSpPr>
              <p:spPr>
                <a:xfrm>
                  <a:off x="7360163" y="2465939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</p:grp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31DE7386-9DD5-6293-138F-B93975A2BC83}"/>
                  </a:ext>
                </a:extLst>
              </p:cNvPr>
              <p:cNvSpPr/>
              <p:nvPr/>
            </p:nvSpPr>
            <p:spPr>
              <a:xfrm>
                <a:off x="6322202" y="1879113"/>
                <a:ext cx="1080000" cy="1080000"/>
              </a:xfrm>
              <a:prstGeom prst="ellipse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8" name="Oval 277">
                    <a:extLst>
                      <a:ext uri="{FF2B5EF4-FFF2-40B4-BE49-F238E27FC236}">
                        <a16:creationId xmlns:a16="http://schemas.microsoft.com/office/drawing/2014/main" id="{2D6A3668-5E07-E1BD-D089-386FB4C1DB42}"/>
                      </a:ext>
                    </a:extLst>
                  </p:cNvPr>
                  <p:cNvSpPr/>
                  <p:nvPr/>
                </p:nvSpPr>
                <p:spPr>
                  <a:xfrm>
                    <a:off x="8184029" y="1770938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7519D68A-D7A2-06F5-18E9-8C94E765BE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84029" y="1770938"/>
                    <a:ext cx="180000" cy="180000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 l="-13793" t="-3448" r="-20690" b="-137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9" name="Oval 278">
                    <a:extLst>
                      <a:ext uri="{FF2B5EF4-FFF2-40B4-BE49-F238E27FC236}">
                        <a16:creationId xmlns:a16="http://schemas.microsoft.com/office/drawing/2014/main" id="{88D00655-696E-9D3D-D1F2-6FA563CD7FC5}"/>
                      </a:ext>
                    </a:extLst>
                  </p:cNvPr>
                  <p:cNvSpPr/>
                  <p:nvPr/>
                </p:nvSpPr>
                <p:spPr>
                  <a:xfrm>
                    <a:off x="6781133" y="2871679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F4505B10-F065-302C-7D77-43022277C48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81133" y="2871679"/>
                    <a:ext cx="180000" cy="180000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 l="-13793" r="-2069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0" name="Oval 279">
                    <a:extLst>
                      <a:ext uri="{FF2B5EF4-FFF2-40B4-BE49-F238E27FC236}">
                        <a16:creationId xmlns:a16="http://schemas.microsoft.com/office/drawing/2014/main" id="{566D89DD-F702-12B7-86FD-27837B71BA69}"/>
                      </a:ext>
                    </a:extLst>
                  </p:cNvPr>
                  <p:cNvSpPr/>
                  <p:nvPr/>
                </p:nvSpPr>
                <p:spPr>
                  <a:xfrm>
                    <a:off x="7309030" y="2321581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6AF03325-F257-FEA9-8F82-B4070140A24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09030" y="2321581"/>
                    <a:ext cx="180000" cy="180000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 l="-10000" r="-2000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1" name="Oval 280">
                    <a:extLst>
                      <a:ext uri="{FF2B5EF4-FFF2-40B4-BE49-F238E27FC236}">
                        <a16:creationId xmlns:a16="http://schemas.microsoft.com/office/drawing/2014/main" id="{0AB3296E-3DCC-423D-45C1-B435B822E4A3}"/>
                      </a:ext>
                    </a:extLst>
                  </p:cNvPr>
                  <p:cNvSpPr/>
                  <p:nvPr/>
                </p:nvSpPr>
                <p:spPr>
                  <a:xfrm>
                    <a:off x="6227687" y="2321581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73170349-5A23-918A-5FCE-819DE0CC6F8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27687" y="2321581"/>
                    <a:ext cx="180000" cy="180000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 l="-13793" r="-2069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2" name="Oval 281">
                    <a:extLst>
                      <a:ext uri="{FF2B5EF4-FFF2-40B4-BE49-F238E27FC236}">
                        <a16:creationId xmlns:a16="http://schemas.microsoft.com/office/drawing/2014/main" id="{C43BC528-4F90-D5F6-71A6-0D963AD25675}"/>
                      </a:ext>
                    </a:extLst>
                  </p:cNvPr>
                  <p:cNvSpPr/>
                  <p:nvPr/>
                </p:nvSpPr>
                <p:spPr>
                  <a:xfrm>
                    <a:off x="6930396" y="2649662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3AA47653-F343-7390-4FDF-961342A5B78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0396" y="2649662"/>
                    <a:ext cx="180000" cy="180000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 l="-13333" t="-3333" r="-16667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3" name="Oval 282">
                    <a:extLst>
                      <a:ext uri="{FF2B5EF4-FFF2-40B4-BE49-F238E27FC236}">
                        <a16:creationId xmlns:a16="http://schemas.microsoft.com/office/drawing/2014/main" id="{B8061AAB-A332-3D01-2689-411631771E64}"/>
                      </a:ext>
                    </a:extLst>
                  </p:cNvPr>
                  <p:cNvSpPr/>
                  <p:nvPr/>
                </p:nvSpPr>
                <p:spPr>
                  <a:xfrm>
                    <a:off x="6629102" y="2016969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0BF8A6C9-128A-14FB-4554-B2CAB08168C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29102" y="2016969"/>
                    <a:ext cx="180000" cy="180000"/>
                  </a:xfrm>
                  <a:prstGeom prst="ellipse">
                    <a:avLst/>
                  </a:prstGeom>
                  <a:blipFill>
                    <a:blip r:embed="rId11"/>
                    <a:stretch>
                      <a:fillRect l="-13793" r="-2069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4" name="Oval 283">
                    <a:extLst>
                      <a:ext uri="{FF2B5EF4-FFF2-40B4-BE49-F238E27FC236}">
                        <a16:creationId xmlns:a16="http://schemas.microsoft.com/office/drawing/2014/main" id="{46AC9420-F97E-BC21-D8A3-B542682304B1}"/>
                      </a:ext>
                    </a:extLst>
                  </p:cNvPr>
                  <p:cNvSpPr/>
                  <p:nvPr/>
                </p:nvSpPr>
                <p:spPr>
                  <a:xfrm>
                    <a:off x="6388703" y="2703313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4AEB1CD1-5F89-6334-45FB-A286ADE9894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8703" y="2703313"/>
                    <a:ext cx="180000" cy="180000"/>
                  </a:xfrm>
                  <a:prstGeom prst="ellipse">
                    <a:avLst/>
                  </a:prstGeom>
                  <a:blipFill>
                    <a:blip r:embed="rId12"/>
                    <a:stretch>
                      <a:fillRect l="-10000" t="-3448" r="-20000" b="-137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5" name="Oval 284">
                    <a:extLst>
                      <a:ext uri="{FF2B5EF4-FFF2-40B4-BE49-F238E27FC236}">
                        <a16:creationId xmlns:a16="http://schemas.microsoft.com/office/drawing/2014/main" id="{8CD0270E-D325-2AD3-4E8D-CFB72F293FD4}"/>
                      </a:ext>
                    </a:extLst>
                  </p:cNvPr>
                  <p:cNvSpPr/>
                  <p:nvPr/>
                </p:nvSpPr>
                <p:spPr>
                  <a:xfrm>
                    <a:off x="7165098" y="1947034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78BB8866-0EBB-2E0E-B18E-0B231E2D5BC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098" y="1947034"/>
                    <a:ext cx="180000" cy="180000"/>
                  </a:xfrm>
                  <a:prstGeom prst="ellipse">
                    <a:avLst/>
                  </a:prstGeom>
                  <a:blipFill>
                    <a:blip r:embed="rId13"/>
                    <a:stretch>
                      <a:fillRect l="-13793" t="-3448" r="-20690" b="-137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6" name="Oval 285">
                    <a:extLst>
                      <a:ext uri="{FF2B5EF4-FFF2-40B4-BE49-F238E27FC236}">
                        <a16:creationId xmlns:a16="http://schemas.microsoft.com/office/drawing/2014/main" id="{3DC34360-A8BA-B631-F5B5-61F31D72FBE9}"/>
                      </a:ext>
                    </a:extLst>
                  </p:cNvPr>
                  <p:cNvSpPr/>
                  <p:nvPr/>
                </p:nvSpPr>
                <p:spPr>
                  <a:xfrm>
                    <a:off x="7165098" y="2698615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8EB2E1F7-4C09-8447-7E9F-6B70DC9675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098" y="2698615"/>
                    <a:ext cx="180000" cy="180000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 l="-13793" t="-3333" r="-2069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7" name="Oval 286">
                    <a:extLst>
                      <a:ext uri="{FF2B5EF4-FFF2-40B4-BE49-F238E27FC236}">
                        <a16:creationId xmlns:a16="http://schemas.microsoft.com/office/drawing/2014/main" id="{9003F2A8-BF00-6B6E-666F-707AF8855528}"/>
                      </a:ext>
                    </a:extLst>
                  </p:cNvPr>
                  <p:cNvSpPr/>
                  <p:nvPr/>
                </p:nvSpPr>
                <p:spPr>
                  <a:xfrm>
                    <a:off x="6392455" y="1947034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D8241B74-AF72-84A8-82DA-4356088F7B0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2455" y="1947034"/>
                    <a:ext cx="180000" cy="180000"/>
                  </a:xfrm>
                  <a:prstGeom prst="ellipse">
                    <a:avLst/>
                  </a:prstGeom>
                  <a:blipFill>
                    <a:blip r:embed="rId15"/>
                    <a:stretch>
                      <a:fillRect l="-13793" t="-3448" r="-20690" b="-137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19A982D1-8973-13EC-59F2-2CDD5C50C1D6}"/>
                  </a:ext>
                </a:extLst>
              </p:cNvPr>
              <p:cNvCxnSpPr>
                <a:cxnSpLocks/>
                <a:stCxn id="277" idx="0"/>
              </p:cNvCxnSpPr>
              <p:nvPr/>
            </p:nvCxnSpPr>
            <p:spPr>
              <a:xfrm flipV="1">
                <a:off x="6862202" y="1876736"/>
                <a:ext cx="1323829" cy="2377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89" name="Graphic 288" descr="Collision with solid fill">
                <a:extLst>
                  <a:ext uri="{FF2B5EF4-FFF2-40B4-BE49-F238E27FC236}">
                    <a16:creationId xmlns:a16="http://schemas.microsoft.com/office/drawing/2014/main" id="{BE2A50F6-80CA-9D5A-179E-7B1CFE0C45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6639966" y="1699112"/>
                <a:ext cx="360000" cy="360000"/>
              </a:xfrm>
              <a:prstGeom prst="rect">
                <a:avLst/>
              </a:prstGeom>
            </p:spPr>
          </p:pic>
        </p:grp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9B7929BF-0F95-9463-DEA8-459881F37818}"/>
                </a:ext>
              </a:extLst>
            </p:cNvPr>
            <p:cNvGrpSpPr/>
            <p:nvPr/>
          </p:nvGrpSpPr>
          <p:grpSpPr>
            <a:xfrm>
              <a:off x="5840601" y="2026779"/>
              <a:ext cx="2135919" cy="1344268"/>
              <a:chOff x="4839691" y="2390691"/>
              <a:chExt cx="2135919" cy="1344268"/>
            </a:xfrm>
          </p:grpSpPr>
          <p:sp>
            <p:nvSpPr>
              <p:cNvPr id="309" name="Oval 308">
                <a:extLst>
                  <a:ext uri="{FF2B5EF4-FFF2-40B4-BE49-F238E27FC236}">
                    <a16:creationId xmlns:a16="http://schemas.microsoft.com/office/drawing/2014/main" id="{4C7F6428-47CF-2077-DA0D-7EB915BC4258}"/>
                  </a:ext>
                </a:extLst>
              </p:cNvPr>
              <p:cNvSpPr/>
              <p:nvPr/>
            </p:nvSpPr>
            <p:spPr>
              <a:xfrm>
                <a:off x="5114550" y="2666671"/>
                <a:ext cx="720000" cy="720000"/>
              </a:xfrm>
              <a:prstGeom prst="ellipse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  <p:grpSp>
            <p:nvGrpSpPr>
              <p:cNvPr id="310" name="Group 309">
                <a:extLst>
                  <a:ext uri="{FF2B5EF4-FFF2-40B4-BE49-F238E27FC236}">
                    <a16:creationId xmlns:a16="http://schemas.microsoft.com/office/drawing/2014/main" id="{74774303-24C2-14D5-1EAA-F43FE3331CA6}"/>
                  </a:ext>
                </a:extLst>
              </p:cNvPr>
              <p:cNvGrpSpPr/>
              <p:nvPr/>
            </p:nvGrpSpPr>
            <p:grpSpPr>
              <a:xfrm flipH="1">
                <a:off x="5290039" y="2836853"/>
                <a:ext cx="360000" cy="360000"/>
                <a:chOff x="7153338" y="2179362"/>
                <a:chExt cx="574122" cy="568110"/>
              </a:xfrm>
            </p:grpSpPr>
            <p:sp>
              <p:nvSpPr>
                <p:cNvPr id="324" name="Oval 323">
                  <a:extLst>
                    <a:ext uri="{FF2B5EF4-FFF2-40B4-BE49-F238E27FC236}">
                      <a16:creationId xmlns:a16="http://schemas.microsoft.com/office/drawing/2014/main" id="{8FB6DCFD-FE59-A579-38E1-0200DCA64641}"/>
                    </a:ext>
                  </a:extLst>
                </p:cNvPr>
                <p:cNvSpPr/>
                <p:nvPr/>
              </p:nvSpPr>
              <p:spPr>
                <a:xfrm>
                  <a:off x="7435340" y="2534311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600"/>
                </a:p>
              </p:txBody>
            </p:sp>
            <p:sp>
              <p:nvSpPr>
                <p:cNvPr id="325" name="Oval 324">
                  <a:extLst>
                    <a:ext uri="{FF2B5EF4-FFF2-40B4-BE49-F238E27FC236}">
                      <a16:creationId xmlns:a16="http://schemas.microsoft.com/office/drawing/2014/main" id="{24898D14-BAAB-E17D-0CB6-FE905F63431A}"/>
                    </a:ext>
                  </a:extLst>
                </p:cNvPr>
                <p:cNvSpPr/>
                <p:nvPr/>
              </p:nvSpPr>
              <p:spPr>
                <a:xfrm>
                  <a:off x="7547460" y="2337249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B4EEEBBF-75F2-33A6-6032-1C2D1A932907}"/>
                    </a:ext>
                  </a:extLst>
                </p:cNvPr>
                <p:cNvSpPr/>
                <p:nvPr/>
              </p:nvSpPr>
              <p:spPr>
                <a:xfrm>
                  <a:off x="7522840" y="2474037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FC167CD3-C5BA-E9C5-8E24-0B758BBAE9BE}"/>
                    </a:ext>
                  </a:extLst>
                </p:cNvPr>
                <p:cNvSpPr/>
                <p:nvPr/>
              </p:nvSpPr>
              <p:spPr>
                <a:xfrm>
                  <a:off x="7384628" y="2189073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D13162C9-EC90-6AD5-C5EE-5BBAA23A0D73}"/>
                    </a:ext>
                  </a:extLst>
                </p:cNvPr>
                <p:cNvSpPr/>
                <p:nvPr/>
              </p:nvSpPr>
              <p:spPr>
                <a:xfrm>
                  <a:off x="7398680" y="2411637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600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A0221033-8D0A-3012-88E1-B47855D6A919}"/>
                    </a:ext>
                  </a:extLst>
                </p:cNvPr>
                <p:cNvSpPr/>
                <p:nvPr/>
              </p:nvSpPr>
              <p:spPr>
                <a:xfrm>
                  <a:off x="7326585" y="2179362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A04D5ED6-2D6A-54B3-2005-E5443163FF72}"/>
                    </a:ext>
                  </a:extLst>
                </p:cNvPr>
                <p:cNvSpPr/>
                <p:nvPr/>
              </p:nvSpPr>
              <p:spPr>
                <a:xfrm>
                  <a:off x="7483554" y="2230540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42E19066-E866-DC95-8B89-0323783D5FBA}"/>
                    </a:ext>
                  </a:extLst>
                </p:cNvPr>
                <p:cNvSpPr/>
                <p:nvPr/>
              </p:nvSpPr>
              <p:spPr>
                <a:xfrm>
                  <a:off x="7393568" y="2567472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D2DB334A-8287-0605-7E93-171C843E9E61}"/>
                    </a:ext>
                  </a:extLst>
                </p:cNvPr>
                <p:cNvSpPr/>
                <p:nvPr/>
              </p:nvSpPr>
              <p:spPr>
                <a:xfrm>
                  <a:off x="7538751" y="2364053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3EABF476-39C9-D252-F74B-30930CD528B7}"/>
                    </a:ext>
                  </a:extLst>
                </p:cNvPr>
                <p:cNvSpPr/>
                <p:nvPr/>
              </p:nvSpPr>
              <p:spPr>
                <a:xfrm>
                  <a:off x="7195820" y="2497209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232F8AAD-5DD4-836A-B0A4-E566180B970E}"/>
                    </a:ext>
                  </a:extLst>
                </p:cNvPr>
                <p:cNvSpPr/>
                <p:nvPr/>
              </p:nvSpPr>
              <p:spPr>
                <a:xfrm>
                  <a:off x="7153338" y="2280344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C5CE23EB-D925-DC79-F420-1ED1805A6470}"/>
                    </a:ext>
                  </a:extLst>
                </p:cNvPr>
                <p:cNvSpPr/>
                <p:nvPr/>
              </p:nvSpPr>
              <p:spPr>
                <a:xfrm>
                  <a:off x="7467643" y="2375939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94B73DC4-B511-268A-98A0-B416C49BFC79}"/>
                    </a:ext>
                  </a:extLst>
                </p:cNvPr>
                <p:cNvSpPr/>
                <p:nvPr/>
              </p:nvSpPr>
              <p:spPr>
                <a:xfrm>
                  <a:off x="7158153" y="2395819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950AB1C0-DA0E-942E-3271-6B97D43956AD}"/>
                    </a:ext>
                  </a:extLst>
                </p:cNvPr>
                <p:cNvSpPr/>
                <p:nvPr/>
              </p:nvSpPr>
              <p:spPr>
                <a:xfrm>
                  <a:off x="7365955" y="2298912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47720F0A-4F68-76F0-4E25-D5EFABABCA83}"/>
                    </a:ext>
                  </a:extLst>
                </p:cNvPr>
                <p:cNvSpPr/>
                <p:nvPr/>
              </p:nvSpPr>
              <p:spPr>
                <a:xfrm>
                  <a:off x="7282940" y="2381911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C64BF142-117D-CD7E-D6D0-CDE0E220EBEB}"/>
                    </a:ext>
                  </a:extLst>
                </p:cNvPr>
                <p:cNvSpPr/>
                <p:nvPr/>
              </p:nvSpPr>
              <p:spPr>
                <a:xfrm>
                  <a:off x="7236353" y="2234174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BCA23FC3-BD53-EB7F-EFD0-9F3672DEF83B}"/>
                    </a:ext>
                  </a:extLst>
                </p:cNvPr>
                <p:cNvSpPr/>
                <p:nvPr/>
              </p:nvSpPr>
              <p:spPr>
                <a:xfrm>
                  <a:off x="7287206" y="2555939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648E6D21-FFB6-3C92-CC1E-B54C23336904}"/>
                    </a:ext>
                  </a:extLst>
                </p:cNvPr>
                <p:cNvSpPr/>
                <p:nvPr/>
              </p:nvSpPr>
              <p:spPr>
                <a:xfrm>
                  <a:off x="7360163" y="2465939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</p:grpSp>
          <p:sp>
            <p:nvSpPr>
              <p:cNvPr id="311" name="Oval 310">
                <a:extLst>
                  <a:ext uri="{FF2B5EF4-FFF2-40B4-BE49-F238E27FC236}">
                    <a16:creationId xmlns:a16="http://schemas.microsoft.com/office/drawing/2014/main" id="{477AEBFC-8A63-8C67-EB10-F042FE851EC1}"/>
                  </a:ext>
                </a:extLst>
              </p:cNvPr>
              <p:cNvSpPr/>
              <p:nvPr/>
            </p:nvSpPr>
            <p:spPr>
              <a:xfrm>
                <a:off x="4933211" y="2478451"/>
                <a:ext cx="1080000" cy="1080000"/>
              </a:xfrm>
              <a:prstGeom prst="ellipse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2" name="Oval 311">
                    <a:extLst>
                      <a:ext uri="{FF2B5EF4-FFF2-40B4-BE49-F238E27FC236}">
                        <a16:creationId xmlns:a16="http://schemas.microsoft.com/office/drawing/2014/main" id="{14E1ACAA-E675-7D9A-3199-DE30C19D880B}"/>
                      </a:ext>
                    </a:extLst>
                  </p:cNvPr>
                  <p:cNvSpPr/>
                  <p:nvPr/>
                </p:nvSpPr>
                <p:spPr>
                  <a:xfrm>
                    <a:off x="6795610" y="3128692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94" name="Oval 93">
                    <a:extLst>
                      <a:ext uri="{FF2B5EF4-FFF2-40B4-BE49-F238E27FC236}">
                        <a16:creationId xmlns:a16="http://schemas.microsoft.com/office/drawing/2014/main" id="{EED382F9-4316-CE72-4B96-554DA60741E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5610" y="3128692"/>
                    <a:ext cx="180000" cy="180000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 l="-13793" t="-3448" r="-20690" b="-137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3" name="Oval 312">
                    <a:extLst>
                      <a:ext uri="{FF2B5EF4-FFF2-40B4-BE49-F238E27FC236}">
                        <a16:creationId xmlns:a16="http://schemas.microsoft.com/office/drawing/2014/main" id="{19DDCAD8-C299-58E5-847F-4EF3AA06D8D4}"/>
                      </a:ext>
                    </a:extLst>
                  </p:cNvPr>
                  <p:cNvSpPr/>
                  <p:nvPr/>
                </p:nvSpPr>
                <p:spPr>
                  <a:xfrm>
                    <a:off x="4839691" y="2934134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1125D6D2-C507-B262-1CCB-E3C6F75BA60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9691" y="2934134"/>
                    <a:ext cx="180000" cy="180000"/>
                  </a:xfrm>
                  <a:prstGeom prst="ellipse">
                    <a:avLst/>
                  </a:prstGeom>
                  <a:blipFill>
                    <a:blip r:embed="rId18"/>
                    <a:stretch>
                      <a:fillRect l="-13793" t="-3448" r="-20690" b="-137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4" name="Oval 313">
                    <a:extLst>
                      <a:ext uri="{FF2B5EF4-FFF2-40B4-BE49-F238E27FC236}">
                        <a16:creationId xmlns:a16="http://schemas.microsoft.com/office/drawing/2014/main" id="{E42BA7ED-528A-4B3B-4397-CA3F91371DB2}"/>
                      </a:ext>
                    </a:extLst>
                  </p:cNvPr>
                  <p:cNvSpPr/>
                  <p:nvPr/>
                </p:nvSpPr>
                <p:spPr>
                  <a:xfrm>
                    <a:off x="5933907" y="2964548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96" name="Oval 95">
                    <a:extLst>
                      <a:ext uri="{FF2B5EF4-FFF2-40B4-BE49-F238E27FC236}">
                        <a16:creationId xmlns:a16="http://schemas.microsoft.com/office/drawing/2014/main" id="{68C96DA9-2CB6-FBE6-76E9-00D469577CA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33907" y="2964548"/>
                    <a:ext cx="180000" cy="180000"/>
                  </a:xfrm>
                  <a:prstGeom prst="ellipse">
                    <a:avLst/>
                  </a:prstGeom>
                  <a:blipFill>
                    <a:blip r:embed="rId19"/>
                    <a:stretch>
                      <a:fillRect l="-10000" t="-3448" r="-20000" b="-137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5" name="Oval 314">
                    <a:extLst>
                      <a:ext uri="{FF2B5EF4-FFF2-40B4-BE49-F238E27FC236}">
                        <a16:creationId xmlns:a16="http://schemas.microsoft.com/office/drawing/2014/main" id="{9896264F-D1EF-F210-4551-5D4F3B23DBC7}"/>
                      </a:ext>
                    </a:extLst>
                  </p:cNvPr>
                  <p:cNvSpPr/>
                  <p:nvPr/>
                </p:nvSpPr>
                <p:spPr>
                  <a:xfrm>
                    <a:off x="5541405" y="3249000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98" name="Oval 97">
                    <a:extLst>
                      <a:ext uri="{FF2B5EF4-FFF2-40B4-BE49-F238E27FC236}">
                        <a16:creationId xmlns:a16="http://schemas.microsoft.com/office/drawing/2014/main" id="{3933BEB5-5DCF-6917-E5DE-48F086C7505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41405" y="3249000"/>
                    <a:ext cx="180000" cy="180000"/>
                  </a:xfrm>
                  <a:prstGeom prst="ellipse">
                    <a:avLst/>
                  </a:prstGeom>
                  <a:blipFill>
                    <a:blip r:embed="rId20"/>
                    <a:stretch>
                      <a:fillRect l="-13333" r="-16667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6" name="Oval 315">
                    <a:extLst>
                      <a:ext uri="{FF2B5EF4-FFF2-40B4-BE49-F238E27FC236}">
                        <a16:creationId xmlns:a16="http://schemas.microsoft.com/office/drawing/2014/main" id="{E8E0B730-097C-DDB5-4351-2AAD97399072}"/>
                      </a:ext>
                    </a:extLst>
                  </p:cNvPr>
                  <p:cNvSpPr/>
                  <p:nvPr/>
                </p:nvSpPr>
                <p:spPr>
                  <a:xfrm>
                    <a:off x="5240111" y="2616307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34" name="Oval 133">
                    <a:extLst>
                      <a:ext uri="{FF2B5EF4-FFF2-40B4-BE49-F238E27FC236}">
                        <a16:creationId xmlns:a16="http://schemas.microsoft.com/office/drawing/2014/main" id="{97EC3A9F-9ECE-D7ED-6F75-A01192CD979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40111" y="2616307"/>
                    <a:ext cx="180000" cy="180000"/>
                  </a:xfrm>
                  <a:prstGeom prst="ellipse">
                    <a:avLst/>
                  </a:prstGeom>
                  <a:blipFill>
                    <a:blip r:embed="rId21"/>
                    <a:stretch>
                      <a:fillRect l="-13793" r="-2069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7" name="Oval 316">
                    <a:extLst>
                      <a:ext uri="{FF2B5EF4-FFF2-40B4-BE49-F238E27FC236}">
                        <a16:creationId xmlns:a16="http://schemas.microsoft.com/office/drawing/2014/main" id="{01CADBFA-A630-1FC5-623B-7D89DA2D100F}"/>
                      </a:ext>
                    </a:extLst>
                  </p:cNvPr>
                  <p:cNvSpPr/>
                  <p:nvPr/>
                </p:nvSpPr>
                <p:spPr>
                  <a:xfrm>
                    <a:off x="4999712" y="3302651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B24CC53B-4146-527E-0D8B-AB0A3116D47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99712" y="3302651"/>
                    <a:ext cx="180000" cy="180000"/>
                  </a:xfrm>
                  <a:prstGeom prst="ellipse">
                    <a:avLst/>
                  </a:prstGeom>
                  <a:blipFill>
                    <a:blip r:embed="rId22"/>
                    <a:stretch>
                      <a:fillRect l="-10000" t="-3333" r="-2000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8" name="Oval 317">
                    <a:extLst>
                      <a:ext uri="{FF2B5EF4-FFF2-40B4-BE49-F238E27FC236}">
                        <a16:creationId xmlns:a16="http://schemas.microsoft.com/office/drawing/2014/main" id="{DADB8E5A-4A82-7BBB-E3B3-D093FC4A95F1}"/>
                      </a:ext>
                    </a:extLst>
                  </p:cNvPr>
                  <p:cNvSpPr/>
                  <p:nvPr/>
                </p:nvSpPr>
                <p:spPr>
                  <a:xfrm>
                    <a:off x="5776107" y="2546372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693466DB-EF65-1F71-3323-438545C56F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6107" y="2546372"/>
                    <a:ext cx="180000" cy="180000"/>
                  </a:xfrm>
                  <a:prstGeom prst="ellipse">
                    <a:avLst/>
                  </a:prstGeom>
                  <a:blipFill>
                    <a:blip r:embed="rId23"/>
                    <a:stretch>
                      <a:fillRect l="-13793" t="-3333" r="-2069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9" name="Oval 318">
                    <a:extLst>
                      <a:ext uri="{FF2B5EF4-FFF2-40B4-BE49-F238E27FC236}">
                        <a16:creationId xmlns:a16="http://schemas.microsoft.com/office/drawing/2014/main" id="{4090D519-943B-E4D3-5596-92EE600D0615}"/>
                      </a:ext>
                    </a:extLst>
                  </p:cNvPr>
                  <p:cNvSpPr/>
                  <p:nvPr/>
                </p:nvSpPr>
                <p:spPr>
                  <a:xfrm>
                    <a:off x="5776107" y="3297953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4AEA6893-D954-AFB9-2C0A-DBF73B86E78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6107" y="3297953"/>
                    <a:ext cx="180000" cy="180000"/>
                  </a:xfrm>
                  <a:prstGeom prst="ellipse">
                    <a:avLst/>
                  </a:prstGeom>
                  <a:blipFill>
                    <a:blip r:embed="rId24"/>
                    <a:stretch>
                      <a:fillRect l="-13793" r="-2069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0" name="Oval 319">
                    <a:extLst>
                      <a:ext uri="{FF2B5EF4-FFF2-40B4-BE49-F238E27FC236}">
                        <a16:creationId xmlns:a16="http://schemas.microsoft.com/office/drawing/2014/main" id="{9E4F65A4-87BD-A612-23E6-476D4D560165}"/>
                      </a:ext>
                    </a:extLst>
                  </p:cNvPr>
                  <p:cNvSpPr/>
                  <p:nvPr/>
                </p:nvSpPr>
                <p:spPr>
                  <a:xfrm>
                    <a:off x="5003464" y="2546372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39" name="Oval 138">
                    <a:extLst>
                      <a:ext uri="{FF2B5EF4-FFF2-40B4-BE49-F238E27FC236}">
                        <a16:creationId xmlns:a16="http://schemas.microsoft.com/office/drawing/2014/main" id="{50B6FA69-83A7-A306-5B47-DB4689E76F5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03464" y="2546372"/>
                    <a:ext cx="180000" cy="180000"/>
                  </a:xfrm>
                  <a:prstGeom prst="ellipse">
                    <a:avLst/>
                  </a:prstGeom>
                  <a:blipFill>
                    <a:blip r:embed="rId25"/>
                    <a:stretch>
                      <a:fillRect l="-13793" t="-3333" r="-2069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1" name="Straight Arrow Connector 320">
                <a:extLst>
                  <a:ext uri="{FF2B5EF4-FFF2-40B4-BE49-F238E27FC236}">
                    <a16:creationId xmlns:a16="http://schemas.microsoft.com/office/drawing/2014/main" id="{96A1238E-8360-C8A6-6E2B-F0931287ED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40352" y="3229685"/>
                <a:ext cx="1173876" cy="333015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22" name="Graphic 321" descr="Collision with solid fill">
                <a:extLst>
                  <a:ext uri="{FF2B5EF4-FFF2-40B4-BE49-F238E27FC236}">
                    <a16:creationId xmlns:a16="http://schemas.microsoft.com/office/drawing/2014/main" id="{1034F61B-05B5-16E2-CCAF-943F01A76A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5284032" y="3374959"/>
                <a:ext cx="360000" cy="3600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3" name="Oval 322">
                    <a:extLst>
                      <a:ext uri="{FF2B5EF4-FFF2-40B4-BE49-F238E27FC236}">
                        <a16:creationId xmlns:a16="http://schemas.microsoft.com/office/drawing/2014/main" id="{DC93BDED-17CC-65EE-E052-035351647A3A}"/>
                      </a:ext>
                    </a:extLst>
                  </p:cNvPr>
                  <p:cNvSpPr/>
                  <p:nvPr/>
                </p:nvSpPr>
                <p:spPr>
                  <a:xfrm>
                    <a:off x="5382893" y="2390691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63" name="Oval 162">
                    <a:extLst>
                      <a:ext uri="{FF2B5EF4-FFF2-40B4-BE49-F238E27FC236}">
                        <a16:creationId xmlns:a16="http://schemas.microsoft.com/office/drawing/2014/main" id="{FB4C9EA5-3555-E252-D505-95E48796214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2893" y="2390691"/>
                    <a:ext cx="180000" cy="180000"/>
                  </a:xfrm>
                  <a:prstGeom prst="ellipse">
                    <a:avLst/>
                  </a:prstGeom>
                  <a:blipFill>
                    <a:blip r:embed="rId26"/>
                    <a:stretch>
                      <a:fillRect l="-13333" r="-16667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42" name="Graphic 59">
              <a:extLst>
                <a:ext uri="{FF2B5EF4-FFF2-40B4-BE49-F238E27FC236}">
                  <a16:creationId xmlns:a16="http://schemas.microsoft.com/office/drawing/2014/main" id="{7CF43905-7D72-F220-B9FC-B1551E52E770}"/>
                </a:ext>
              </a:extLst>
            </p:cNvPr>
            <p:cNvSpPr/>
            <p:nvPr/>
          </p:nvSpPr>
          <p:spPr>
            <a:xfrm rot="12782242" flipH="1">
              <a:off x="6550813" y="3525861"/>
              <a:ext cx="938939" cy="216030"/>
            </a:xfrm>
            <a:custGeom>
              <a:avLst/>
              <a:gdLst>
                <a:gd name="csX0" fmla="*/ -39 w 938939"/>
                <a:gd name="csY0" fmla="*/ 216511 h 216030"/>
                <a:gd name="csX1" fmla="*/ 169053 w 938939"/>
                <a:gd name="csY1" fmla="*/ 510 h 216030"/>
                <a:gd name="csX2" fmla="*/ 335340 w 938939"/>
                <a:gd name="csY2" fmla="*/ 216511 h 216030"/>
                <a:gd name="csX3" fmla="*/ 501627 w 938939"/>
                <a:gd name="csY3" fmla="*/ 510 h 216030"/>
                <a:gd name="csX4" fmla="*/ 667908 w 938939"/>
                <a:gd name="csY4" fmla="*/ 216511 h 216030"/>
                <a:gd name="csX5" fmla="*/ 803937 w 938939"/>
                <a:gd name="csY5" fmla="*/ 108523 h 216030"/>
                <a:gd name="csX6" fmla="*/ 938900 w 938939"/>
                <a:gd name="csY6" fmla="*/ 108523 h 2160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38939" h="216030">
                  <a:moveTo>
                    <a:pt x="-39" y="216511"/>
                  </a:moveTo>
                  <a:cubicBezTo>
                    <a:pt x="93632" y="216511"/>
                    <a:pt x="78189" y="510"/>
                    <a:pt x="169053" y="510"/>
                  </a:cubicBezTo>
                  <a:cubicBezTo>
                    <a:pt x="259917" y="510"/>
                    <a:pt x="244476" y="216511"/>
                    <a:pt x="335340" y="216511"/>
                  </a:cubicBezTo>
                  <a:cubicBezTo>
                    <a:pt x="426204" y="216511"/>
                    <a:pt x="410763" y="510"/>
                    <a:pt x="501627" y="510"/>
                  </a:cubicBezTo>
                  <a:cubicBezTo>
                    <a:pt x="592492" y="510"/>
                    <a:pt x="577072" y="214416"/>
                    <a:pt x="667908" y="216511"/>
                  </a:cubicBezTo>
                  <a:cubicBezTo>
                    <a:pt x="759525" y="218619"/>
                    <a:pt x="720016" y="108523"/>
                    <a:pt x="803937" y="108523"/>
                  </a:cubicBezTo>
                  <a:lnTo>
                    <a:pt x="938900" y="108523"/>
                  </a:lnTo>
                </a:path>
              </a:pathLst>
            </a:custGeom>
            <a:noFill/>
            <a:ln w="38100" cap="flat">
              <a:solidFill>
                <a:srgbClr val="FFC000"/>
              </a:solidFill>
              <a:prstDash val="solid"/>
              <a:round/>
              <a:headEnd type="none" w="med" len="med"/>
              <a:tailEnd type="triangle" w="lg" len="med"/>
            </a:ln>
          </p:spPr>
          <p:txBody>
            <a:bodyPr/>
            <a:lstStyle/>
            <a:p>
              <a:endParaRPr lang="en-ZA"/>
            </a:p>
          </p:txBody>
        </p: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B4DACCFB-CE36-FC7F-9D57-F73194CB38A4}"/>
                </a:ext>
              </a:extLst>
            </p:cNvPr>
            <p:cNvGrpSpPr/>
            <p:nvPr/>
          </p:nvGrpSpPr>
          <p:grpSpPr>
            <a:xfrm>
              <a:off x="4382239" y="3435359"/>
              <a:ext cx="2172247" cy="1666622"/>
              <a:chOff x="4356274" y="1984395"/>
              <a:chExt cx="2172247" cy="1666622"/>
            </a:xfrm>
          </p:grpSpPr>
          <p:sp>
            <p:nvSpPr>
              <p:cNvPr id="344" name="Oval 343">
                <a:extLst>
                  <a:ext uri="{FF2B5EF4-FFF2-40B4-BE49-F238E27FC236}">
                    <a16:creationId xmlns:a16="http://schemas.microsoft.com/office/drawing/2014/main" id="{BC96F698-09B0-4490-98AE-B84472E3406C}"/>
                  </a:ext>
                </a:extLst>
              </p:cNvPr>
              <p:cNvSpPr/>
              <p:nvPr/>
            </p:nvSpPr>
            <p:spPr>
              <a:xfrm>
                <a:off x="5114550" y="2666671"/>
                <a:ext cx="720000" cy="720000"/>
              </a:xfrm>
              <a:prstGeom prst="ellipse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5461F425-CEA6-B46C-5023-D7A900FE2BAD}"/>
                  </a:ext>
                </a:extLst>
              </p:cNvPr>
              <p:cNvGrpSpPr/>
              <p:nvPr/>
            </p:nvGrpSpPr>
            <p:grpSpPr>
              <a:xfrm flipH="1">
                <a:off x="5290039" y="2836853"/>
                <a:ext cx="360000" cy="360000"/>
                <a:chOff x="7153338" y="2179362"/>
                <a:chExt cx="574122" cy="568110"/>
              </a:xfrm>
            </p:grpSpPr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41B11AFE-86D0-95C4-6236-5FA6FCB44B5A}"/>
                    </a:ext>
                  </a:extLst>
                </p:cNvPr>
                <p:cNvSpPr/>
                <p:nvPr/>
              </p:nvSpPr>
              <p:spPr>
                <a:xfrm>
                  <a:off x="7435340" y="2534311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600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0824781F-6FC3-F34C-CF08-96F8FFF2E2E9}"/>
                    </a:ext>
                  </a:extLst>
                </p:cNvPr>
                <p:cNvSpPr/>
                <p:nvPr/>
              </p:nvSpPr>
              <p:spPr>
                <a:xfrm>
                  <a:off x="7547460" y="2337249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3D81CCE3-D4B9-F214-5509-2F3CB7CAF5AB}"/>
                    </a:ext>
                  </a:extLst>
                </p:cNvPr>
                <p:cNvSpPr/>
                <p:nvPr/>
              </p:nvSpPr>
              <p:spPr>
                <a:xfrm>
                  <a:off x="7522840" y="2474037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CE92A6B0-FFD4-8609-DF5A-E984A06C9D19}"/>
                    </a:ext>
                  </a:extLst>
                </p:cNvPr>
                <p:cNvSpPr/>
                <p:nvPr/>
              </p:nvSpPr>
              <p:spPr>
                <a:xfrm>
                  <a:off x="7384628" y="2189073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6317BEE0-608C-0BCE-9727-946DB59847BD}"/>
                    </a:ext>
                  </a:extLst>
                </p:cNvPr>
                <p:cNvSpPr/>
                <p:nvPr/>
              </p:nvSpPr>
              <p:spPr>
                <a:xfrm>
                  <a:off x="7398680" y="2411637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600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31866F72-C78B-C808-714A-5E987929A3D7}"/>
                    </a:ext>
                  </a:extLst>
                </p:cNvPr>
                <p:cNvSpPr/>
                <p:nvPr/>
              </p:nvSpPr>
              <p:spPr>
                <a:xfrm>
                  <a:off x="7326585" y="2179362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AC285209-198E-7BF5-234F-9AD9B3DA25A7}"/>
                    </a:ext>
                  </a:extLst>
                </p:cNvPr>
                <p:cNvSpPr/>
                <p:nvPr/>
              </p:nvSpPr>
              <p:spPr>
                <a:xfrm>
                  <a:off x="7483554" y="2230540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C8F2EC42-66E7-EBEA-A24D-61453607CA50}"/>
                    </a:ext>
                  </a:extLst>
                </p:cNvPr>
                <p:cNvSpPr/>
                <p:nvPr/>
              </p:nvSpPr>
              <p:spPr>
                <a:xfrm>
                  <a:off x="7393568" y="2567472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78697E80-F72C-516D-892B-0A9A2506D578}"/>
                    </a:ext>
                  </a:extLst>
                </p:cNvPr>
                <p:cNvSpPr/>
                <p:nvPr/>
              </p:nvSpPr>
              <p:spPr>
                <a:xfrm>
                  <a:off x="7538751" y="2364053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2EF23F2F-9695-7D57-C02C-7F22F5A0E88A}"/>
                    </a:ext>
                  </a:extLst>
                </p:cNvPr>
                <p:cNvSpPr/>
                <p:nvPr/>
              </p:nvSpPr>
              <p:spPr>
                <a:xfrm>
                  <a:off x="7195820" y="2497209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973878AD-8895-8717-BF75-8B41BFF3C787}"/>
                    </a:ext>
                  </a:extLst>
                </p:cNvPr>
                <p:cNvSpPr/>
                <p:nvPr/>
              </p:nvSpPr>
              <p:spPr>
                <a:xfrm>
                  <a:off x="7153338" y="2280344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B5582970-59B8-05B2-9FA2-DE7D98CD9563}"/>
                    </a:ext>
                  </a:extLst>
                </p:cNvPr>
                <p:cNvSpPr/>
                <p:nvPr/>
              </p:nvSpPr>
              <p:spPr>
                <a:xfrm>
                  <a:off x="7467643" y="2375939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EE563C2D-5CF9-E30A-DD29-66FCB6F5FE45}"/>
                    </a:ext>
                  </a:extLst>
                </p:cNvPr>
                <p:cNvSpPr/>
                <p:nvPr/>
              </p:nvSpPr>
              <p:spPr>
                <a:xfrm>
                  <a:off x="7158153" y="2395819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2DD555C1-8C67-C81E-9BD3-D436CCBF835C}"/>
                    </a:ext>
                  </a:extLst>
                </p:cNvPr>
                <p:cNvSpPr/>
                <p:nvPr/>
              </p:nvSpPr>
              <p:spPr>
                <a:xfrm>
                  <a:off x="7365955" y="2298912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A483055C-0E8D-1C7C-BA18-2D6E04027BFF}"/>
                    </a:ext>
                  </a:extLst>
                </p:cNvPr>
                <p:cNvSpPr/>
                <p:nvPr/>
              </p:nvSpPr>
              <p:spPr>
                <a:xfrm>
                  <a:off x="7282940" y="2381911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6D2A582D-F189-529A-F5F7-788A0EA887B6}"/>
                    </a:ext>
                  </a:extLst>
                </p:cNvPr>
                <p:cNvSpPr/>
                <p:nvPr/>
              </p:nvSpPr>
              <p:spPr>
                <a:xfrm>
                  <a:off x="7236353" y="2234174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41E51EAC-0637-D9BA-6DB3-3885BD760263}"/>
                    </a:ext>
                  </a:extLst>
                </p:cNvPr>
                <p:cNvSpPr/>
                <p:nvPr/>
              </p:nvSpPr>
              <p:spPr>
                <a:xfrm>
                  <a:off x="7287206" y="2555939"/>
                  <a:ext cx="180000" cy="1800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>
                      <a:solidFill>
                        <a:srgbClr val="004A7A"/>
                      </a:solidFill>
                    </a:rPr>
                    <a:t>n</a:t>
                  </a:r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D1B993B0-1550-B19E-1B4B-D256AF3B59B7}"/>
                    </a:ext>
                  </a:extLst>
                </p:cNvPr>
                <p:cNvSpPr/>
                <p:nvPr/>
              </p:nvSpPr>
              <p:spPr>
                <a:xfrm>
                  <a:off x="7360163" y="2465939"/>
                  <a:ext cx="180000" cy="180000"/>
                </a:xfrm>
                <a:prstGeom prst="ellipse">
                  <a:avLst/>
                </a:prstGeom>
                <a:solidFill>
                  <a:srgbClr val="004A7A"/>
                </a:solidFill>
                <a:ln w="3175">
                  <a:solidFill>
                    <a:srgbClr val="004A7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sz="600" dirty="0"/>
                    <a:t>p</a:t>
                  </a:r>
                </a:p>
              </p:txBody>
            </p:sp>
          </p:grpSp>
          <p:sp>
            <p:nvSpPr>
              <p:cNvPr id="346" name="Oval 345">
                <a:extLst>
                  <a:ext uri="{FF2B5EF4-FFF2-40B4-BE49-F238E27FC236}">
                    <a16:creationId xmlns:a16="http://schemas.microsoft.com/office/drawing/2014/main" id="{7B1DD114-49A0-25F9-CE3F-2A69D04864E1}"/>
                  </a:ext>
                </a:extLst>
              </p:cNvPr>
              <p:cNvSpPr/>
              <p:nvPr/>
            </p:nvSpPr>
            <p:spPr>
              <a:xfrm>
                <a:off x="4933211" y="2478451"/>
                <a:ext cx="1080000" cy="1080000"/>
              </a:xfrm>
              <a:prstGeom prst="ellipse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7" name="Oval 346">
                    <a:extLst>
                      <a:ext uri="{FF2B5EF4-FFF2-40B4-BE49-F238E27FC236}">
                        <a16:creationId xmlns:a16="http://schemas.microsoft.com/office/drawing/2014/main" id="{0F6F7B10-4465-5CBC-C8DA-963C987D2A4A}"/>
                      </a:ext>
                    </a:extLst>
                  </p:cNvPr>
                  <p:cNvSpPr/>
                  <p:nvPr/>
                </p:nvSpPr>
                <p:spPr>
                  <a:xfrm>
                    <a:off x="6348521" y="2867874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D8A8CD14-2844-C3D5-EDAB-F0B9FE88E2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8521" y="2867874"/>
                    <a:ext cx="180000" cy="180000"/>
                  </a:xfrm>
                  <a:prstGeom prst="ellipse">
                    <a:avLst/>
                  </a:prstGeom>
                  <a:blipFill>
                    <a:blip r:embed="rId27"/>
                    <a:stretch>
                      <a:fillRect l="-13793" r="-2069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8" name="Oval 347">
                    <a:extLst>
                      <a:ext uri="{FF2B5EF4-FFF2-40B4-BE49-F238E27FC236}">
                        <a16:creationId xmlns:a16="http://schemas.microsoft.com/office/drawing/2014/main" id="{39211B20-696A-89C5-49CF-35E6AE526097}"/>
                      </a:ext>
                    </a:extLst>
                  </p:cNvPr>
                  <p:cNvSpPr/>
                  <p:nvPr/>
                </p:nvSpPr>
                <p:spPr>
                  <a:xfrm>
                    <a:off x="5392142" y="3471017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80" name="Oval 179">
                    <a:extLst>
                      <a:ext uri="{FF2B5EF4-FFF2-40B4-BE49-F238E27FC236}">
                        <a16:creationId xmlns:a16="http://schemas.microsoft.com/office/drawing/2014/main" id="{1B4D3B6B-BF04-F242-B73D-100CAA1369A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2142" y="3471017"/>
                    <a:ext cx="180000" cy="180000"/>
                  </a:xfrm>
                  <a:prstGeom prst="ellipse">
                    <a:avLst/>
                  </a:prstGeom>
                  <a:blipFill>
                    <a:blip r:embed="rId28"/>
                    <a:stretch>
                      <a:fillRect l="-13793" r="-2069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9" name="Oval 348">
                    <a:extLst>
                      <a:ext uri="{FF2B5EF4-FFF2-40B4-BE49-F238E27FC236}">
                        <a16:creationId xmlns:a16="http://schemas.microsoft.com/office/drawing/2014/main" id="{92A054E4-47E3-D92B-67C5-F25CCA35FF29}"/>
                      </a:ext>
                    </a:extLst>
                  </p:cNvPr>
                  <p:cNvSpPr/>
                  <p:nvPr/>
                </p:nvSpPr>
                <p:spPr>
                  <a:xfrm>
                    <a:off x="5920039" y="2920919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81" name="Oval 180">
                    <a:extLst>
                      <a:ext uri="{FF2B5EF4-FFF2-40B4-BE49-F238E27FC236}">
                        <a16:creationId xmlns:a16="http://schemas.microsoft.com/office/drawing/2014/main" id="{AEF8DAD5-C0E9-890E-F055-80D3A8B6842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039" y="2920919"/>
                    <a:ext cx="180000" cy="180000"/>
                  </a:xfrm>
                  <a:prstGeom prst="ellipse">
                    <a:avLst/>
                  </a:prstGeom>
                  <a:blipFill>
                    <a:blip r:embed="rId29"/>
                    <a:stretch>
                      <a:fillRect l="-10000" t="-3333" r="-2000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0" name="Oval 349">
                    <a:extLst>
                      <a:ext uri="{FF2B5EF4-FFF2-40B4-BE49-F238E27FC236}">
                        <a16:creationId xmlns:a16="http://schemas.microsoft.com/office/drawing/2014/main" id="{014F7157-7C9E-F267-FCA2-DECE294A8721}"/>
                      </a:ext>
                    </a:extLst>
                  </p:cNvPr>
                  <p:cNvSpPr/>
                  <p:nvPr/>
                </p:nvSpPr>
                <p:spPr>
                  <a:xfrm>
                    <a:off x="4838696" y="2920919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82" name="Oval 181">
                    <a:extLst>
                      <a:ext uri="{FF2B5EF4-FFF2-40B4-BE49-F238E27FC236}">
                        <a16:creationId xmlns:a16="http://schemas.microsoft.com/office/drawing/2014/main" id="{1B256663-B023-F405-4989-C47D0A712C8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8696" y="2920919"/>
                    <a:ext cx="180000" cy="180000"/>
                  </a:xfrm>
                  <a:prstGeom prst="ellipse">
                    <a:avLst/>
                  </a:prstGeom>
                  <a:blipFill>
                    <a:blip r:embed="rId30"/>
                    <a:stretch>
                      <a:fillRect l="-13793" t="-3333" r="-2069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1" name="Oval 350">
                    <a:extLst>
                      <a:ext uri="{FF2B5EF4-FFF2-40B4-BE49-F238E27FC236}">
                        <a16:creationId xmlns:a16="http://schemas.microsoft.com/office/drawing/2014/main" id="{8B9E6799-884B-6BA9-0E1A-D984F1B6869C}"/>
                      </a:ext>
                    </a:extLst>
                  </p:cNvPr>
                  <p:cNvSpPr/>
                  <p:nvPr/>
                </p:nvSpPr>
                <p:spPr>
                  <a:xfrm>
                    <a:off x="5541405" y="3249000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83" name="Oval 182">
                    <a:extLst>
                      <a:ext uri="{FF2B5EF4-FFF2-40B4-BE49-F238E27FC236}">
                        <a16:creationId xmlns:a16="http://schemas.microsoft.com/office/drawing/2014/main" id="{D4B7DC7D-00BA-8136-B40C-2F4536038B0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41405" y="3249000"/>
                    <a:ext cx="180000" cy="180000"/>
                  </a:xfrm>
                  <a:prstGeom prst="ellipse">
                    <a:avLst/>
                  </a:prstGeom>
                  <a:blipFill>
                    <a:blip r:embed="rId31"/>
                    <a:stretch>
                      <a:fillRect l="-13333" t="-3333" r="-16667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2" name="Oval 351">
                    <a:extLst>
                      <a:ext uri="{FF2B5EF4-FFF2-40B4-BE49-F238E27FC236}">
                        <a16:creationId xmlns:a16="http://schemas.microsoft.com/office/drawing/2014/main" id="{52882752-2347-1EE3-6481-590EC85C3DFA}"/>
                      </a:ext>
                    </a:extLst>
                  </p:cNvPr>
                  <p:cNvSpPr/>
                  <p:nvPr/>
                </p:nvSpPr>
                <p:spPr>
                  <a:xfrm>
                    <a:off x="5240111" y="2616307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F0103C75-6ECC-7B42-73F6-AB605749334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40111" y="2616307"/>
                    <a:ext cx="180000" cy="180000"/>
                  </a:xfrm>
                  <a:prstGeom prst="ellipse">
                    <a:avLst/>
                  </a:prstGeom>
                  <a:blipFill>
                    <a:blip r:embed="rId32"/>
                    <a:stretch>
                      <a:fillRect l="-13793" t="-3333" r="-2069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3" name="Oval 352">
                    <a:extLst>
                      <a:ext uri="{FF2B5EF4-FFF2-40B4-BE49-F238E27FC236}">
                        <a16:creationId xmlns:a16="http://schemas.microsoft.com/office/drawing/2014/main" id="{8C8C50E9-27C7-81A3-06FF-B528EEDBA71C}"/>
                      </a:ext>
                    </a:extLst>
                  </p:cNvPr>
                  <p:cNvSpPr/>
                  <p:nvPr/>
                </p:nvSpPr>
                <p:spPr>
                  <a:xfrm>
                    <a:off x="4999712" y="3302651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85" name="Oval 184">
                    <a:extLst>
                      <a:ext uri="{FF2B5EF4-FFF2-40B4-BE49-F238E27FC236}">
                        <a16:creationId xmlns:a16="http://schemas.microsoft.com/office/drawing/2014/main" id="{B9B0BCFB-8B7C-21A9-BC35-F7B867EEEC0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99712" y="3302651"/>
                    <a:ext cx="180000" cy="180000"/>
                  </a:xfrm>
                  <a:prstGeom prst="ellipse">
                    <a:avLst/>
                  </a:prstGeom>
                  <a:blipFill>
                    <a:blip r:embed="rId33"/>
                    <a:stretch>
                      <a:fillRect l="-10000" t="-3448" r="-20000" b="-137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4" name="Oval 353">
                    <a:extLst>
                      <a:ext uri="{FF2B5EF4-FFF2-40B4-BE49-F238E27FC236}">
                        <a16:creationId xmlns:a16="http://schemas.microsoft.com/office/drawing/2014/main" id="{01FA8AF6-4324-2297-1C63-C61FA1DF9440}"/>
                      </a:ext>
                    </a:extLst>
                  </p:cNvPr>
                  <p:cNvSpPr/>
                  <p:nvPr/>
                </p:nvSpPr>
                <p:spPr>
                  <a:xfrm>
                    <a:off x="5776107" y="2546372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86" name="Oval 185">
                    <a:extLst>
                      <a:ext uri="{FF2B5EF4-FFF2-40B4-BE49-F238E27FC236}">
                        <a16:creationId xmlns:a16="http://schemas.microsoft.com/office/drawing/2014/main" id="{15F94BFA-2C5D-03DC-B501-67A19E0B518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6107" y="2546372"/>
                    <a:ext cx="180000" cy="180000"/>
                  </a:xfrm>
                  <a:prstGeom prst="ellipse">
                    <a:avLst/>
                  </a:prstGeom>
                  <a:blipFill>
                    <a:blip r:embed="rId34"/>
                    <a:stretch>
                      <a:fillRect l="-13793" t="-3448" r="-20690" b="-137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5" name="Oval 354">
                    <a:extLst>
                      <a:ext uri="{FF2B5EF4-FFF2-40B4-BE49-F238E27FC236}">
                        <a16:creationId xmlns:a16="http://schemas.microsoft.com/office/drawing/2014/main" id="{1AF085AC-6DB7-1107-8832-48CECC940D95}"/>
                      </a:ext>
                    </a:extLst>
                  </p:cNvPr>
                  <p:cNvSpPr/>
                  <p:nvPr/>
                </p:nvSpPr>
                <p:spPr>
                  <a:xfrm>
                    <a:off x="5776107" y="3297953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87" name="Oval 186">
                    <a:extLst>
                      <a:ext uri="{FF2B5EF4-FFF2-40B4-BE49-F238E27FC236}">
                        <a16:creationId xmlns:a16="http://schemas.microsoft.com/office/drawing/2014/main" id="{78812E15-B720-9567-9CDD-24EFC143BB8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6107" y="3297953"/>
                    <a:ext cx="180000" cy="180000"/>
                  </a:xfrm>
                  <a:prstGeom prst="ellipse">
                    <a:avLst/>
                  </a:prstGeom>
                  <a:blipFill>
                    <a:blip r:embed="rId35"/>
                    <a:stretch>
                      <a:fillRect l="-13793" t="-3333" r="-2069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6" name="Oval 355">
                    <a:extLst>
                      <a:ext uri="{FF2B5EF4-FFF2-40B4-BE49-F238E27FC236}">
                        <a16:creationId xmlns:a16="http://schemas.microsoft.com/office/drawing/2014/main" id="{E3F6A33D-572F-0CF4-0B58-3685B0F52EF0}"/>
                      </a:ext>
                    </a:extLst>
                  </p:cNvPr>
                  <p:cNvSpPr/>
                  <p:nvPr/>
                </p:nvSpPr>
                <p:spPr>
                  <a:xfrm>
                    <a:off x="5003464" y="2546372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n-Z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ZA" dirty="0"/>
                  </a:p>
                </p:txBody>
              </p:sp>
            </mc:Choice>
            <mc:Fallback xmlns="">
              <p:sp>
                <p:nvSpPr>
                  <p:cNvPr id="188" name="Oval 187">
                    <a:extLst>
                      <a:ext uri="{FF2B5EF4-FFF2-40B4-BE49-F238E27FC236}">
                        <a16:creationId xmlns:a16="http://schemas.microsoft.com/office/drawing/2014/main" id="{049FEBA9-6E6E-4970-40D6-8278490D55C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03464" y="2546372"/>
                    <a:ext cx="180000" cy="180000"/>
                  </a:xfrm>
                  <a:prstGeom prst="ellipse">
                    <a:avLst/>
                  </a:prstGeom>
                  <a:blipFill>
                    <a:blip r:embed="rId36"/>
                    <a:stretch>
                      <a:fillRect l="-13793" t="-3448" r="-20690" b="-137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7" name="Graphic 59">
                <a:extLst>
                  <a:ext uri="{FF2B5EF4-FFF2-40B4-BE49-F238E27FC236}">
                    <a16:creationId xmlns:a16="http://schemas.microsoft.com/office/drawing/2014/main" id="{22EB9DEA-4FAB-27F2-07D0-A5D18F2793DF}"/>
                  </a:ext>
                </a:extLst>
              </p:cNvPr>
              <p:cNvSpPr/>
              <p:nvPr/>
            </p:nvSpPr>
            <p:spPr>
              <a:xfrm rot="10800000" flipH="1" flipV="1">
                <a:off x="4356274" y="2368059"/>
                <a:ext cx="938939" cy="216030"/>
              </a:xfrm>
              <a:custGeom>
                <a:avLst/>
                <a:gdLst>
                  <a:gd name="csX0" fmla="*/ -39 w 938939"/>
                  <a:gd name="csY0" fmla="*/ 216511 h 216030"/>
                  <a:gd name="csX1" fmla="*/ 169053 w 938939"/>
                  <a:gd name="csY1" fmla="*/ 510 h 216030"/>
                  <a:gd name="csX2" fmla="*/ 335340 w 938939"/>
                  <a:gd name="csY2" fmla="*/ 216511 h 216030"/>
                  <a:gd name="csX3" fmla="*/ 501627 w 938939"/>
                  <a:gd name="csY3" fmla="*/ 510 h 216030"/>
                  <a:gd name="csX4" fmla="*/ 667908 w 938939"/>
                  <a:gd name="csY4" fmla="*/ 216511 h 216030"/>
                  <a:gd name="csX5" fmla="*/ 803937 w 938939"/>
                  <a:gd name="csY5" fmla="*/ 108523 h 216030"/>
                  <a:gd name="csX6" fmla="*/ 938900 w 938939"/>
                  <a:gd name="csY6" fmla="*/ 108523 h 216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938939" h="216030">
                    <a:moveTo>
                      <a:pt x="-39" y="216511"/>
                    </a:moveTo>
                    <a:cubicBezTo>
                      <a:pt x="93632" y="216511"/>
                      <a:pt x="78189" y="510"/>
                      <a:pt x="169053" y="510"/>
                    </a:cubicBezTo>
                    <a:cubicBezTo>
                      <a:pt x="259917" y="510"/>
                      <a:pt x="244476" y="216511"/>
                      <a:pt x="335340" y="216511"/>
                    </a:cubicBezTo>
                    <a:cubicBezTo>
                      <a:pt x="426204" y="216511"/>
                      <a:pt x="410763" y="510"/>
                      <a:pt x="501627" y="510"/>
                    </a:cubicBezTo>
                    <a:cubicBezTo>
                      <a:pt x="592492" y="510"/>
                      <a:pt x="577072" y="214416"/>
                      <a:pt x="667908" y="216511"/>
                    </a:cubicBezTo>
                    <a:cubicBezTo>
                      <a:pt x="759525" y="218619"/>
                      <a:pt x="720016" y="108523"/>
                      <a:pt x="803937" y="108523"/>
                    </a:cubicBezTo>
                    <a:lnTo>
                      <a:pt x="938900" y="108523"/>
                    </a:lnTo>
                  </a:path>
                </a:pathLst>
              </a:custGeom>
              <a:noFill/>
              <a:ln w="38100" cap="flat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triangle" w="lg" len="med"/>
              </a:ln>
            </p:spPr>
            <p:txBody>
              <a:bodyPr/>
              <a:lstStyle/>
              <a:p>
                <a:endParaRPr lang="en-ZA" dirty="0"/>
              </a:p>
            </p:txBody>
          </p:sp>
          <p:cxnSp>
            <p:nvCxnSpPr>
              <p:cNvPr id="358" name="Straight Arrow Connector 357">
                <a:extLst>
                  <a:ext uri="{FF2B5EF4-FFF2-40B4-BE49-F238E27FC236}">
                    <a16:creationId xmlns:a16="http://schemas.microsoft.com/office/drawing/2014/main" id="{3E1875A4-62D1-C1F3-8578-48B84C6EE199}"/>
                  </a:ext>
                </a:extLst>
              </p:cNvPr>
              <p:cNvCxnSpPr>
                <a:cxnSpLocks/>
                <a:stCxn id="346" idx="0"/>
              </p:cNvCxnSpPr>
              <p:nvPr/>
            </p:nvCxnSpPr>
            <p:spPr>
              <a:xfrm>
                <a:off x="5473211" y="2478451"/>
                <a:ext cx="884241" cy="446786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59" name="Graphic 358" descr="Collision with solid fill">
                <a:extLst>
                  <a:ext uri="{FF2B5EF4-FFF2-40B4-BE49-F238E27FC236}">
                    <a16:creationId xmlns:a16="http://schemas.microsoft.com/office/drawing/2014/main" id="{B414914B-DDA0-65E5-5CB1-BDC8A8DAC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5250975" y="2298450"/>
                <a:ext cx="360000" cy="360000"/>
              </a:xfrm>
              <a:prstGeom prst="rect">
                <a:avLst/>
              </a:prstGeom>
            </p:spPr>
          </p:pic>
          <p:sp>
            <p:nvSpPr>
              <p:cNvPr id="360" name="Graphic 59">
                <a:extLst>
                  <a:ext uri="{FF2B5EF4-FFF2-40B4-BE49-F238E27FC236}">
                    <a16:creationId xmlns:a16="http://schemas.microsoft.com/office/drawing/2014/main" id="{8081853C-9FA5-68BB-0D1C-4298C8FAEE87}"/>
                  </a:ext>
                </a:extLst>
              </p:cNvPr>
              <p:cNvSpPr/>
              <p:nvPr/>
            </p:nvSpPr>
            <p:spPr>
              <a:xfrm rot="8817758" flipH="1" flipV="1">
                <a:off x="5459269" y="1984395"/>
                <a:ext cx="938939" cy="216030"/>
              </a:xfrm>
              <a:custGeom>
                <a:avLst/>
                <a:gdLst>
                  <a:gd name="csX0" fmla="*/ -39 w 938939"/>
                  <a:gd name="csY0" fmla="*/ 216511 h 216030"/>
                  <a:gd name="csX1" fmla="*/ 169053 w 938939"/>
                  <a:gd name="csY1" fmla="*/ 510 h 216030"/>
                  <a:gd name="csX2" fmla="*/ 335340 w 938939"/>
                  <a:gd name="csY2" fmla="*/ 216511 h 216030"/>
                  <a:gd name="csX3" fmla="*/ 501627 w 938939"/>
                  <a:gd name="csY3" fmla="*/ 510 h 216030"/>
                  <a:gd name="csX4" fmla="*/ 667908 w 938939"/>
                  <a:gd name="csY4" fmla="*/ 216511 h 216030"/>
                  <a:gd name="csX5" fmla="*/ 803937 w 938939"/>
                  <a:gd name="csY5" fmla="*/ 108523 h 216030"/>
                  <a:gd name="csX6" fmla="*/ 938900 w 938939"/>
                  <a:gd name="csY6" fmla="*/ 108523 h 216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938939" h="216030">
                    <a:moveTo>
                      <a:pt x="-39" y="216511"/>
                    </a:moveTo>
                    <a:cubicBezTo>
                      <a:pt x="93632" y="216511"/>
                      <a:pt x="78189" y="510"/>
                      <a:pt x="169053" y="510"/>
                    </a:cubicBezTo>
                    <a:cubicBezTo>
                      <a:pt x="259917" y="510"/>
                      <a:pt x="244476" y="216511"/>
                      <a:pt x="335340" y="216511"/>
                    </a:cubicBezTo>
                    <a:cubicBezTo>
                      <a:pt x="426204" y="216511"/>
                      <a:pt x="410763" y="510"/>
                      <a:pt x="501627" y="510"/>
                    </a:cubicBezTo>
                    <a:cubicBezTo>
                      <a:pt x="592492" y="510"/>
                      <a:pt x="577072" y="214416"/>
                      <a:pt x="667908" y="216511"/>
                    </a:cubicBezTo>
                    <a:cubicBezTo>
                      <a:pt x="759525" y="218619"/>
                      <a:pt x="720016" y="108523"/>
                      <a:pt x="803937" y="108523"/>
                    </a:cubicBezTo>
                    <a:lnTo>
                      <a:pt x="938900" y="108523"/>
                    </a:lnTo>
                  </a:path>
                </a:pathLst>
              </a:custGeom>
              <a:noFill/>
              <a:ln w="38100" cap="flat">
                <a:solidFill>
                  <a:srgbClr val="00B0F0"/>
                </a:solidFill>
                <a:prstDash val="solid"/>
                <a:round/>
                <a:headEnd type="none" w="med" len="med"/>
                <a:tailEnd type="triangle" w="lg" len="med"/>
              </a:ln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2D5AA2A8-1245-BF11-1BF6-BB5E5E441255}"/>
                </a:ext>
              </a:extLst>
            </p:cNvPr>
            <p:cNvSpPr txBox="1"/>
            <p:nvPr/>
          </p:nvSpPr>
          <p:spPr>
            <a:xfrm>
              <a:off x="9400202" y="1532504"/>
              <a:ext cx="22835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ZA" dirty="0">
                  <a:solidFill>
                    <a:schemeClr val="tx2"/>
                  </a:solidFill>
                </a:rPr>
                <a:t>Conduction Band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032149AD-3A51-A4A5-2610-5E00E9970975}"/>
                </a:ext>
              </a:extLst>
            </p:cNvPr>
            <p:cNvSpPr txBox="1"/>
            <p:nvPr/>
          </p:nvSpPr>
          <p:spPr>
            <a:xfrm>
              <a:off x="9400202" y="5021224"/>
              <a:ext cx="22835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ZA" dirty="0">
                  <a:solidFill>
                    <a:schemeClr val="tx2"/>
                  </a:solidFill>
                </a:rPr>
                <a:t>Valence Band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734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7F123-900C-3185-EB8B-F4FEA4B8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69">
            <a:extLst>
              <a:ext uri="{FF2B5EF4-FFF2-40B4-BE49-F238E27FC236}">
                <a16:creationId xmlns:a16="http://schemas.microsoft.com/office/drawing/2014/main" id="{DDD4622B-8D23-5CAA-0594-741FE22642E8}"/>
              </a:ext>
            </a:extLst>
          </p:cNvPr>
          <p:cNvSpPr/>
          <p:nvPr/>
        </p:nvSpPr>
        <p:spPr>
          <a:xfrm>
            <a:off x="5913120" y="2330459"/>
            <a:ext cx="5679440" cy="3224039"/>
          </a:xfrm>
          <a:prstGeom prst="rect">
            <a:avLst/>
          </a:prstGeom>
          <a:solidFill>
            <a:srgbClr val="CCD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ZA" dirty="0">
                <a:solidFill>
                  <a:schemeClr val="tx2"/>
                </a:solidFill>
              </a:rPr>
              <a:t>Host Matrix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21CEF3-BDF9-D7F2-43B9-0EBCB7102C64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8520B-7922-15D4-1CA1-F60B78F2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Energy Transfer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727946-98E9-AC61-244D-07B9C2082384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D693BF-CEF4-202F-8798-B16E73758692}"/>
              </a:ext>
            </a:extLst>
          </p:cNvPr>
          <p:cNvCxnSpPr>
            <a:cxnSpLocks/>
          </p:cNvCxnSpPr>
          <p:nvPr/>
        </p:nvCxnSpPr>
        <p:spPr>
          <a:xfrm>
            <a:off x="6434432" y="4008122"/>
            <a:ext cx="107720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0E7CFC5-3A55-0833-3A54-9A70D9167029}"/>
              </a:ext>
            </a:extLst>
          </p:cNvPr>
          <p:cNvCxnSpPr>
            <a:cxnSpLocks/>
          </p:cNvCxnSpPr>
          <p:nvPr/>
        </p:nvCxnSpPr>
        <p:spPr>
          <a:xfrm>
            <a:off x="7787816" y="4304709"/>
            <a:ext cx="768605" cy="578801"/>
          </a:xfrm>
          <a:prstGeom prst="straightConnector1">
            <a:avLst/>
          </a:prstGeom>
          <a:ln w="38100">
            <a:solidFill>
              <a:schemeClr val="tx2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33383E34-7ADA-36C1-760F-CB661015A1D9}"/>
              </a:ext>
            </a:extLst>
          </p:cNvPr>
          <p:cNvSpPr/>
          <p:nvPr/>
        </p:nvSpPr>
        <p:spPr>
          <a:xfrm>
            <a:off x="9774294" y="2813182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EF7860F-67D8-96BD-5D32-5B901A71E52C}"/>
              </a:ext>
            </a:extLst>
          </p:cNvPr>
          <p:cNvSpPr/>
          <p:nvPr/>
        </p:nvSpPr>
        <p:spPr>
          <a:xfrm>
            <a:off x="6624320" y="2936431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3FFC2D-B451-16D2-1A71-FADA118F36A9}"/>
              </a:ext>
            </a:extLst>
          </p:cNvPr>
          <p:cNvSpPr txBox="1"/>
          <p:nvPr/>
        </p:nvSpPr>
        <p:spPr>
          <a:xfrm>
            <a:off x="8127144" y="4327323"/>
            <a:ext cx="1076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chemeClr val="tx2"/>
                </a:solidFill>
              </a:rPr>
              <a:t>Phonon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AAB9A3-7DF8-4DC4-F15C-3F7F8A93A5E1}"/>
              </a:ext>
            </a:extLst>
          </p:cNvPr>
          <p:cNvSpPr txBox="1"/>
          <p:nvPr/>
        </p:nvSpPr>
        <p:spPr>
          <a:xfrm>
            <a:off x="10080349" y="2806911"/>
            <a:ext cx="1711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chemeClr val="tx2"/>
                </a:solidFill>
              </a:rPr>
              <a:t>Active </a:t>
            </a:r>
            <a:r>
              <a:rPr lang="en-ZA" dirty="0" err="1">
                <a:solidFill>
                  <a:schemeClr val="tx2"/>
                </a:solidFill>
              </a:rPr>
              <a:t>center</a:t>
            </a:r>
            <a:endParaRPr lang="en-ZA" dirty="0">
              <a:solidFill>
                <a:schemeClr val="tx2"/>
              </a:solidFill>
            </a:endParaRPr>
          </a:p>
        </p:txBody>
      </p:sp>
      <p:sp>
        <p:nvSpPr>
          <p:cNvPr id="8" name="Partial Circle 7">
            <a:extLst>
              <a:ext uri="{FF2B5EF4-FFF2-40B4-BE49-F238E27FC236}">
                <a16:creationId xmlns:a16="http://schemas.microsoft.com/office/drawing/2014/main" id="{16D0EDA7-F1C1-5D5A-A619-F199C2B23914}"/>
              </a:ext>
            </a:extLst>
          </p:cNvPr>
          <p:cNvSpPr/>
          <p:nvPr/>
        </p:nvSpPr>
        <p:spPr>
          <a:xfrm>
            <a:off x="7490497" y="3967323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0FD95C6F-1333-E46A-900D-A602E8FF35D2}"/>
              </a:ext>
            </a:extLst>
          </p:cNvPr>
          <p:cNvSpPr/>
          <p:nvPr/>
        </p:nvSpPr>
        <p:spPr>
          <a:xfrm>
            <a:off x="10530407" y="3967323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22" name="Partial Circle 21">
            <a:extLst>
              <a:ext uri="{FF2B5EF4-FFF2-40B4-BE49-F238E27FC236}">
                <a16:creationId xmlns:a16="http://schemas.microsoft.com/office/drawing/2014/main" id="{E8055968-FC68-8BBF-CBA2-89585B64549D}"/>
              </a:ext>
            </a:extLst>
          </p:cNvPr>
          <p:cNvSpPr/>
          <p:nvPr/>
        </p:nvSpPr>
        <p:spPr>
          <a:xfrm>
            <a:off x="8130294" y="2816243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23" name="Partial Circle 22">
            <a:extLst>
              <a:ext uri="{FF2B5EF4-FFF2-40B4-BE49-F238E27FC236}">
                <a16:creationId xmlns:a16="http://schemas.microsoft.com/office/drawing/2014/main" id="{E266A4A9-6324-E44B-545F-8C25779C5FE5}"/>
              </a:ext>
            </a:extLst>
          </p:cNvPr>
          <p:cNvSpPr/>
          <p:nvPr/>
        </p:nvSpPr>
        <p:spPr>
          <a:xfrm>
            <a:off x="6074432" y="4767170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5B1A9F-0795-A346-735E-EF20BDF3C01F}"/>
              </a:ext>
            </a:extLst>
          </p:cNvPr>
          <p:cNvSpPr txBox="1"/>
          <p:nvPr/>
        </p:nvSpPr>
        <p:spPr>
          <a:xfrm>
            <a:off x="8486000" y="2838124"/>
            <a:ext cx="1711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chemeClr val="tx2"/>
                </a:solidFill>
              </a:rPr>
              <a:t>Defect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67A61E-BFFD-6B5A-9CFB-DFA78515E052}"/>
              </a:ext>
            </a:extLst>
          </p:cNvPr>
          <p:cNvCxnSpPr>
            <a:cxnSpLocks/>
          </p:cNvCxnSpPr>
          <p:nvPr/>
        </p:nvCxnSpPr>
        <p:spPr>
          <a:xfrm>
            <a:off x="6434432" y="4225161"/>
            <a:ext cx="1077209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B71FE5F-69D8-4437-F2E1-DE22E4712A67}"/>
              </a:ext>
            </a:extLst>
          </p:cNvPr>
          <p:cNvCxnSpPr>
            <a:cxnSpLocks/>
          </p:cNvCxnSpPr>
          <p:nvPr/>
        </p:nvCxnSpPr>
        <p:spPr>
          <a:xfrm>
            <a:off x="7930528" y="4014591"/>
            <a:ext cx="107720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73AF996-A610-74A9-9BC5-00F8F91ADB5F}"/>
              </a:ext>
            </a:extLst>
          </p:cNvPr>
          <p:cNvCxnSpPr>
            <a:cxnSpLocks/>
          </p:cNvCxnSpPr>
          <p:nvPr/>
        </p:nvCxnSpPr>
        <p:spPr>
          <a:xfrm>
            <a:off x="7930528" y="4231630"/>
            <a:ext cx="1077209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12C9A20-098B-F275-8C7D-FDC1C8D22662}"/>
                  </a:ext>
                </a:extLst>
              </p:cNvPr>
              <p:cNvSpPr/>
              <p:nvPr/>
            </p:nvSpPr>
            <p:spPr>
              <a:xfrm>
                <a:off x="7859483" y="3907163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12C9A20-098B-F275-8C7D-FDC1C8D226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83" y="3907163"/>
                <a:ext cx="180000" cy="180000"/>
              </a:xfrm>
              <a:prstGeom prst="ellipse">
                <a:avLst/>
              </a:prstGeom>
              <a:blipFill>
                <a:blip r:embed="rId3"/>
                <a:stretch>
                  <a:fillRect l="-6667" r="-23333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7CA6204-360F-8409-4A69-4EE8B89D7E85}"/>
                  </a:ext>
                </a:extLst>
              </p:cNvPr>
              <p:cNvSpPr/>
              <p:nvPr/>
            </p:nvSpPr>
            <p:spPr>
              <a:xfrm>
                <a:off x="7859483" y="418564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7CA6204-360F-8409-4A69-4EE8B89D7E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83" y="4185642"/>
                <a:ext cx="180000" cy="180000"/>
              </a:xfrm>
              <a:prstGeom prst="ellipse">
                <a:avLst/>
              </a:prstGeom>
              <a:blipFill>
                <a:blip r:embed="rId4"/>
                <a:stretch>
                  <a:fillRect l="-26667" t="-24138" r="-36667" b="-413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7937B9FD-EA8E-3A4C-23C7-81CBD03375E6}"/>
                  </a:ext>
                </a:extLst>
              </p:cNvPr>
              <p:cNvSpPr/>
              <p:nvPr/>
            </p:nvSpPr>
            <p:spPr>
              <a:xfrm>
                <a:off x="8030283" y="3752254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7937B9FD-EA8E-3A4C-23C7-81CBD03375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283" y="3752254"/>
                <a:ext cx="180000" cy="180000"/>
              </a:xfrm>
              <a:prstGeom prst="ellipse">
                <a:avLst/>
              </a:prstGeom>
              <a:blipFill>
                <a:blip r:embed="rId5"/>
                <a:stretch>
                  <a:fillRect l="-6667" r="-23333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5452070E-335B-2CE8-11C0-42E3C6A4FC9C}"/>
                  </a:ext>
                </a:extLst>
              </p:cNvPr>
              <p:cNvSpPr/>
              <p:nvPr/>
            </p:nvSpPr>
            <p:spPr>
              <a:xfrm>
                <a:off x="8030283" y="403073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5452070E-335B-2CE8-11C0-42E3C6A4FC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283" y="4030733"/>
                <a:ext cx="180000" cy="180000"/>
              </a:xfrm>
              <a:prstGeom prst="ellipse">
                <a:avLst/>
              </a:prstGeom>
              <a:blipFill>
                <a:blip r:embed="rId6"/>
                <a:stretch>
                  <a:fillRect l="-26667" t="-23333" r="-36667" b="-3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6BD4157-2A90-6FDE-4450-92F2D38ECCE3}"/>
                  </a:ext>
                </a:extLst>
              </p:cNvPr>
              <p:cNvSpPr/>
              <p:nvPr/>
            </p:nvSpPr>
            <p:spPr>
              <a:xfrm>
                <a:off x="6023779" y="3754763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6BD4157-2A90-6FDE-4450-92F2D38ECC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779" y="3754763"/>
                <a:ext cx="180000" cy="180000"/>
              </a:xfrm>
              <a:prstGeom prst="ellipse">
                <a:avLst/>
              </a:prstGeom>
              <a:blipFill>
                <a:blip r:embed="rId7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E72EDC0-7FCF-A037-FC03-A244EEB8D0D8}"/>
                  </a:ext>
                </a:extLst>
              </p:cNvPr>
              <p:cNvSpPr/>
              <p:nvPr/>
            </p:nvSpPr>
            <p:spPr>
              <a:xfrm>
                <a:off x="6023779" y="403324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E72EDC0-7FCF-A037-FC03-A244EEB8D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779" y="4033242"/>
                <a:ext cx="180000" cy="180000"/>
              </a:xfrm>
              <a:prstGeom prst="ellipse">
                <a:avLst/>
              </a:prstGeom>
              <a:blipFill>
                <a:blip r:embed="rId8"/>
                <a:stretch>
                  <a:fillRect l="-26667" t="-24138" r="-36667" b="-413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115FB23-F7A5-44AF-FBFD-833D414B62D1}"/>
                  </a:ext>
                </a:extLst>
              </p:cNvPr>
              <p:cNvSpPr/>
              <p:nvPr/>
            </p:nvSpPr>
            <p:spPr>
              <a:xfrm>
                <a:off x="6176179" y="3907163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115FB23-F7A5-44AF-FBFD-833D414B62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179" y="3907163"/>
                <a:ext cx="180000" cy="180000"/>
              </a:xfrm>
              <a:prstGeom prst="ellipse">
                <a:avLst/>
              </a:prstGeom>
              <a:blipFill>
                <a:blip r:embed="rId7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C5CC57F-1537-E0B8-5305-6337F6C1D710}"/>
                  </a:ext>
                </a:extLst>
              </p:cNvPr>
              <p:cNvSpPr/>
              <p:nvPr/>
            </p:nvSpPr>
            <p:spPr>
              <a:xfrm>
                <a:off x="6176179" y="418564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C5CC57F-1537-E0B8-5305-6337F6C1D7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179" y="4185642"/>
                <a:ext cx="180000" cy="180000"/>
              </a:xfrm>
              <a:prstGeom prst="ellipse">
                <a:avLst/>
              </a:prstGeom>
              <a:blipFill>
                <a:blip r:embed="rId8"/>
                <a:stretch>
                  <a:fillRect l="-26667" t="-24138" r="-36667" b="-413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13DCF8D-4813-2FAA-7B19-4B5D07F0F306}"/>
                  </a:ext>
                </a:extLst>
              </p:cNvPr>
              <p:cNvSpPr/>
              <p:nvPr/>
            </p:nvSpPr>
            <p:spPr>
              <a:xfrm>
                <a:off x="6346979" y="3752254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13DCF8D-4813-2FAA-7B19-4B5D07F0F3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979" y="3752254"/>
                <a:ext cx="180000" cy="180000"/>
              </a:xfrm>
              <a:prstGeom prst="ellipse">
                <a:avLst/>
              </a:prstGeom>
              <a:blipFill>
                <a:blip r:embed="rId9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DB2C912-43EF-7150-35D4-0479B73929E5}"/>
                  </a:ext>
                </a:extLst>
              </p:cNvPr>
              <p:cNvSpPr/>
              <p:nvPr/>
            </p:nvSpPr>
            <p:spPr>
              <a:xfrm>
                <a:off x="6346979" y="403073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DB2C912-43EF-7150-35D4-0479B73929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979" y="4030733"/>
                <a:ext cx="180000" cy="180000"/>
              </a:xfrm>
              <a:prstGeom prst="ellipse">
                <a:avLst/>
              </a:prstGeom>
              <a:blipFill>
                <a:blip r:embed="rId10"/>
                <a:stretch>
                  <a:fillRect l="-26667" t="-23333" r="-36667" b="-3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Oval 163">
            <a:extLst>
              <a:ext uri="{FF2B5EF4-FFF2-40B4-BE49-F238E27FC236}">
                <a16:creationId xmlns:a16="http://schemas.microsoft.com/office/drawing/2014/main" id="{B6A0ADBE-D251-E527-C2E2-9C484B0ED278}"/>
              </a:ext>
            </a:extLst>
          </p:cNvPr>
          <p:cNvSpPr/>
          <p:nvPr/>
        </p:nvSpPr>
        <p:spPr>
          <a:xfrm>
            <a:off x="9010342" y="3967323"/>
            <a:ext cx="360000" cy="360000"/>
          </a:xfrm>
          <a:prstGeom prst="ellipse">
            <a:avLst/>
          </a:prstGeom>
          <a:solidFill>
            <a:srgbClr val="00B0F0"/>
          </a:solidFill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74F3E0F0-0137-2C63-FD0E-4F003BA978AB}"/>
              </a:ext>
            </a:extLst>
          </p:cNvPr>
          <p:cNvSpPr/>
          <p:nvPr/>
        </p:nvSpPr>
        <p:spPr>
          <a:xfrm>
            <a:off x="8572840" y="4976426"/>
            <a:ext cx="360000" cy="360000"/>
          </a:xfrm>
          <a:prstGeom prst="ellipse">
            <a:avLst/>
          </a:prstGeom>
          <a:solidFill>
            <a:srgbClr val="00B0F0"/>
          </a:solidFill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167" name="Slide Number Placeholder 166">
            <a:extLst>
              <a:ext uri="{FF2B5EF4-FFF2-40B4-BE49-F238E27FC236}">
                <a16:creationId xmlns:a16="http://schemas.microsoft.com/office/drawing/2014/main" id="{0309EB93-CF89-7FD6-7F0B-7930D360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9</a:t>
            </a:fld>
            <a:endParaRPr lang="en-ZA"/>
          </a:p>
        </p:txBody>
      </p:sp>
      <p:pic>
        <p:nvPicPr>
          <p:cNvPr id="168" name="Picture 167">
            <a:extLst>
              <a:ext uri="{FF2B5EF4-FFF2-40B4-BE49-F238E27FC236}">
                <a16:creationId xmlns:a16="http://schemas.microsoft.com/office/drawing/2014/main" id="{9E7770F9-CAA1-E0A7-BC6B-B0D9CFA309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169" name="Picture 168" descr="A close-up of a logo&#10;&#10;Description automatically generated">
            <a:extLst>
              <a:ext uri="{FF2B5EF4-FFF2-40B4-BE49-F238E27FC236}">
                <a16:creationId xmlns:a16="http://schemas.microsoft.com/office/drawing/2014/main" id="{00CC0726-F084-F756-DC04-E087C031B42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171" name="Graphic 59">
            <a:extLst>
              <a:ext uri="{FF2B5EF4-FFF2-40B4-BE49-F238E27FC236}">
                <a16:creationId xmlns:a16="http://schemas.microsoft.com/office/drawing/2014/main" id="{2214BF38-4E18-71B8-79F3-4E5B8255D857}"/>
              </a:ext>
            </a:extLst>
          </p:cNvPr>
          <p:cNvSpPr/>
          <p:nvPr/>
        </p:nvSpPr>
        <p:spPr>
          <a:xfrm rot="10800000" flipH="1" flipV="1">
            <a:off x="5021272" y="3819023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DDA6AEE-D7D7-1117-947D-21F7920C8E79}"/>
                  </a:ext>
                </a:extLst>
              </p:cNvPr>
              <p:cNvSpPr/>
              <p:nvPr/>
            </p:nvSpPr>
            <p:spPr>
              <a:xfrm>
                <a:off x="9400050" y="3899211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DDA6AEE-D7D7-1117-947D-21F7920C8E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0050" y="3899211"/>
                <a:ext cx="180000" cy="180000"/>
              </a:xfrm>
              <a:prstGeom prst="ellipse">
                <a:avLst/>
              </a:prstGeom>
              <a:blipFill>
                <a:blip r:embed="rId13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31C96D9-BB25-DDEF-7793-5FB7DAF0A8C9}"/>
                  </a:ext>
                </a:extLst>
              </p:cNvPr>
              <p:cNvSpPr/>
              <p:nvPr/>
            </p:nvSpPr>
            <p:spPr>
              <a:xfrm>
                <a:off x="9400050" y="417769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31C96D9-BB25-DDEF-7793-5FB7DAF0A8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0050" y="4177690"/>
                <a:ext cx="180000" cy="180000"/>
              </a:xfrm>
              <a:prstGeom prst="ellipse">
                <a:avLst/>
              </a:prstGeom>
              <a:blipFill>
                <a:blip r:embed="rId14"/>
                <a:stretch>
                  <a:fillRect l="-26667" t="-23333" r="-36667" b="-4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782E21E6-440F-6E2F-AC2A-5FD148D20814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How scintillators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37DC31-5F7D-6F1B-541F-B631B9614948}"/>
              </a:ext>
            </a:extLst>
          </p:cNvPr>
          <p:cNvSpPr/>
          <p:nvPr/>
        </p:nvSpPr>
        <p:spPr>
          <a:xfrm>
            <a:off x="11591498" y="2333685"/>
            <a:ext cx="444935" cy="3224039"/>
          </a:xfrm>
          <a:prstGeom prst="rect">
            <a:avLst/>
          </a:prstGeom>
          <a:solidFill>
            <a:srgbClr val="004A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 anchorCtr="0"/>
          <a:lstStyle/>
          <a:p>
            <a:pPr algn="ctr"/>
            <a:r>
              <a:rPr lang="en-ZA" dirty="0">
                <a:solidFill>
                  <a:schemeClr val="bg1"/>
                </a:solidFill>
              </a:rPr>
              <a:t>Detector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E7E81A-B016-363D-64A3-245F50DD62C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Non-radiative </a:t>
            </a:r>
            <a:r>
              <a:rPr lang="en-ZA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excitation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 of active </a:t>
            </a:r>
            <a:r>
              <a:rPr lang="en-ZA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centers</a:t>
            </a:r>
            <a:endParaRPr lang="en-Z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Exciton recombination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</a:buBlip>
            </a:pPr>
            <a:r>
              <a:rPr lang="en-ZA" dirty="0">
                <a:latin typeface="+mj-lt"/>
                <a:ea typeface="Cambria Math" panose="02040503050406030204" pitchFamily="18" charset="0"/>
              </a:rPr>
              <a:t>Lattice vibrations (heat)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</a:buBlip>
            </a:pPr>
            <a:r>
              <a:rPr lang="en-ZA" dirty="0">
                <a:latin typeface="+mj-lt"/>
                <a:ea typeface="Cambria Math" panose="02040503050406030204" pitchFamily="18" charset="0"/>
              </a:rPr>
              <a:t>Förster/Dexter energy transfer</a:t>
            </a:r>
          </a:p>
        </p:txBody>
      </p:sp>
    </p:spTree>
    <p:extLst>
      <p:ext uri="{BB962C8B-B14F-4D97-AF65-F5344CB8AC3E}">
        <p14:creationId xmlns:p14="http://schemas.microsoft.com/office/powerpoint/2010/main" val="58920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D9B89-8DFE-3DDC-8C5E-0D8E8656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BD8358F-C921-E66F-0BB8-CB91C9B42ADC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2CF09-2C39-0533-C1CC-233A2DD84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Luminescence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6E94-AB1D-A3F6-C2BE-AAD1E75C2154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820FDDD-DE1F-35D4-C656-B39A7AC67F9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908187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i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Relaxation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 of active </a:t>
            </a:r>
            <a:r>
              <a:rPr lang="en-ZA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centers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i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Photon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 emission.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Transmitted out.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0181D3-A0D1-0295-3947-6A4DA3393A90}"/>
              </a:ext>
            </a:extLst>
          </p:cNvPr>
          <p:cNvSpPr/>
          <p:nvPr/>
        </p:nvSpPr>
        <p:spPr>
          <a:xfrm>
            <a:off x="5913120" y="2330459"/>
            <a:ext cx="5679440" cy="3224039"/>
          </a:xfrm>
          <a:prstGeom prst="rect">
            <a:avLst/>
          </a:prstGeom>
          <a:solidFill>
            <a:srgbClr val="CCD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ZA" dirty="0">
                <a:solidFill>
                  <a:schemeClr val="tx2"/>
                </a:solidFill>
              </a:rPr>
              <a:t>Host Matrix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754B4A-262A-61F1-0095-F91BB57873BC}"/>
              </a:ext>
            </a:extLst>
          </p:cNvPr>
          <p:cNvCxnSpPr>
            <a:cxnSpLocks/>
          </p:cNvCxnSpPr>
          <p:nvPr/>
        </p:nvCxnSpPr>
        <p:spPr>
          <a:xfrm>
            <a:off x="6434432" y="4008122"/>
            <a:ext cx="107720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8678B3AC-DFDF-3C1F-F3A3-8586E7DDC068}"/>
              </a:ext>
            </a:extLst>
          </p:cNvPr>
          <p:cNvSpPr/>
          <p:nvPr/>
        </p:nvSpPr>
        <p:spPr>
          <a:xfrm>
            <a:off x="9774294" y="2813182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E07A02A-A8E1-EA19-6CE5-EF04A36DBD35}"/>
              </a:ext>
            </a:extLst>
          </p:cNvPr>
          <p:cNvSpPr/>
          <p:nvPr/>
        </p:nvSpPr>
        <p:spPr>
          <a:xfrm>
            <a:off x="6624320" y="2936431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D905CF-2313-0C44-D630-96CCBF48D5D2}"/>
              </a:ext>
            </a:extLst>
          </p:cNvPr>
          <p:cNvSpPr txBox="1"/>
          <p:nvPr/>
        </p:nvSpPr>
        <p:spPr>
          <a:xfrm>
            <a:off x="10080349" y="2806911"/>
            <a:ext cx="1711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chemeClr val="tx2"/>
                </a:solidFill>
              </a:rPr>
              <a:t>Active </a:t>
            </a:r>
            <a:r>
              <a:rPr lang="en-ZA" dirty="0" err="1">
                <a:solidFill>
                  <a:schemeClr val="tx2"/>
                </a:solidFill>
              </a:rPr>
              <a:t>center</a:t>
            </a:r>
            <a:endParaRPr lang="en-ZA" dirty="0">
              <a:solidFill>
                <a:schemeClr val="tx2"/>
              </a:solidFill>
            </a:endParaRP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7BF0EB7C-1937-4E7C-3FEE-D6B287723818}"/>
              </a:ext>
            </a:extLst>
          </p:cNvPr>
          <p:cNvSpPr/>
          <p:nvPr/>
        </p:nvSpPr>
        <p:spPr>
          <a:xfrm>
            <a:off x="10530407" y="3967323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22" name="Partial Circle 21">
            <a:extLst>
              <a:ext uri="{FF2B5EF4-FFF2-40B4-BE49-F238E27FC236}">
                <a16:creationId xmlns:a16="http://schemas.microsoft.com/office/drawing/2014/main" id="{60584A4F-925F-35C8-3B49-06EAFA55A66C}"/>
              </a:ext>
            </a:extLst>
          </p:cNvPr>
          <p:cNvSpPr/>
          <p:nvPr/>
        </p:nvSpPr>
        <p:spPr>
          <a:xfrm>
            <a:off x="8130294" y="2816243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23" name="Partial Circle 22">
            <a:extLst>
              <a:ext uri="{FF2B5EF4-FFF2-40B4-BE49-F238E27FC236}">
                <a16:creationId xmlns:a16="http://schemas.microsoft.com/office/drawing/2014/main" id="{A946F548-C490-4358-A4C5-B12AB655F331}"/>
              </a:ext>
            </a:extLst>
          </p:cNvPr>
          <p:cNvSpPr/>
          <p:nvPr/>
        </p:nvSpPr>
        <p:spPr>
          <a:xfrm>
            <a:off x="6074432" y="4767170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F1488F-6D66-AD31-2885-F226125A1C84}"/>
              </a:ext>
            </a:extLst>
          </p:cNvPr>
          <p:cNvSpPr txBox="1"/>
          <p:nvPr/>
        </p:nvSpPr>
        <p:spPr>
          <a:xfrm>
            <a:off x="8486000" y="2838124"/>
            <a:ext cx="1711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chemeClr val="tx2"/>
                </a:solidFill>
              </a:rPr>
              <a:t>Defect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C3CE76-8629-A5F5-4753-AADDC81058D4}"/>
              </a:ext>
            </a:extLst>
          </p:cNvPr>
          <p:cNvCxnSpPr>
            <a:cxnSpLocks/>
          </p:cNvCxnSpPr>
          <p:nvPr/>
        </p:nvCxnSpPr>
        <p:spPr>
          <a:xfrm>
            <a:off x="6434432" y="4225161"/>
            <a:ext cx="1077209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EB16318-9C61-6BD1-238D-87681761842C}"/>
              </a:ext>
            </a:extLst>
          </p:cNvPr>
          <p:cNvCxnSpPr>
            <a:cxnSpLocks/>
          </p:cNvCxnSpPr>
          <p:nvPr/>
        </p:nvCxnSpPr>
        <p:spPr>
          <a:xfrm>
            <a:off x="7930528" y="4014591"/>
            <a:ext cx="107720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DA87547-F749-6CB7-5AA3-3C8599D46E2E}"/>
              </a:ext>
            </a:extLst>
          </p:cNvPr>
          <p:cNvCxnSpPr>
            <a:cxnSpLocks/>
          </p:cNvCxnSpPr>
          <p:nvPr/>
        </p:nvCxnSpPr>
        <p:spPr>
          <a:xfrm>
            <a:off x="7930528" y="4231630"/>
            <a:ext cx="1077209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5771240-2BDA-1187-341A-0E6212C41AFD}"/>
                  </a:ext>
                </a:extLst>
              </p:cNvPr>
              <p:cNvSpPr/>
              <p:nvPr/>
            </p:nvSpPr>
            <p:spPr>
              <a:xfrm>
                <a:off x="7859483" y="3907163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5771240-2BDA-1187-341A-0E6212C41A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83" y="3907163"/>
                <a:ext cx="180000" cy="180000"/>
              </a:xfrm>
              <a:prstGeom prst="ellipse">
                <a:avLst/>
              </a:prstGeom>
              <a:blipFill>
                <a:blip r:embed="rId4"/>
                <a:stretch>
                  <a:fillRect l="-6667" r="-23333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2DD41AA-6DA9-C5CD-8F67-542A36C88751}"/>
                  </a:ext>
                </a:extLst>
              </p:cNvPr>
              <p:cNvSpPr/>
              <p:nvPr/>
            </p:nvSpPr>
            <p:spPr>
              <a:xfrm>
                <a:off x="7859483" y="418564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2DD41AA-6DA9-C5CD-8F67-542A36C887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83" y="4185642"/>
                <a:ext cx="180000" cy="180000"/>
              </a:xfrm>
              <a:prstGeom prst="ellipse">
                <a:avLst/>
              </a:prstGeom>
              <a:blipFill>
                <a:blip r:embed="rId5"/>
                <a:stretch>
                  <a:fillRect l="-26667" t="-24138" r="-36667" b="-413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40B292E-3978-99ED-B604-F5214B8F3253}"/>
                  </a:ext>
                </a:extLst>
              </p:cNvPr>
              <p:cNvSpPr/>
              <p:nvPr/>
            </p:nvSpPr>
            <p:spPr>
              <a:xfrm>
                <a:off x="8030283" y="3752254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40B292E-3978-99ED-B604-F5214B8F32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283" y="3752254"/>
                <a:ext cx="180000" cy="180000"/>
              </a:xfrm>
              <a:prstGeom prst="ellipse">
                <a:avLst/>
              </a:prstGeom>
              <a:blipFill>
                <a:blip r:embed="rId6"/>
                <a:stretch>
                  <a:fillRect l="-6667" r="-23333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A232F1B-2A93-0571-D005-9CC3B68BE090}"/>
                  </a:ext>
                </a:extLst>
              </p:cNvPr>
              <p:cNvSpPr/>
              <p:nvPr/>
            </p:nvSpPr>
            <p:spPr>
              <a:xfrm>
                <a:off x="8030283" y="403073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A232F1B-2A93-0571-D005-9CC3B68BE0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283" y="4030733"/>
                <a:ext cx="180000" cy="180000"/>
              </a:xfrm>
              <a:prstGeom prst="ellipse">
                <a:avLst/>
              </a:prstGeom>
              <a:blipFill>
                <a:blip r:embed="rId7"/>
                <a:stretch>
                  <a:fillRect l="-26667" t="-23333" r="-36667" b="-3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12EFE28-2472-343F-4053-60DE5278900A}"/>
                  </a:ext>
                </a:extLst>
              </p:cNvPr>
              <p:cNvSpPr/>
              <p:nvPr/>
            </p:nvSpPr>
            <p:spPr>
              <a:xfrm>
                <a:off x="6023779" y="3754763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12EFE28-2472-343F-4053-60DE527890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779" y="3754763"/>
                <a:ext cx="180000" cy="180000"/>
              </a:xfrm>
              <a:prstGeom prst="ellipse">
                <a:avLst/>
              </a:prstGeom>
              <a:blipFill>
                <a:blip r:embed="rId8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65FFA9F-4105-924B-8265-CC5D3F90719F}"/>
                  </a:ext>
                </a:extLst>
              </p:cNvPr>
              <p:cNvSpPr/>
              <p:nvPr/>
            </p:nvSpPr>
            <p:spPr>
              <a:xfrm>
                <a:off x="6023779" y="403324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65FFA9F-4105-924B-8265-CC5D3F9071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779" y="4033242"/>
                <a:ext cx="180000" cy="180000"/>
              </a:xfrm>
              <a:prstGeom prst="ellipse">
                <a:avLst/>
              </a:prstGeom>
              <a:blipFill>
                <a:blip r:embed="rId9"/>
                <a:stretch>
                  <a:fillRect l="-26667" t="-24138" r="-36667" b="-413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2EF8381-6068-85AC-7E96-0A810949CA7B}"/>
                  </a:ext>
                </a:extLst>
              </p:cNvPr>
              <p:cNvSpPr/>
              <p:nvPr/>
            </p:nvSpPr>
            <p:spPr>
              <a:xfrm>
                <a:off x="6176179" y="3907163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2EF8381-6068-85AC-7E96-0A810949CA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179" y="3907163"/>
                <a:ext cx="180000" cy="180000"/>
              </a:xfrm>
              <a:prstGeom prst="ellipse">
                <a:avLst/>
              </a:prstGeom>
              <a:blipFill>
                <a:blip r:embed="rId8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F1A01E-8CC7-16E8-7E72-8A95CAE6887B}"/>
                  </a:ext>
                </a:extLst>
              </p:cNvPr>
              <p:cNvSpPr/>
              <p:nvPr/>
            </p:nvSpPr>
            <p:spPr>
              <a:xfrm>
                <a:off x="6176179" y="418564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F1A01E-8CC7-16E8-7E72-8A95CAE688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179" y="4185642"/>
                <a:ext cx="180000" cy="180000"/>
              </a:xfrm>
              <a:prstGeom prst="ellipse">
                <a:avLst/>
              </a:prstGeom>
              <a:blipFill>
                <a:blip r:embed="rId9"/>
                <a:stretch>
                  <a:fillRect l="-26667" t="-24138" r="-36667" b="-413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BAA3BC7-86DC-16E1-8222-866B90832565}"/>
                  </a:ext>
                </a:extLst>
              </p:cNvPr>
              <p:cNvSpPr/>
              <p:nvPr/>
            </p:nvSpPr>
            <p:spPr>
              <a:xfrm>
                <a:off x="6346979" y="3752254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BAA3BC7-86DC-16E1-8222-866B908325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979" y="3752254"/>
                <a:ext cx="180000" cy="180000"/>
              </a:xfrm>
              <a:prstGeom prst="ellipse">
                <a:avLst/>
              </a:prstGeom>
              <a:blipFill>
                <a:blip r:embed="rId10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A39B6511-F127-A548-2EE6-168C1CDC8704}"/>
                  </a:ext>
                </a:extLst>
              </p:cNvPr>
              <p:cNvSpPr/>
              <p:nvPr/>
            </p:nvSpPr>
            <p:spPr>
              <a:xfrm>
                <a:off x="6346979" y="403073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A39B6511-F127-A548-2EE6-168C1CDC87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979" y="4030733"/>
                <a:ext cx="180000" cy="180000"/>
              </a:xfrm>
              <a:prstGeom prst="ellipse">
                <a:avLst/>
              </a:prstGeom>
              <a:blipFill>
                <a:blip r:embed="rId11"/>
                <a:stretch>
                  <a:fillRect l="-26667" t="-23333" r="-36667" b="-3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E46235B-83B2-BFBC-53E0-46DC10F48ED4}"/>
                  </a:ext>
                </a:extLst>
              </p:cNvPr>
              <p:cNvSpPr/>
              <p:nvPr/>
            </p:nvSpPr>
            <p:spPr>
              <a:xfrm>
                <a:off x="9400050" y="3899211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E46235B-83B2-BFBC-53E0-46DC10F48E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0050" y="3899211"/>
                <a:ext cx="180000" cy="180000"/>
              </a:xfrm>
              <a:prstGeom prst="ellipse">
                <a:avLst/>
              </a:prstGeom>
              <a:blipFill>
                <a:blip r:embed="rId12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3B77F0B-6D37-8255-6A40-28A0035BBF91}"/>
                  </a:ext>
                </a:extLst>
              </p:cNvPr>
              <p:cNvSpPr/>
              <p:nvPr/>
            </p:nvSpPr>
            <p:spPr>
              <a:xfrm>
                <a:off x="9400050" y="417769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3B77F0B-6D37-8255-6A40-28A0035BBF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0050" y="4177690"/>
                <a:ext cx="180000" cy="180000"/>
              </a:xfrm>
              <a:prstGeom prst="ellipse">
                <a:avLst/>
              </a:prstGeom>
              <a:blipFill>
                <a:blip r:embed="rId13"/>
                <a:stretch>
                  <a:fillRect l="-26667" t="-23333" r="-36667" b="-4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raphic 59">
            <a:extLst>
              <a:ext uri="{FF2B5EF4-FFF2-40B4-BE49-F238E27FC236}">
                <a16:creationId xmlns:a16="http://schemas.microsoft.com/office/drawing/2014/main" id="{F8913762-BF23-51DF-C60A-54D7B586063C}"/>
              </a:ext>
            </a:extLst>
          </p:cNvPr>
          <p:cNvSpPr/>
          <p:nvPr/>
        </p:nvSpPr>
        <p:spPr>
          <a:xfrm rot="9226229" flipH="1">
            <a:off x="8976249" y="4777354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FF0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24F0556-2188-9866-25DF-4D8867B5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10</a:t>
            </a:fld>
            <a:endParaRPr lang="en-ZA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6E87E04-5E12-26AE-5E53-28794547D96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33" name="Picture 32" descr="A close-up of a logo&#10;&#10;Description automatically generated">
            <a:extLst>
              <a:ext uri="{FF2B5EF4-FFF2-40B4-BE49-F238E27FC236}">
                <a16:creationId xmlns:a16="http://schemas.microsoft.com/office/drawing/2014/main" id="{2BEE4511-5C2F-2E4E-C066-1150132724C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35" name="Graphic 59">
            <a:extLst>
              <a:ext uri="{FF2B5EF4-FFF2-40B4-BE49-F238E27FC236}">
                <a16:creationId xmlns:a16="http://schemas.microsoft.com/office/drawing/2014/main" id="{337E8E64-FF0F-F29E-CE1D-3F2391DFA7A7}"/>
              </a:ext>
            </a:extLst>
          </p:cNvPr>
          <p:cNvSpPr/>
          <p:nvPr/>
        </p:nvSpPr>
        <p:spPr>
          <a:xfrm rot="10800000" flipH="1" flipV="1">
            <a:off x="5021272" y="3819023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77D487-9040-2B53-942E-1B58EB4E1C58}"/>
              </a:ext>
            </a:extLst>
          </p:cNvPr>
          <p:cNvCxnSpPr>
            <a:cxnSpLocks/>
          </p:cNvCxnSpPr>
          <p:nvPr/>
        </p:nvCxnSpPr>
        <p:spPr>
          <a:xfrm>
            <a:off x="7787816" y="4304709"/>
            <a:ext cx="768605" cy="578801"/>
          </a:xfrm>
          <a:prstGeom prst="straightConnector1">
            <a:avLst/>
          </a:prstGeom>
          <a:ln w="38100">
            <a:solidFill>
              <a:schemeClr val="tx2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9BFA3CC-F1C7-771F-9A6E-42295326C6AB}"/>
              </a:ext>
            </a:extLst>
          </p:cNvPr>
          <p:cNvSpPr txBox="1"/>
          <p:nvPr/>
        </p:nvSpPr>
        <p:spPr>
          <a:xfrm>
            <a:off x="8127144" y="4327323"/>
            <a:ext cx="1076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chemeClr val="tx2"/>
                </a:solidFill>
              </a:rPr>
              <a:t>Phonon</a:t>
            </a:r>
          </a:p>
        </p:txBody>
      </p:sp>
      <p:sp>
        <p:nvSpPr>
          <p:cNvPr id="11" name="Partial Circle 10">
            <a:extLst>
              <a:ext uri="{FF2B5EF4-FFF2-40B4-BE49-F238E27FC236}">
                <a16:creationId xmlns:a16="http://schemas.microsoft.com/office/drawing/2014/main" id="{45D887BE-9703-D043-97C9-5ED27CE69C6A}"/>
              </a:ext>
            </a:extLst>
          </p:cNvPr>
          <p:cNvSpPr/>
          <p:nvPr/>
        </p:nvSpPr>
        <p:spPr>
          <a:xfrm>
            <a:off x="7490497" y="3967323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03B526-79EF-C392-FA6C-AD632EA094C1}"/>
              </a:ext>
            </a:extLst>
          </p:cNvPr>
          <p:cNvSpPr/>
          <p:nvPr/>
        </p:nvSpPr>
        <p:spPr>
          <a:xfrm>
            <a:off x="9010342" y="3967323"/>
            <a:ext cx="360000" cy="360000"/>
          </a:xfrm>
          <a:prstGeom prst="ellipse">
            <a:avLst/>
          </a:prstGeom>
          <a:solidFill>
            <a:srgbClr val="00B0F0"/>
          </a:solidFill>
          <a:ln w="571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952589-5A46-8A49-C85A-99C258C2E67D}"/>
              </a:ext>
            </a:extLst>
          </p:cNvPr>
          <p:cNvSpPr/>
          <p:nvPr/>
        </p:nvSpPr>
        <p:spPr>
          <a:xfrm>
            <a:off x="8572840" y="4976426"/>
            <a:ext cx="360000" cy="360000"/>
          </a:xfrm>
          <a:prstGeom prst="ellipse">
            <a:avLst/>
          </a:prstGeom>
          <a:solidFill>
            <a:srgbClr val="00B0F0"/>
          </a:solidFill>
          <a:ln w="571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19" name="Graphic 59">
            <a:extLst>
              <a:ext uri="{FF2B5EF4-FFF2-40B4-BE49-F238E27FC236}">
                <a16:creationId xmlns:a16="http://schemas.microsoft.com/office/drawing/2014/main" id="{918B2FF6-724D-206D-50A9-54CF6CAFCE4C}"/>
              </a:ext>
            </a:extLst>
          </p:cNvPr>
          <p:cNvSpPr/>
          <p:nvPr/>
        </p:nvSpPr>
        <p:spPr>
          <a:xfrm rot="7462651" flipH="1">
            <a:off x="9056739" y="3426580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FF0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898CC9-6B28-77D5-680F-19F14FCBDA4A}"/>
              </a:ext>
            </a:extLst>
          </p:cNvPr>
          <p:cNvSpPr txBox="1"/>
          <p:nvPr/>
        </p:nvSpPr>
        <p:spPr>
          <a:xfrm>
            <a:off x="9291090" y="5016107"/>
            <a:ext cx="1076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chemeClr val="tx2"/>
                </a:solidFill>
              </a:rPr>
              <a:t>Photon</a:t>
            </a:r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B516BA86-C776-1C83-6F6B-A44782FF6AAF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How scintillators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E03C53-47DE-E3F4-6805-DA42AC143797}"/>
              </a:ext>
            </a:extLst>
          </p:cNvPr>
          <p:cNvSpPr/>
          <p:nvPr/>
        </p:nvSpPr>
        <p:spPr>
          <a:xfrm>
            <a:off x="11591498" y="2333685"/>
            <a:ext cx="444935" cy="3224039"/>
          </a:xfrm>
          <a:prstGeom prst="rect">
            <a:avLst/>
          </a:prstGeom>
          <a:solidFill>
            <a:srgbClr val="004A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 anchorCtr="0"/>
          <a:lstStyle/>
          <a:p>
            <a:pPr algn="ctr"/>
            <a:r>
              <a:rPr lang="en-ZA" dirty="0">
                <a:solidFill>
                  <a:schemeClr val="bg1"/>
                </a:solidFill>
              </a:rPr>
              <a:t>Detector</a:t>
            </a:r>
          </a:p>
        </p:txBody>
      </p:sp>
    </p:spTree>
    <p:extLst>
      <p:ext uri="{BB962C8B-B14F-4D97-AF65-F5344CB8AC3E}">
        <p14:creationId xmlns:p14="http://schemas.microsoft.com/office/powerpoint/2010/main" val="2786104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91121-AB74-5C94-4BA9-C691A729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615AB9A-38AD-3668-4203-94871A02DBC4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EC07B-2019-316B-88A5-1CA5F072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Losses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DD926C-04DF-F814-5201-F32504A9D527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98E775-44D1-E3CB-6C5A-48350625FDF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908187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Phonon emission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Self-absorption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Scattering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16EEEB-A504-6879-AF4D-2E9AF7DD4C4D}"/>
              </a:ext>
            </a:extLst>
          </p:cNvPr>
          <p:cNvSpPr/>
          <p:nvPr/>
        </p:nvSpPr>
        <p:spPr>
          <a:xfrm>
            <a:off x="5913120" y="2330459"/>
            <a:ext cx="5679440" cy="3224039"/>
          </a:xfrm>
          <a:prstGeom prst="rect">
            <a:avLst/>
          </a:prstGeom>
          <a:solidFill>
            <a:srgbClr val="CCD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ZA" dirty="0">
                <a:solidFill>
                  <a:schemeClr val="tx2"/>
                </a:solidFill>
              </a:rPr>
              <a:t>Host Matrix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6D295EF-8B9F-4B00-1ECC-DBBB43E1EBD6}"/>
              </a:ext>
            </a:extLst>
          </p:cNvPr>
          <p:cNvCxnSpPr>
            <a:cxnSpLocks/>
          </p:cNvCxnSpPr>
          <p:nvPr/>
        </p:nvCxnSpPr>
        <p:spPr>
          <a:xfrm>
            <a:off x="6434432" y="4008122"/>
            <a:ext cx="107720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9572C14-C2EE-48FC-3539-2A8A5FD405E1}"/>
              </a:ext>
            </a:extLst>
          </p:cNvPr>
          <p:cNvCxnSpPr>
            <a:cxnSpLocks/>
          </p:cNvCxnSpPr>
          <p:nvPr/>
        </p:nvCxnSpPr>
        <p:spPr>
          <a:xfrm flipV="1">
            <a:off x="10814969" y="3475317"/>
            <a:ext cx="768605" cy="578801"/>
          </a:xfrm>
          <a:prstGeom prst="straightConnector1">
            <a:avLst/>
          </a:prstGeom>
          <a:ln w="38100">
            <a:solidFill>
              <a:schemeClr val="tx2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D67BD539-48F7-1A12-2914-F68CBED79322}"/>
              </a:ext>
            </a:extLst>
          </p:cNvPr>
          <p:cNvSpPr/>
          <p:nvPr/>
        </p:nvSpPr>
        <p:spPr>
          <a:xfrm>
            <a:off x="9774294" y="2813182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BF28F51-949C-67FB-508B-726DA6C45E8B}"/>
              </a:ext>
            </a:extLst>
          </p:cNvPr>
          <p:cNvSpPr/>
          <p:nvPr/>
        </p:nvSpPr>
        <p:spPr>
          <a:xfrm>
            <a:off x="6624320" y="2936431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7D919E-D4BA-38FD-4546-98A49EED4785}"/>
              </a:ext>
            </a:extLst>
          </p:cNvPr>
          <p:cNvSpPr txBox="1"/>
          <p:nvPr/>
        </p:nvSpPr>
        <p:spPr>
          <a:xfrm>
            <a:off x="9642363" y="2473146"/>
            <a:ext cx="1711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chemeClr val="tx2"/>
                </a:solidFill>
              </a:rPr>
              <a:t>Self-absorption</a:t>
            </a: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4F5E121D-DCCF-5CAB-E1CE-65CEEBAE15BC}"/>
              </a:ext>
            </a:extLst>
          </p:cNvPr>
          <p:cNvSpPr/>
          <p:nvPr/>
        </p:nvSpPr>
        <p:spPr>
          <a:xfrm>
            <a:off x="10530407" y="3967323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22" name="Partial Circle 21">
            <a:extLst>
              <a:ext uri="{FF2B5EF4-FFF2-40B4-BE49-F238E27FC236}">
                <a16:creationId xmlns:a16="http://schemas.microsoft.com/office/drawing/2014/main" id="{0A5483B3-7FC9-A56B-962C-3E037385AE1B}"/>
              </a:ext>
            </a:extLst>
          </p:cNvPr>
          <p:cNvSpPr/>
          <p:nvPr/>
        </p:nvSpPr>
        <p:spPr>
          <a:xfrm>
            <a:off x="8130294" y="2816243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23" name="Partial Circle 22">
            <a:extLst>
              <a:ext uri="{FF2B5EF4-FFF2-40B4-BE49-F238E27FC236}">
                <a16:creationId xmlns:a16="http://schemas.microsoft.com/office/drawing/2014/main" id="{A81E523C-8CFB-66E6-01AF-A76477DAD425}"/>
              </a:ext>
            </a:extLst>
          </p:cNvPr>
          <p:cNvSpPr/>
          <p:nvPr/>
        </p:nvSpPr>
        <p:spPr>
          <a:xfrm>
            <a:off x="6074432" y="4767170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00DE2F9-5C28-C753-79C3-DD1DEB8AA030}"/>
              </a:ext>
            </a:extLst>
          </p:cNvPr>
          <p:cNvCxnSpPr>
            <a:cxnSpLocks/>
          </p:cNvCxnSpPr>
          <p:nvPr/>
        </p:nvCxnSpPr>
        <p:spPr>
          <a:xfrm>
            <a:off x="6434432" y="4225161"/>
            <a:ext cx="1077209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3C9A632-4DB4-15D5-0D2D-0867DF269669}"/>
              </a:ext>
            </a:extLst>
          </p:cNvPr>
          <p:cNvCxnSpPr>
            <a:cxnSpLocks/>
          </p:cNvCxnSpPr>
          <p:nvPr/>
        </p:nvCxnSpPr>
        <p:spPr>
          <a:xfrm>
            <a:off x="7930528" y="4014591"/>
            <a:ext cx="107720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2AE1E01-2F77-FA81-1485-337A132FE59D}"/>
              </a:ext>
            </a:extLst>
          </p:cNvPr>
          <p:cNvCxnSpPr>
            <a:cxnSpLocks/>
          </p:cNvCxnSpPr>
          <p:nvPr/>
        </p:nvCxnSpPr>
        <p:spPr>
          <a:xfrm>
            <a:off x="7930528" y="4231630"/>
            <a:ext cx="1077209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49AB812-C153-AD93-F443-82E613783A1F}"/>
              </a:ext>
            </a:extLst>
          </p:cNvPr>
          <p:cNvCxnSpPr>
            <a:cxnSpLocks/>
          </p:cNvCxnSpPr>
          <p:nvPr/>
        </p:nvCxnSpPr>
        <p:spPr>
          <a:xfrm>
            <a:off x="9426624" y="4021060"/>
            <a:ext cx="107720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902CB1-56C8-CBE6-9BC6-F3929C07527F}"/>
              </a:ext>
            </a:extLst>
          </p:cNvPr>
          <p:cNvCxnSpPr>
            <a:cxnSpLocks/>
          </p:cNvCxnSpPr>
          <p:nvPr/>
        </p:nvCxnSpPr>
        <p:spPr>
          <a:xfrm>
            <a:off x="9426624" y="4238099"/>
            <a:ext cx="1077209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32C884A-ECDE-D08C-F3C3-5B8A82364710}"/>
                  </a:ext>
                </a:extLst>
              </p:cNvPr>
              <p:cNvSpPr/>
              <p:nvPr/>
            </p:nvSpPr>
            <p:spPr>
              <a:xfrm>
                <a:off x="7859483" y="3907163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32C884A-ECDE-D08C-F3C3-5B8A823647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83" y="3907163"/>
                <a:ext cx="180000" cy="180000"/>
              </a:xfrm>
              <a:prstGeom prst="ellipse">
                <a:avLst/>
              </a:prstGeom>
              <a:blipFill>
                <a:blip r:embed="rId3"/>
                <a:stretch>
                  <a:fillRect l="-6667" r="-23333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BD63C42-8593-BCEE-7C05-70F477377BC1}"/>
                  </a:ext>
                </a:extLst>
              </p:cNvPr>
              <p:cNvSpPr/>
              <p:nvPr/>
            </p:nvSpPr>
            <p:spPr>
              <a:xfrm>
                <a:off x="7859483" y="418564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BD63C42-8593-BCEE-7C05-70F477377B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83" y="4185642"/>
                <a:ext cx="180000" cy="180000"/>
              </a:xfrm>
              <a:prstGeom prst="ellipse">
                <a:avLst/>
              </a:prstGeom>
              <a:blipFill>
                <a:blip r:embed="rId4"/>
                <a:stretch>
                  <a:fillRect l="-26667" t="-24138" r="-36667" b="-413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0B6E2E1-CD9B-46F9-F938-AA81F1150862}"/>
                  </a:ext>
                </a:extLst>
              </p:cNvPr>
              <p:cNvSpPr/>
              <p:nvPr/>
            </p:nvSpPr>
            <p:spPr>
              <a:xfrm>
                <a:off x="8030283" y="3752254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0B6E2E1-CD9B-46F9-F938-AA81F11508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283" y="3752254"/>
                <a:ext cx="180000" cy="180000"/>
              </a:xfrm>
              <a:prstGeom prst="ellipse">
                <a:avLst/>
              </a:prstGeom>
              <a:blipFill>
                <a:blip r:embed="rId5"/>
                <a:stretch>
                  <a:fillRect l="-6667" r="-23333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3093810-A0D8-D408-2614-FEEE3EB4C9BE}"/>
                  </a:ext>
                </a:extLst>
              </p:cNvPr>
              <p:cNvSpPr/>
              <p:nvPr/>
            </p:nvSpPr>
            <p:spPr>
              <a:xfrm>
                <a:off x="8030283" y="403073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3093810-A0D8-D408-2614-FEEE3EB4C9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283" y="4030733"/>
                <a:ext cx="180000" cy="180000"/>
              </a:xfrm>
              <a:prstGeom prst="ellipse">
                <a:avLst/>
              </a:prstGeom>
              <a:blipFill>
                <a:blip r:embed="rId6"/>
                <a:stretch>
                  <a:fillRect l="-26667" t="-23333" r="-36667" b="-3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A4D8804B-5791-2AE9-5DF6-D6E40BB74E2E}"/>
                  </a:ext>
                </a:extLst>
              </p:cNvPr>
              <p:cNvSpPr/>
              <p:nvPr/>
            </p:nvSpPr>
            <p:spPr>
              <a:xfrm>
                <a:off x="6023779" y="3754763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A4D8804B-5791-2AE9-5DF6-D6E40BB74E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779" y="3754763"/>
                <a:ext cx="180000" cy="180000"/>
              </a:xfrm>
              <a:prstGeom prst="ellipse">
                <a:avLst/>
              </a:prstGeom>
              <a:blipFill>
                <a:blip r:embed="rId7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C0C9DDB-4326-8368-E9CC-E0BD8CB8DCC6}"/>
                  </a:ext>
                </a:extLst>
              </p:cNvPr>
              <p:cNvSpPr/>
              <p:nvPr/>
            </p:nvSpPr>
            <p:spPr>
              <a:xfrm>
                <a:off x="6023779" y="403324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C0C9DDB-4326-8368-E9CC-E0BD8CB8DC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779" y="4033242"/>
                <a:ext cx="180000" cy="180000"/>
              </a:xfrm>
              <a:prstGeom prst="ellipse">
                <a:avLst/>
              </a:prstGeom>
              <a:blipFill>
                <a:blip r:embed="rId8"/>
                <a:stretch>
                  <a:fillRect l="-26667" t="-24138" r="-36667" b="-413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E0784BE-EDCD-B514-3C7B-079DB16302C8}"/>
                  </a:ext>
                </a:extLst>
              </p:cNvPr>
              <p:cNvSpPr/>
              <p:nvPr/>
            </p:nvSpPr>
            <p:spPr>
              <a:xfrm>
                <a:off x="6176179" y="3907163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E0784BE-EDCD-B514-3C7B-079DB1630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179" y="3907163"/>
                <a:ext cx="180000" cy="180000"/>
              </a:xfrm>
              <a:prstGeom prst="ellipse">
                <a:avLst/>
              </a:prstGeom>
              <a:blipFill>
                <a:blip r:embed="rId7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A8D699E-E963-3E50-8F2D-3A520843B697}"/>
                  </a:ext>
                </a:extLst>
              </p:cNvPr>
              <p:cNvSpPr/>
              <p:nvPr/>
            </p:nvSpPr>
            <p:spPr>
              <a:xfrm>
                <a:off x="6176179" y="418564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A8D699E-E963-3E50-8F2D-3A520843B6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179" y="4185642"/>
                <a:ext cx="180000" cy="180000"/>
              </a:xfrm>
              <a:prstGeom prst="ellipse">
                <a:avLst/>
              </a:prstGeom>
              <a:blipFill>
                <a:blip r:embed="rId8"/>
                <a:stretch>
                  <a:fillRect l="-26667" t="-24138" r="-36667" b="-413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B00644A-6690-01F2-B8D1-290952D588E3}"/>
                  </a:ext>
                </a:extLst>
              </p:cNvPr>
              <p:cNvSpPr/>
              <p:nvPr/>
            </p:nvSpPr>
            <p:spPr>
              <a:xfrm>
                <a:off x="6346979" y="3752254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B00644A-6690-01F2-B8D1-290952D588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979" y="3752254"/>
                <a:ext cx="180000" cy="180000"/>
              </a:xfrm>
              <a:prstGeom prst="ellipse">
                <a:avLst/>
              </a:prstGeom>
              <a:blipFill>
                <a:blip r:embed="rId9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2912AF0-0657-1068-F5A7-68F5065611D4}"/>
                  </a:ext>
                </a:extLst>
              </p:cNvPr>
              <p:cNvSpPr/>
              <p:nvPr/>
            </p:nvSpPr>
            <p:spPr>
              <a:xfrm>
                <a:off x="6346979" y="403073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2912AF0-0657-1068-F5A7-68F5065611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979" y="4030733"/>
                <a:ext cx="180000" cy="180000"/>
              </a:xfrm>
              <a:prstGeom prst="ellipse">
                <a:avLst/>
              </a:prstGeom>
              <a:blipFill>
                <a:blip r:embed="rId10"/>
                <a:stretch>
                  <a:fillRect l="-26667" t="-23333" r="-36667" b="-3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10C64FC-5214-59EC-BDB5-7577A4A8FF01}"/>
                  </a:ext>
                </a:extLst>
              </p:cNvPr>
              <p:cNvSpPr/>
              <p:nvPr/>
            </p:nvSpPr>
            <p:spPr>
              <a:xfrm>
                <a:off x="9400050" y="3899211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10C64FC-5214-59EC-BDB5-7577A4A8FF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0050" y="3899211"/>
                <a:ext cx="180000" cy="180000"/>
              </a:xfrm>
              <a:prstGeom prst="ellipse">
                <a:avLst/>
              </a:prstGeom>
              <a:blipFill>
                <a:blip r:embed="rId11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E61008F-23EB-904E-233B-A5201752C02E}"/>
                  </a:ext>
                </a:extLst>
              </p:cNvPr>
              <p:cNvSpPr/>
              <p:nvPr/>
            </p:nvSpPr>
            <p:spPr>
              <a:xfrm>
                <a:off x="9400050" y="417769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E61008F-23EB-904E-233B-A5201752C0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0050" y="4177690"/>
                <a:ext cx="180000" cy="180000"/>
              </a:xfrm>
              <a:prstGeom prst="ellipse">
                <a:avLst/>
              </a:prstGeom>
              <a:blipFill>
                <a:blip r:embed="rId12"/>
                <a:stretch>
                  <a:fillRect l="-26667" t="-23333" r="-36667" b="-4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raphic 59">
            <a:extLst>
              <a:ext uri="{FF2B5EF4-FFF2-40B4-BE49-F238E27FC236}">
                <a16:creationId xmlns:a16="http://schemas.microsoft.com/office/drawing/2014/main" id="{12D15ABC-11BA-DA15-B38E-9A2E21270821}"/>
              </a:ext>
            </a:extLst>
          </p:cNvPr>
          <p:cNvSpPr/>
          <p:nvPr/>
        </p:nvSpPr>
        <p:spPr>
          <a:xfrm rot="9226229" flipH="1">
            <a:off x="9637627" y="4514486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FF0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577EC24-6720-A218-9CBA-12DDE965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11</a:t>
            </a:fld>
            <a:endParaRPr lang="en-ZA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B9FEC8E-AE79-C23C-D8ED-260D4F4D59B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33" name="Picture 32" descr="A close-up of a logo&#10;&#10;Description automatically generated">
            <a:extLst>
              <a:ext uri="{FF2B5EF4-FFF2-40B4-BE49-F238E27FC236}">
                <a16:creationId xmlns:a16="http://schemas.microsoft.com/office/drawing/2014/main" id="{89826C8B-9F82-D818-0EAB-72AED2F1E5D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35" name="Graphic 59">
            <a:extLst>
              <a:ext uri="{FF2B5EF4-FFF2-40B4-BE49-F238E27FC236}">
                <a16:creationId xmlns:a16="http://schemas.microsoft.com/office/drawing/2014/main" id="{EEFEDB01-C450-05D6-21A6-0D30144FC0D4}"/>
              </a:ext>
            </a:extLst>
          </p:cNvPr>
          <p:cNvSpPr/>
          <p:nvPr/>
        </p:nvSpPr>
        <p:spPr>
          <a:xfrm rot="10800000" flipH="1" flipV="1">
            <a:off x="5021272" y="3819023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378FD6-FD66-F5C0-7B26-83BF33B80871}"/>
              </a:ext>
            </a:extLst>
          </p:cNvPr>
          <p:cNvSpPr txBox="1"/>
          <p:nvPr/>
        </p:nvSpPr>
        <p:spPr>
          <a:xfrm>
            <a:off x="10364307" y="3475211"/>
            <a:ext cx="1076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chemeClr val="tx2"/>
                </a:solidFill>
              </a:rPr>
              <a:t>Phonon</a:t>
            </a:r>
          </a:p>
        </p:txBody>
      </p:sp>
      <p:sp>
        <p:nvSpPr>
          <p:cNvPr id="11" name="Partial Circle 10">
            <a:extLst>
              <a:ext uri="{FF2B5EF4-FFF2-40B4-BE49-F238E27FC236}">
                <a16:creationId xmlns:a16="http://schemas.microsoft.com/office/drawing/2014/main" id="{BBB0FC0B-4ABC-24F9-D919-51BFD3E29EA4}"/>
              </a:ext>
            </a:extLst>
          </p:cNvPr>
          <p:cNvSpPr/>
          <p:nvPr/>
        </p:nvSpPr>
        <p:spPr>
          <a:xfrm>
            <a:off x="7490497" y="3967323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288D72-5CDF-DD90-F74D-42D3B626C5BD}"/>
              </a:ext>
            </a:extLst>
          </p:cNvPr>
          <p:cNvSpPr/>
          <p:nvPr/>
        </p:nvSpPr>
        <p:spPr>
          <a:xfrm>
            <a:off x="9010342" y="3967323"/>
            <a:ext cx="360000" cy="360000"/>
          </a:xfrm>
          <a:prstGeom prst="ellipse">
            <a:avLst/>
          </a:prstGeom>
          <a:solidFill>
            <a:srgbClr val="00B0F0"/>
          </a:solidFill>
          <a:ln w="571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DAB0DFF-5113-2645-BC05-2B587BF1B5AE}"/>
              </a:ext>
            </a:extLst>
          </p:cNvPr>
          <p:cNvSpPr/>
          <p:nvPr/>
        </p:nvSpPr>
        <p:spPr>
          <a:xfrm>
            <a:off x="8572840" y="4976426"/>
            <a:ext cx="360000" cy="360000"/>
          </a:xfrm>
          <a:prstGeom prst="ellipse">
            <a:avLst/>
          </a:prstGeom>
          <a:solidFill>
            <a:srgbClr val="00B0F0"/>
          </a:solidFill>
          <a:ln w="571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19" name="Graphic 59">
            <a:extLst>
              <a:ext uri="{FF2B5EF4-FFF2-40B4-BE49-F238E27FC236}">
                <a16:creationId xmlns:a16="http://schemas.microsoft.com/office/drawing/2014/main" id="{7949C06B-2E4D-1BF4-4B29-BFF78E5559DC}"/>
              </a:ext>
            </a:extLst>
          </p:cNvPr>
          <p:cNvSpPr/>
          <p:nvPr/>
        </p:nvSpPr>
        <p:spPr>
          <a:xfrm rot="7462651" flipH="1">
            <a:off x="9056739" y="3426580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FF0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9EE0B2-7EB3-A65A-6F9F-E71F9C8FB9BE}"/>
              </a:ext>
            </a:extLst>
          </p:cNvPr>
          <p:cNvSpPr txBox="1"/>
          <p:nvPr/>
        </p:nvSpPr>
        <p:spPr>
          <a:xfrm>
            <a:off x="9639553" y="4864347"/>
            <a:ext cx="1436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chemeClr val="tx2"/>
                </a:solidFill>
              </a:rPr>
              <a:t>Scattering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FC9379-BA94-5221-C638-B55102BA6947}"/>
              </a:ext>
            </a:extLst>
          </p:cNvPr>
          <p:cNvSpPr/>
          <p:nvPr/>
        </p:nvSpPr>
        <p:spPr>
          <a:xfrm>
            <a:off x="9772518" y="2817774"/>
            <a:ext cx="360000" cy="360000"/>
          </a:xfrm>
          <a:prstGeom prst="ellipse">
            <a:avLst/>
          </a:prstGeom>
          <a:solidFill>
            <a:srgbClr val="00B0F0"/>
          </a:solidFill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17" name="Graphic 59">
            <a:extLst>
              <a:ext uri="{FF2B5EF4-FFF2-40B4-BE49-F238E27FC236}">
                <a16:creationId xmlns:a16="http://schemas.microsoft.com/office/drawing/2014/main" id="{8EBE1075-8F54-978E-2FC8-4D9FFEA1686E}"/>
              </a:ext>
            </a:extLst>
          </p:cNvPr>
          <p:cNvSpPr/>
          <p:nvPr/>
        </p:nvSpPr>
        <p:spPr>
          <a:xfrm rot="14859123" flipH="1">
            <a:off x="10383380" y="4809733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FF0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4211D600-C4F9-D7FA-64CF-B19D27A841D2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How scintillators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0701D2-4F45-DBEA-C04C-3C9425E50DA2}"/>
              </a:ext>
            </a:extLst>
          </p:cNvPr>
          <p:cNvSpPr/>
          <p:nvPr/>
        </p:nvSpPr>
        <p:spPr>
          <a:xfrm>
            <a:off x="11591498" y="2333685"/>
            <a:ext cx="444935" cy="3224039"/>
          </a:xfrm>
          <a:prstGeom prst="rect">
            <a:avLst/>
          </a:prstGeom>
          <a:solidFill>
            <a:srgbClr val="004A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 anchorCtr="0"/>
          <a:lstStyle/>
          <a:p>
            <a:pPr algn="ctr"/>
            <a:r>
              <a:rPr lang="en-ZA" dirty="0">
                <a:solidFill>
                  <a:schemeClr val="bg1"/>
                </a:solidFill>
              </a:rPr>
              <a:t>Detector</a:t>
            </a:r>
          </a:p>
        </p:txBody>
      </p:sp>
    </p:spTree>
    <p:extLst>
      <p:ext uri="{BB962C8B-B14F-4D97-AF65-F5344CB8AC3E}">
        <p14:creationId xmlns:p14="http://schemas.microsoft.com/office/powerpoint/2010/main" val="3346987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9FA59-9208-331C-AD9E-23C60ADBD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B7C4B07-ACA5-0609-BA22-F4B3C6EF02DA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5DBC8-D7B2-9C39-B2BE-F4D10D6FF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What makes a good scintillator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9926EA-29EE-AA31-FFF9-6B83FF8ED61F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C4FBDD-DD92-E8BC-9D68-A1BD9E635261}"/>
              </a:ext>
            </a:extLst>
          </p:cNvPr>
          <p:cNvSpPr txBox="1">
            <a:spLocks/>
          </p:cNvSpPr>
          <p:nvPr/>
        </p:nvSpPr>
        <p:spPr>
          <a:xfrm>
            <a:off x="0" y="3095804"/>
            <a:ext cx="12192000" cy="1449421"/>
          </a:xfrm>
          <a:prstGeom prst="rect">
            <a:avLst/>
          </a:prstGeom>
        </p:spPr>
        <p:txBody>
          <a:bodyPr numCol="3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2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Light Yield</a:t>
            </a:r>
          </a:p>
          <a:p>
            <a:pPr algn="ctr">
              <a:lnSpc>
                <a:spcPct val="2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Fast Scintillation</a:t>
            </a:r>
          </a:p>
          <a:p>
            <a:pPr algn="ctr">
              <a:lnSpc>
                <a:spcPct val="2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Energy Resolution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C8B3C0C-CD71-CB47-F9ED-DFF0CDAAB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12</a:t>
            </a:fld>
            <a:endParaRPr lang="en-ZA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2E50BB7-F5FC-C82E-EF37-7658F6A37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33" name="Picture 32" descr="A close-up of a logo&#10;&#10;Description automatically generated">
            <a:extLst>
              <a:ext uri="{FF2B5EF4-FFF2-40B4-BE49-F238E27FC236}">
                <a16:creationId xmlns:a16="http://schemas.microsoft.com/office/drawing/2014/main" id="{9E6D2A9A-5CE4-F94E-3652-D72A22B47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42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31C0E-F860-8003-5793-A9D1FE97F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0DD2897-15B1-57CB-3509-9226506E7F35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554DB3-D8CA-860E-3D50-A8F4A06A1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Recap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77E8C6-D593-5B87-A916-879CBEFE12C6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73EC9-C0DB-B92A-02F3-91A0D8027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9246" y="1597246"/>
            <a:ext cx="2691589" cy="1800000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0D16CFB-D6FD-38C8-85B7-D1F218092BDC}"/>
              </a:ext>
            </a:extLst>
          </p:cNvPr>
          <p:cNvSpPr/>
          <p:nvPr/>
        </p:nvSpPr>
        <p:spPr>
          <a:xfrm flipH="1">
            <a:off x="9278414" y="2568436"/>
            <a:ext cx="361178" cy="363859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rgbClr val="004A7A"/>
              </a:solidFill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37C091CB-CFB2-731A-85AC-7BCD7BB3898D}"/>
              </a:ext>
            </a:extLst>
          </p:cNvPr>
          <p:cNvSpPr/>
          <p:nvPr/>
        </p:nvSpPr>
        <p:spPr>
          <a:xfrm>
            <a:off x="7993759" y="2753708"/>
            <a:ext cx="2411730" cy="2301137"/>
          </a:xfrm>
          <a:prstGeom prst="arc">
            <a:avLst>
              <a:gd name="adj1" fmla="val 10701404"/>
              <a:gd name="adj2" fmla="val 16445330"/>
            </a:avLst>
          </a:prstGeom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DDD408-4D7F-A51A-F68E-BA4BE601137C}"/>
              </a:ext>
            </a:extLst>
          </p:cNvPr>
          <p:cNvGrpSpPr/>
          <p:nvPr/>
        </p:nvGrpSpPr>
        <p:grpSpPr>
          <a:xfrm flipH="1">
            <a:off x="7218890" y="4095318"/>
            <a:ext cx="1152000" cy="1148400"/>
            <a:chOff x="8246254" y="1778087"/>
            <a:chExt cx="1152000" cy="11484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350C64F-20DD-3CA3-7A8F-33352FFB0AF3}"/>
                </a:ext>
              </a:extLst>
            </p:cNvPr>
            <p:cNvSpPr/>
            <p:nvPr/>
          </p:nvSpPr>
          <p:spPr>
            <a:xfrm>
              <a:off x="8812103" y="2495595"/>
              <a:ext cx="361178" cy="363859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3ED200B-E289-0A7A-82C2-4C0500B9344B}"/>
                </a:ext>
              </a:extLst>
            </p:cNvPr>
            <p:cNvSpPr/>
            <p:nvPr/>
          </p:nvSpPr>
          <p:spPr>
            <a:xfrm>
              <a:off x="9037076" y="2097246"/>
              <a:ext cx="361178" cy="363859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4859E37-049F-274B-DB80-7517F22ACF82}"/>
                </a:ext>
              </a:extLst>
            </p:cNvPr>
            <p:cNvSpPr/>
            <p:nvPr/>
          </p:nvSpPr>
          <p:spPr>
            <a:xfrm>
              <a:off x="8987675" y="2373755"/>
              <a:ext cx="361178" cy="363859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045B5F-4C29-9281-5717-137E19D110DF}"/>
                </a:ext>
              </a:extLst>
            </p:cNvPr>
            <p:cNvSpPr/>
            <p:nvPr/>
          </p:nvSpPr>
          <p:spPr>
            <a:xfrm>
              <a:off x="8710347" y="1797717"/>
              <a:ext cx="361178" cy="363859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7227938-68C6-D9D6-EB04-A98147EEFF71}"/>
                </a:ext>
              </a:extLst>
            </p:cNvPr>
            <p:cNvSpPr/>
            <p:nvPr/>
          </p:nvSpPr>
          <p:spPr>
            <a:xfrm>
              <a:off x="8738543" y="2247617"/>
              <a:ext cx="361178" cy="363859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D235683-A09E-F7F8-54A8-E15C20D2624D}"/>
                </a:ext>
              </a:extLst>
            </p:cNvPr>
            <p:cNvSpPr/>
            <p:nvPr/>
          </p:nvSpPr>
          <p:spPr>
            <a:xfrm>
              <a:off x="8593881" y="1778087"/>
              <a:ext cx="361178" cy="363859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8E0A37A-5B66-EC0D-F096-A836FA11C918}"/>
                </a:ext>
              </a:extLst>
            </p:cNvPr>
            <p:cNvSpPr/>
            <p:nvPr/>
          </p:nvSpPr>
          <p:spPr>
            <a:xfrm>
              <a:off x="8908846" y="1881540"/>
              <a:ext cx="361178" cy="363859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3551ACB-3C29-FB58-4313-E0E869B00987}"/>
                </a:ext>
              </a:extLst>
            </p:cNvPr>
            <p:cNvSpPr/>
            <p:nvPr/>
          </p:nvSpPr>
          <p:spPr>
            <a:xfrm>
              <a:off x="8728286" y="2562628"/>
              <a:ext cx="361178" cy="363859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BC2D519-27A2-975E-A86E-5648CED5CA6F}"/>
                </a:ext>
              </a:extLst>
            </p:cNvPr>
            <p:cNvSpPr/>
            <p:nvPr/>
          </p:nvSpPr>
          <p:spPr>
            <a:xfrm>
              <a:off x="9019601" y="2151429"/>
              <a:ext cx="361178" cy="363859"/>
            </a:xfrm>
            <a:prstGeom prst="ellipse">
              <a:avLst/>
            </a:prstGeom>
            <a:solidFill>
              <a:srgbClr val="004A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E5C6857-4ACF-43B5-7841-7FDEAC3D4464}"/>
                </a:ext>
              </a:extLst>
            </p:cNvPr>
            <p:cNvSpPr/>
            <p:nvPr/>
          </p:nvSpPr>
          <p:spPr>
            <a:xfrm>
              <a:off x="8331496" y="2420596"/>
              <a:ext cx="361178" cy="363859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BF70027-3971-3AAF-E4D0-9CF4022E5E51}"/>
                </a:ext>
              </a:extLst>
            </p:cNvPr>
            <p:cNvSpPr/>
            <p:nvPr/>
          </p:nvSpPr>
          <p:spPr>
            <a:xfrm>
              <a:off x="8246254" y="1982216"/>
              <a:ext cx="361178" cy="363859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1BA309A-BB71-DC22-7F56-192D628E314E}"/>
                </a:ext>
              </a:extLst>
            </p:cNvPr>
            <p:cNvSpPr/>
            <p:nvPr/>
          </p:nvSpPr>
          <p:spPr>
            <a:xfrm>
              <a:off x="8876920" y="2175456"/>
              <a:ext cx="361178" cy="363859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8AF6712-3046-05B0-6157-96208E3D4CE9}"/>
                </a:ext>
              </a:extLst>
            </p:cNvPr>
            <p:cNvSpPr/>
            <p:nvPr/>
          </p:nvSpPr>
          <p:spPr>
            <a:xfrm>
              <a:off x="8255915" y="2215642"/>
              <a:ext cx="361178" cy="363859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F49FE4C-B8D8-92C7-F4A1-D035A4C08829}"/>
                </a:ext>
              </a:extLst>
            </p:cNvPr>
            <p:cNvSpPr/>
            <p:nvPr/>
          </p:nvSpPr>
          <p:spPr>
            <a:xfrm>
              <a:off x="8672879" y="2019750"/>
              <a:ext cx="361178" cy="363859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A8D5CD4-72B4-3AAC-87A1-FA531BBF9153}"/>
                </a:ext>
              </a:extLst>
            </p:cNvPr>
            <p:cNvSpPr/>
            <p:nvPr/>
          </p:nvSpPr>
          <p:spPr>
            <a:xfrm>
              <a:off x="8506306" y="2187528"/>
              <a:ext cx="361178" cy="363859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B9F88C6-AB6C-CDF3-BA18-A54E26E48D8D}"/>
                </a:ext>
              </a:extLst>
            </p:cNvPr>
            <p:cNvSpPr/>
            <p:nvPr/>
          </p:nvSpPr>
          <p:spPr>
            <a:xfrm>
              <a:off x="8387077" y="1862132"/>
              <a:ext cx="361178" cy="363859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1C0CD67-0A46-0F5C-B7E7-C7650365329C}"/>
                </a:ext>
              </a:extLst>
            </p:cNvPr>
            <p:cNvSpPr/>
            <p:nvPr/>
          </p:nvSpPr>
          <p:spPr>
            <a:xfrm>
              <a:off x="8514866" y="2539315"/>
              <a:ext cx="361178" cy="363859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1008633-DB6B-9E7F-C5E6-2E0CA93C9083}"/>
                </a:ext>
              </a:extLst>
            </p:cNvPr>
            <p:cNvSpPr/>
            <p:nvPr/>
          </p:nvSpPr>
          <p:spPr>
            <a:xfrm>
              <a:off x="8661257" y="2357385"/>
              <a:ext cx="361178" cy="363859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C2811C-85DB-ECF2-7A19-B204932EB5FE}"/>
              </a:ext>
            </a:extLst>
          </p:cNvPr>
          <p:cNvGrpSpPr/>
          <p:nvPr/>
        </p:nvGrpSpPr>
        <p:grpSpPr>
          <a:xfrm flipH="1">
            <a:off x="4937910" y="4077546"/>
            <a:ext cx="1152000" cy="1148400"/>
            <a:chOff x="7153338" y="2179362"/>
            <a:chExt cx="574122" cy="56811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A9A4D40-F4ED-34F3-1F6D-57F2F6A4AD7C}"/>
                </a:ext>
              </a:extLst>
            </p:cNvPr>
            <p:cNvSpPr/>
            <p:nvPr/>
          </p:nvSpPr>
          <p:spPr>
            <a:xfrm>
              <a:off x="7435340" y="2534311"/>
              <a:ext cx="180000" cy="180000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35D6B04-7097-0EB6-FE1F-26DAFC308A1C}"/>
                </a:ext>
              </a:extLst>
            </p:cNvPr>
            <p:cNvSpPr/>
            <p:nvPr/>
          </p:nvSpPr>
          <p:spPr>
            <a:xfrm>
              <a:off x="7547460" y="2337249"/>
              <a:ext cx="180000" cy="180000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0AC0E8F-438D-F1A8-4007-978BA4B9C354}"/>
                </a:ext>
              </a:extLst>
            </p:cNvPr>
            <p:cNvSpPr/>
            <p:nvPr/>
          </p:nvSpPr>
          <p:spPr>
            <a:xfrm>
              <a:off x="7522840" y="2474037"/>
              <a:ext cx="180000" cy="180000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66DB529-F709-83A0-8D27-1A4AEB261568}"/>
                </a:ext>
              </a:extLst>
            </p:cNvPr>
            <p:cNvSpPr/>
            <p:nvPr/>
          </p:nvSpPr>
          <p:spPr>
            <a:xfrm>
              <a:off x="7384628" y="2189073"/>
              <a:ext cx="180000" cy="180000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E51435A-E5AB-E496-FDC7-30AA2EEE7773}"/>
                </a:ext>
              </a:extLst>
            </p:cNvPr>
            <p:cNvSpPr/>
            <p:nvPr/>
          </p:nvSpPr>
          <p:spPr>
            <a:xfrm>
              <a:off x="7398680" y="2411637"/>
              <a:ext cx="180000" cy="180000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CC948F8-959C-CE3A-CD9C-B8AF887A3B1A}"/>
                </a:ext>
              </a:extLst>
            </p:cNvPr>
            <p:cNvSpPr/>
            <p:nvPr/>
          </p:nvSpPr>
          <p:spPr>
            <a:xfrm>
              <a:off x="7326585" y="2179362"/>
              <a:ext cx="180000" cy="180000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B474664-DB84-A3F9-DFEE-534EE17CE39B}"/>
                </a:ext>
              </a:extLst>
            </p:cNvPr>
            <p:cNvSpPr/>
            <p:nvPr/>
          </p:nvSpPr>
          <p:spPr>
            <a:xfrm>
              <a:off x="7483554" y="2230540"/>
              <a:ext cx="180000" cy="180000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893D259-39C5-99BC-D3B4-41D4E6375054}"/>
                </a:ext>
              </a:extLst>
            </p:cNvPr>
            <p:cNvSpPr/>
            <p:nvPr/>
          </p:nvSpPr>
          <p:spPr>
            <a:xfrm>
              <a:off x="7393568" y="2567472"/>
              <a:ext cx="180000" cy="180000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7E8D424-480A-753A-7EEF-BFD875F2EAD6}"/>
                </a:ext>
              </a:extLst>
            </p:cNvPr>
            <p:cNvSpPr/>
            <p:nvPr/>
          </p:nvSpPr>
          <p:spPr>
            <a:xfrm>
              <a:off x="7538751" y="2364053"/>
              <a:ext cx="180000" cy="180000"/>
            </a:xfrm>
            <a:prstGeom prst="ellipse">
              <a:avLst/>
            </a:prstGeom>
            <a:solidFill>
              <a:srgbClr val="004A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22BB8CA-D400-4D0A-0390-6FFB91DECCA4}"/>
                </a:ext>
              </a:extLst>
            </p:cNvPr>
            <p:cNvSpPr/>
            <p:nvPr/>
          </p:nvSpPr>
          <p:spPr>
            <a:xfrm>
              <a:off x="7195820" y="2497209"/>
              <a:ext cx="180000" cy="180000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FC39083-D591-24C4-AA1E-979E0773AE20}"/>
                </a:ext>
              </a:extLst>
            </p:cNvPr>
            <p:cNvSpPr/>
            <p:nvPr/>
          </p:nvSpPr>
          <p:spPr>
            <a:xfrm>
              <a:off x="7153338" y="2280344"/>
              <a:ext cx="180000" cy="180000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C53AC60-F85E-9350-0D50-AE2535F14D37}"/>
                </a:ext>
              </a:extLst>
            </p:cNvPr>
            <p:cNvSpPr/>
            <p:nvPr/>
          </p:nvSpPr>
          <p:spPr>
            <a:xfrm>
              <a:off x="7467643" y="2375939"/>
              <a:ext cx="180000" cy="180000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8D0FC62-01E6-B706-8201-5BD3C9609872}"/>
                </a:ext>
              </a:extLst>
            </p:cNvPr>
            <p:cNvSpPr/>
            <p:nvPr/>
          </p:nvSpPr>
          <p:spPr>
            <a:xfrm>
              <a:off x="7158153" y="2395819"/>
              <a:ext cx="180000" cy="180000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A326E27-E1D9-2C4A-21D5-16DA13B41AA7}"/>
                </a:ext>
              </a:extLst>
            </p:cNvPr>
            <p:cNvSpPr/>
            <p:nvPr/>
          </p:nvSpPr>
          <p:spPr>
            <a:xfrm>
              <a:off x="7365955" y="2298912"/>
              <a:ext cx="180000" cy="180000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8EE2875-6301-45D0-6486-A7C3FE0478EF}"/>
                </a:ext>
              </a:extLst>
            </p:cNvPr>
            <p:cNvSpPr/>
            <p:nvPr/>
          </p:nvSpPr>
          <p:spPr>
            <a:xfrm>
              <a:off x="7282940" y="2381911"/>
              <a:ext cx="180000" cy="180000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5A96F15-D738-AFE8-01C4-FEDB8C12929F}"/>
                </a:ext>
              </a:extLst>
            </p:cNvPr>
            <p:cNvSpPr/>
            <p:nvPr/>
          </p:nvSpPr>
          <p:spPr>
            <a:xfrm>
              <a:off x="7236353" y="2234174"/>
              <a:ext cx="180000" cy="180000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A023636-52BD-C3C9-EAD8-3025C1FACBF4}"/>
                </a:ext>
              </a:extLst>
            </p:cNvPr>
            <p:cNvSpPr/>
            <p:nvPr/>
          </p:nvSpPr>
          <p:spPr>
            <a:xfrm>
              <a:off x="7287206" y="2555939"/>
              <a:ext cx="180000" cy="180000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4A7A"/>
                  </a:solidFill>
                </a:rPr>
                <a:t>n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097A0E5-568F-CAC5-B26F-829C8AB5A1E2}"/>
                </a:ext>
              </a:extLst>
            </p:cNvPr>
            <p:cNvSpPr/>
            <p:nvPr/>
          </p:nvSpPr>
          <p:spPr>
            <a:xfrm>
              <a:off x="7360163" y="2465939"/>
              <a:ext cx="180000" cy="180000"/>
            </a:xfrm>
            <a:prstGeom prst="ellipse">
              <a:avLst/>
            </a:prstGeom>
            <a:solidFill>
              <a:srgbClr val="004A7A"/>
            </a:solidFill>
            <a:ln w="3175">
              <a:solidFill>
                <a:srgbClr val="004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p</a:t>
              </a:r>
            </a:p>
          </p:txBody>
        </p:sp>
      </p:grpSp>
      <p:sp>
        <p:nvSpPr>
          <p:cNvPr id="50" name="Arc 49">
            <a:extLst>
              <a:ext uri="{FF2B5EF4-FFF2-40B4-BE49-F238E27FC236}">
                <a16:creationId xmlns:a16="http://schemas.microsoft.com/office/drawing/2014/main" id="{B72332E9-B67F-870A-694D-9E42AB707773}"/>
              </a:ext>
            </a:extLst>
          </p:cNvPr>
          <p:cNvSpPr/>
          <p:nvPr/>
        </p:nvSpPr>
        <p:spPr>
          <a:xfrm flipH="1" flipV="1">
            <a:off x="5614442" y="3819066"/>
            <a:ext cx="2200642" cy="955995"/>
          </a:xfrm>
          <a:prstGeom prst="arc">
            <a:avLst>
              <a:gd name="adj1" fmla="val 658052"/>
              <a:gd name="adj2" fmla="val 10215073"/>
            </a:avLst>
          </a:prstGeom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394D001D-E66E-E490-46D3-815122521BD6}"/>
                  </a:ext>
                </a:extLst>
              </p:cNvPr>
              <p:cNvSpPr/>
              <p:nvPr/>
            </p:nvSpPr>
            <p:spPr>
              <a:xfrm flipH="1">
                <a:off x="7570977" y="5302119"/>
                <a:ext cx="659090" cy="621908"/>
              </a:xfrm>
              <a:custGeom>
                <a:avLst/>
                <a:gdLst>
                  <a:gd name="connsiteX0" fmla="*/ 0 w 2184088"/>
                  <a:gd name="connsiteY0" fmla="*/ 0 h 926583"/>
                  <a:gd name="connsiteX1" fmla="*/ 2184088 w 2184088"/>
                  <a:gd name="connsiteY1" fmla="*/ 0 h 926583"/>
                  <a:gd name="connsiteX2" fmla="*/ 2184088 w 2184088"/>
                  <a:gd name="connsiteY2" fmla="*/ 926583 h 926583"/>
                  <a:gd name="connsiteX3" fmla="*/ 0 w 2184088"/>
                  <a:gd name="connsiteY3" fmla="*/ 926583 h 926583"/>
                  <a:gd name="connsiteX4" fmla="*/ 0 w 2184088"/>
                  <a:gd name="connsiteY4" fmla="*/ 0 h 92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4088" h="926583">
                    <a:moveTo>
                      <a:pt x="0" y="0"/>
                    </a:moveTo>
                    <a:lnTo>
                      <a:pt x="2184088" y="0"/>
                    </a:lnTo>
                    <a:lnTo>
                      <a:pt x="2184088" y="926583"/>
                    </a:lnTo>
                    <a:lnTo>
                      <a:pt x="0" y="926583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ZA" sz="2400" kern="1200" dirty="0"/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ZA" sz="2400" i="1" kern="1200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ZA" sz="2400" b="0" i="1" kern="120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  <m:sup>
                        <m:r>
                          <a:rPr lang="en-ZA" sz="2400" b="0" i="1" kern="1200" smtClean="0"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  <m:e>
                        <m:r>
                          <a:rPr lang="en-ZA" sz="2400" b="0" i="1" kern="120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sPre>
                  </m:oMath>
                </a14:m>
                <a:endParaRPr lang="en-US" sz="2400" kern="1200" dirty="0"/>
              </a:p>
            </p:txBody>
          </p:sp>
        </mc:Choice>
        <mc:Fallback xmlns=""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394D001D-E66E-E490-46D3-815122521B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70977" y="5302119"/>
                <a:ext cx="659090" cy="621908"/>
              </a:xfrm>
              <a:custGeom>
                <a:avLst/>
                <a:gdLst>
                  <a:gd name="connsiteX0" fmla="*/ 0 w 2184088"/>
                  <a:gd name="connsiteY0" fmla="*/ 0 h 926583"/>
                  <a:gd name="connsiteX1" fmla="*/ 2184088 w 2184088"/>
                  <a:gd name="connsiteY1" fmla="*/ 0 h 926583"/>
                  <a:gd name="connsiteX2" fmla="*/ 2184088 w 2184088"/>
                  <a:gd name="connsiteY2" fmla="*/ 926583 h 926583"/>
                  <a:gd name="connsiteX3" fmla="*/ 0 w 2184088"/>
                  <a:gd name="connsiteY3" fmla="*/ 926583 h 926583"/>
                  <a:gd name="connsiteX4" fmla="*/ 0 w 2184088"/>
                  <a:gd name="connsiteY4" fmla="*/ 0 h 92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4088" h="926583">
                    <a:moveTo>
                      <a:pt x="0" y="0"/>
                    </a:moveTo>
                    <a:lnTo>
                      <a:pt x="2184088" y="0"/>
                    </a:lnTo>
                    <a:lnTo>
                      <a:pt x="2184088" y="926583"/>
                    </a:lnTo>
                    <a:lnTo>
                      <a:pt x="0" y="9265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370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82EA03B-30A9-196F-35D3-B5C0525383B0}"/>
                  </a:ext>
                </a:extLst>
              </p:cNvPr>
              <p:cNvSpPr/>
              <p:nvPr/>
            </p:nvSpPr>
            <p:spPr>
              <a:xfrm flipH="1">
                <a:off x="5246729" y="5296743"/>
                <a:ext cx="659090" cy="621908"/>
              </a:xfrm>
              <a:custGeom>
                <a:avLst/>
                <a:gdLst>
                  <a:gd name="connsiteX0" fmla="*/ 0 w 2184088"/>
                  <a:gd name="connsiteY0" fmla="*/ 0 h 926583"/>
                  <a:gd name="connsiteX1" fmla="*/ 2184088 w 2184088"/>
                  <a:gd name="connsiteY1" fmla="*/ 0 h 926583"/>
                  <a:gd name="connsiteX2" fmla="*/ 2184088 w 2184088"/>
                  <a:gd name="connsiteY2" fmla="*/ 926583 h 926583"/>
                  <a:gd name="connsiteX3" fmla="*/ 0 w 2184088"/>
                  <a:gd name="connsiteY3" fmla="*/ 926583 h 926583"/>
                  <a:gd name="connsiteX4" fmla="*/ 0 w 2184088"/>
                  <a:gd name="connsiteY4" fmla="*/ 0 h 92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4088" h="926583">
                    <a:moveTo>
                      <a:pt x="0" y="0"/>
                    </a:moveTo>
                    <a:lnTo>
                      <a:pt x="2184088" y="0"/>
                    </a:lnTo>
                    <a:lnTo>
                      <a:pt x="2184088" y="926583"/>
                    </a:lnTo>
                    <a:lnTo>
                      <a:pt x="0" y="926583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ZA" sz="2400" kern="1200" dirty="0"/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ZA" sz="2400" i="1" kern="1200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ZA" sz="2400" b="0" i="1" kern="120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ZA" sz="2400" b="0" i="1" kern="1200" smtClean="0"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  <m:e>
                        <m:r>
                          <a:rPr lang="en-ZA" sz="2400" b="0" i="1" kern="120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sPre>
                  </m:oMath>
                </a14:m>
                <a:endParaRPr lang="en-US" sz="2400" kern="1200" dirty="0"/>
              </a:p>
            </p:txBody>
          </p:sp>
        </mc:Choice>
        <mc:Fallback xmlns=""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82EA03B-30A9-196F-35D3-B5C0525383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46729" y="5296743"/>
                <a:ext cx="659090" cy="621908"/>
              </a:xfrm>
              <a:custGeom>
                <a:avLst/>
                <a:gdLst>
                  <a:gd name="connsiteX0" fmla="*/ 0 w 2184088"/>
                  <a:gd name="connsiteY0" fmla="*/ 0 h 926583"/>
                  <a:gd name="connsiteX1" fmla="*/ 2184088 w 2184088"/>
                  <a:gd name="connsiteY1" fmla="*/ 0 h 926583"/>
                  <a:gd name="connsiteX2" fmla="*/ 2184088 w 2184088"/>
                  <a:gd name="connsiteY2" fmla="*/ 926583 h 926583"/>
                  <a:gd name="connsiteX3" fmla="*/ 0 w 2184088"/>
                  <a:gd name="connsiteY3" fmla="*/ 926583 h 926583"/>
                  <a:gd name="connsiteX4" fmla="*/ 0 w 2184088"/>
                  <a:gd name="connsiteY4" fmla="*/ 0 h 92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4088" h="926583">
                    <a:moveTo>
                      <a:pt x="0" y="0"/>
                    </a:moveTo>
                    <a:lnTo>
                      <a:pt x="2184088" y="0"/>
                    </a:lnTo>
                    <a:lnTo>
                      <a:pt x="2184088" y="926583"/>
                    </a:lnTo>
                    <a:lnTo>
                      <a:pt x="0" y="9265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78C0A1A-CFA1-A32F-2F14-43FB63CB4A1F}"/>
                  </a:ext>
                </a:extLst>
              </p:cNvPr>
              <p:cNvSpPr/>
              <p:nvPr/>
            </p:nvSpPr>
            <p:spPr>
              <a:xfrm flipH="1">
                <a:off x="1592944" y="4519964"/>
                <a:ext cx="659090" cy="621908"/>
              </a:xfrm>
              <a:custGeom>
                <a:avLst/>
                <a:gdLst>
                  <a:gd name="connsiteX0" fmla="*/ 0 w 2184088"/>
                  <a:gd name="connsiteY0" fmla="*/ 0 h 926583"/>
                  <a:gd name="connsiteX1" fmla="*/ 2184088 w 2184088"/>
                  <a:gd name="connsiteY1" fmla="*/ 0 h 926583"/>
                  <a:gd name="connsiteX2" fmla="*/ 2184088 w 2184088"/>
                  <a:gd name="connsiteY2" fmla="*/ 926583 h 926583"/>
                  <a:gd name="connsiteX3" fmla="*/ 0 w 2184088"/>
                  <a:gd name="connsiteY3" fmla="*/ 926583 h 926583"/>
                  <a:gd name="connsiteX4" fmla="*/ 0 w 2184088"/>
                  <a:gd name="connsiteY4" fmla="*/ 0 h 92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4088" h="926583">
                    <a:moveTo>
                      <a:pt x="0" y="0"/>
                    </a:moveTo>
                    <a:lnTo>
                      <a:pt x="2184088" y="0"/>
                    </a:lnTo>
                    <a:lnTo>
                      <a:pt x="2184088" y="926583"/>
                    </a:lnTo>
                    <a:lnTo>
                      <a:pt x="0" y="926583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ZA" sz="2400" kern="12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ZA" sz="2400" b="0" i="1" kern="120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ZA" sz="2400" b="0" i="1" kern="120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ZA" sz="2400" b="0" i="1" kern="120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en-US" sz="2400" kern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78C0A1A-CFA1-A32F-2F14-43FB63CB4A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92944" y="4519964"/>
                <a:ext cx="659090" cy="621908"/>
              </a:xfrm>
              <a:custGeom>
                <a:avLst/>
                <a:gdLst>
                  <a:gd name="connsiteX0" fmla="*/ 0 w 2184088"/>
                  <a:gd name="connsiteY0" fmla="*/ 0 h 926583"/>
                  <a:gd name="connsiteX1" fmla="*/ 2184088 w 2184088"/>
                  <a:gd name="connsiteY1" fmla="*/ 0 h 926583"/>
                  <a:gd name="connsiteX2" fmla="*/ 2184088 w 2184088"/>
                  <a:gd name="connsiteY2" fmla="*/ 926583 h 926583"/>
                  <a:gd name="connsiteX3" fmla="*/ 0 w 2184088"/>
                  <a:gd name="connsiteY3" fmla="*/ 926583 h 926583"/>
                  <a:gd name="connsiteX4" fmla="*/ 0 w 2184088"/>
                  <a:gd name="connsiteY4" fmla="*/ 0 h 92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4088" h="926583">
                    <a:moveTo>
                      <a:pt x="0" y="0"/>
                    </a:moveTo>
                    <a:lnTo>
                      <a:pt x="2184088" y="0"/>
                    </a:lnTo>
                    <a:lnTo>
                      <a:pt x="2184088" y="926583"/>
                    </a:lnTo>
                    <a:lnTo>
                      <a:pt x="0" y="9265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Graphic 59">
            <a:extLst>
              <a:ext uri="{FF2B5EF4-FFF2-40B4-BE49-F238E27FC236}">
                <a16:creationId xmlns:a16="http://schemas.microsoft.com/office/drawing/2014/main" id="{83105A31-7E6B-E0ED-3623-D206AA0CEDC2}"/>
              </a:ext>
            </a:extLst>
          </p:cNvPr>
          <p:cNvSpPr/>
          <p:nvPr/>
        </p:nvSpPr>
        <p:spPr>
          <a:xfrm rot="1415658" flipH="1" flipV="1">
            <a:off x="2245233" y="3927230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26" name="Arc 1025">
            <a:extLst>
              <a:ext uri="{FF2B5EF4-FFF2-40B4-BE49-F238E27FC236}">
                <a16:creationId xmlns:a16="http://schemas.microsoft.com/office/drawing/2014/main" id="{C68B0BE1-53AE-3C04-B0F0-4D8B0C0F6186}"/>
              </a:ext>
            </a:extLst>
          </p:cNvPr>
          <p:cNvSpPr/>
          <p:nvPr/>
        </p:nvSpPr>
        <p:spPr>
          <a:xfrm flipH="1">
            <a:off x="5835063" y="2870975"/>
            <a:ext cx="1724572" cy="955995"/>
          </a:xfrm>
          <a:prstGeom prst="arc">
            <a:avLst>
              <a:gd name="adj1" fmla="val 568531"/>
              <a:gd name="adj2" fmla="val 5391173"/>
            </a:avLst>
          </a:prstGeom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0CC6F284-F1BA-5330-EC57-0ECD17309072}"/>
                  </a:ext>
                </a:extLst>
              </p:cNvPr>
              <p:cNvSpPr/>
              <p:nvPr/>
            </p:nvSpPr>
            <p:spPr>
              <a:xfrm flipH="1">
                <a:off x="5399187" y="2960045"/>
                <a:ext cx="659090" cy="621908"/>
              </a:xfrm>
              <a:custGeom>
                <a:avLst/>
                <a:gdLst>
                  <a:gd name="connsiteX0" fmla="*/ 0 w 2184088"/>
                  <a:gd name="connsiteY0" fmla="*/ 0 h 926583"/>
                  <a:gd name="connsiteX1" fmla="*/ 2184088 w 2184088"/>
                  <a:gd name="connsiteY1" fmla="*/ 0 h 926583"/>
                  <a:gd name="connsiteX2" fmla="*/ 2184088 w 2184088"/>
                  <a:gd name="connsiteY2" fmla="*/ 926583 h 926583"/>
                  <a:gd name="connsiteX3" fmla="*/ 0 w 2184088"/>
                  <a:gd name="connsiteY3" fmla="*/ 926583 h 926583"/>
                  <a:gd name="connsiteX4" fmla="*/ 0 w 2184088"/>
                  <a:gd name="connsiteY4" fmla="*/ 0 h 92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4088" h="926583">
                    <a:moveTo>
                      <a:pt x="0" y="0"/>
                    </a:moveTo>
                    <a:lnTo>
                      <a:pt x="2184088" y="0"/>
                    </a:lnTo>
                    <a:lnTo>
                      <a:pt x="2184088" y="926583"/>
                    </a:lnTo>
                    <a:lnTo>
                      <a:pt x="0" y="926583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ZA" sz="2400" kern="12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ZA" sz="2400" b="0" i="1" kern="120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ZA" sz="2400" b="0" i="1" kern="120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ZA" sz="2400" b="0" i="1" kern="120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sz="2400" kern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0CC6F284-F1BA-5330-EC57-0ECD173090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99187" y="2960045"/>
                <a:ext cx="659090" cy="621908"/>
              </a:xfrm>
              <a:custGeom>
                <a:avLst/>
                <a:gdLst>
                  <a:gd name="connsiteX0" fmla="*/ 0 w 2184088"/>
                  <a:gd name="connsiteY0" fmla="*/ 0 h 926583"/>
                  <a:gd name="connsiteX1" fmla="*/ 2184088 w 2184088"/>
                  <a:gd name="connsiteY1" fmla="*/ 0 h 926583"/>
                  <a:gd name="connsiteX2" fmla="*/ 2184088 w 2184088"/>
                  <a:gd name="connsiteY2" fmla="*/ 926583 h 926583"/>
                  <a:gd name="connsiteX3" fmla="*/ 0 w 2184088"/>
                  <a:gd name="connsiteY3" fmla="*/ 926583 h 926583"/>
                  <a:gd name="connsiteX4" fmla="*/ 0 w 2184088"/>
                  <a:gd name="connsiteY4" fmla="*/ 0 h 92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4088" h="926583">
                    <a:moveTo>
                      <a:pt x="0" y="0"/>
                    </a:moveTo>
                    <a:lnTo>
                      <a:pt x="2184088" y="0"/>
                    </a:lnTo>
                    <a:lnTo>
                      <a:pt x="2184088" y="926583"/>
                    </a:lnTo>
                    <a:lnTo>
                      <a:pt x="0" y="9265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1" name="Arc 1030">
            <a:extLst>
              <a:ext uri="{FF2B5EF4-FFF2-40B4-BE49-F238E27FC236}">
                <a16:creationId xmlns:a16="http://schemas.microsoft.com/office/drawing/2014/main" id="{16826F73-B798-297D-6B76-A77EC29CB4B5}"/>
              </a:ext>
            </a:extLst>
          </p:cNvPr>
          <p:cNvSpPr/>
          <p:nvPr/>
        </p:nvSpPr>
        <p:spPr>
          <a:xfrm flipH="1" flipV="1">
            <a:off x="3594743" y="3164889"/>
            <a:ext cx="2716836" cy="2273288"/>
          </a:xfrm>
          <a:prstGeom prst="arc">
            <a:avLst>
              <a:gd name="adj1" fmla="val 815650"/>
              <a:gd name="adj2" fmla="val 7168307"/>
            </a:avLst>
          </a:prstGeom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32" name="Arc 1031">
            <a:extLst>
              <a:ext uri="{FF2B5EF4-FFF2-40B4-BE49-F238E27FC236}">
                <a16:creationId xmlns:a16="http://schemas.microsoft.com/office/drawing/2014/main" id="{BA65F369-E4A4-7602-36C1-4D35CC0E7DAC}"/>
              </a:ext>
            </a:extLst>
          </p:cNvPr>
          <p:cNvSpPr/>
          <p:nvPr/>
        </p:nvSpPr>
        <p:spPr>
          <a:xfrm>
            <a:off x="1522208" y="4087548"/>
            <a:ext cx="1724572" cy="955995"/>
          </a:xfrm>
          <a:prstGeom prst="arc">
            <a:avLst>
              <a:gd name="adj1" fmla="val 616694"/>
              <a:gd name="adj2" fmla="val 7582817"/>
            </a:avLst>
          </a:prstGeom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34" name="Graphic 59">
            <a:extLst>
              <a:ext uri="{FF2B5EF4-FFF2-40B4-BE49-F238E27FC236}">
                <a16:creationId xmlns:a16="http://schemas.microsoft.com/office/drawing/2014/main" id="{0A3A4F97-588A-26EC-4C38-97E86D8E3CE4}"/>
              </a:ext>
            </a:extLst>
          </p:cNvPr>
          <p:cNvSpPr/>
          <p:nvPr/>
        </p:nvSpPr>
        <p:spPr>
          <a:xfrm rot="12215658" flipH="1" flipV="1">
            <a:off x="3767715" y="4612358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pic>
        <p:nvPicPr>
          <p:cNvPr id="1036" name="Graphic 1035" descr="Collision with solid fill">
            <a:extLst>
              <a:ext uri="{FF2B5EF4-FFF2-40B4-BE49-F238E27FC236}">
                <a16:creationId xmlns:a16="http://schemas.microsoft.com/office/drawing/2014/main" id="{89670F5B-BC40-A5FC-581C-BC37C14AD6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06475" y="3937977"/>
            <a:ext cx="914400" cy="914400"/>
          </a:xfrm>
          <a:prstGeom prst="rect">
            <a:avLst/>
          </a:prstGeom>
        </p:spPr>
      </p:pic>
      <p:pic>
        <p:nvPicPr>
          <p:cNvPr id="58" name="Graphic 57" descr="Video camera with solid fill">
            <a:extLst>
              <a:ext uri="{FF2B5EF4-FFF2-40B4-BE49-F238E27FC236}">
                <a16:creationId xmlns:a16="http://schemas.microsoft.com/office/drawing/2014/main" id="{3903E79B-5108-2342-85A6-748A8911F2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592365">
            <a:off x="1349953" y="3025523"/>
            <a:ext cx="914400" cy="914400"/>
          </a:xfrm>
          <a:prstGeom prst="rect">
            <a:avLst/>
          </a:prstGeom>
        </p:spPr>
      </p:pic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99133248-2907-AC9D-4BAB-CE5BDE347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13</a:t>
            </a:fld>
            <a:endParaRPr lang="en-ZA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58C6FFB5-72DA-35FD-9BB9-82E31539A0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57" name="Picture 56" descr="A close-up of a logo&#10;&#10;Description automatically generated">
            <a:extLst>
              <a:ext uri="{FF2B5EF4-FFF2-40B4-BE49-F238E27FC236}">
                <a16:creationId xmlns:a16="http://schemas.microsoft.com/office/drawing/2014/main" id="{E9F750B9-4B1F-4982-0E5B-92A3FC0EF8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1866D60D-0413-F40B-4722-4FBAB04ECFA6}"/>
              </a:ext>
            </a:extLst>
          </p:cNvPr>
          <p:cNvGrpSpPr/>
          <p:nvPr/>
        </p:nvGrpSpPr>
        <p:grpSpPr>
          <a:xfrm flipH="1">
            <a:off x="8981321" y="3832204"/>
            <a:ext cx="1440000" cy="1440000"/>
            <a:chOff x="6994542" y="1769576"/>
            <a:chExt cx="1440000" cy="1440000"/>
          </a:xfrm>
        </p:grpSpPr>
        <p:sp>
          <p:nvSpPr>
            <p:cNvPr id="6" name="Flowchart: Delay 5">
              <a:extLst>
                <a:ext uri="{FF2B5EF4-FFF2-40B4-BE49-F238E27FC236}">
                  <a16:creationId xmlns:a16="http://schemas.microsoft.com/office/drawing/2014/main" id="{793EC63A-AD62-8B24-B342-3D33470D410D}"/>
                </a:ext>
              </a:extLst>
            </p:cNvPr>
            <p:cNvSpPr/>
            <p:nvPr/>
          </p:nvSpPr>
          <p:spPr>
            <a:xfrm rot="8119882">
              <a:off x="7361653" y="2678315"/>
              <a:ext cx="203607" cy="117293"/>
            </a:xfrm>
            <a:prstGeom prst="flowChartDelay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Flowchart: Delay 8">
              <a:extLst>
                <a:ext uri="{FF2B5EF4-FFF2-40B4-BE49-F238E27FC236}">
                  <a16:creationId xmlns:a16="http://schemas.microsoft.com/office/drawing/2014/main" id="{1F20036E-589B-1E96-61EF-D097D64285A0}"/>
                </a:ext>
              </a:extLst>
            </p:cNvPr>
            <p:cNvSpPr/>
            <p:nvPr/>
          </p:nvSpPr>
          <p:spPr>
            <a:xfrm rot="8119882">
              <a:off x="7493581" y="2459304"/>
              <a:ext cx="235004" cy="276079"/>
            </a:xfrm>
            <a:prstGeom prst="flowChartDelay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60" name="Graphic 59" descr="Needle outline">
              <a:extLst>
                <a:ext uri="{FF2B5EF4-FFF2-40B4-BE49-F238E27FC236}">
                  <a16:creationId xmlns:a16="http://schemas.microsoft.com/office/drawing/2014/main" id="{A4DC2D34-58CF-2BDD-27AB-E59B7272E8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994542" y="1769576"/>
              <a:ext cx="1440000" cy="1440000"/>
            </a:xfrm>
            <a:prstGeom prst="rect">
              <a:avLst/>
            </a:prstGeom>
          </p:spPr>
        </p:pic>
      </p:grpSp>
      <p:sp>
        <p:nvSpPr>
          <p:cNvPr id="63" name="Arc 62">
            <a:extLst>
              <a:ext uri="{FF2B5EF4-FFF2-40B4-BE49-F238E27FC236}">
                <a16:creationId xmlns:a16="http://schemas.microsoft.com/office/drawing/2014/main" id="{2AFE3684-777D-9471-C560-F3EA72ED49C2}"/>
              </a:ext>
            </a:extLst>
          </p:cNvPr>
          <p:cNvSpPr/>
          <p:nvPr/>
        </p:nvSpPr>
        <p:spPr>
          <a:xfrm rot="5400000">
            <a:off x="9971122" y="4549147"/>
            <a:ext cx="1205736" cy="1110294"/>
          </a:xfrm>
          <a:prstGeom prst="arc">
            <a:avLst>
              <a:gd name="adj1" fmla="val 8036721"/>
              <a:gd name="adj2" fmla="val 10729154"/>
            </a:avLst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9426014C-144A-0354-6AAB-CD67CEFD57C5}"/>
              </a:ext>
            </a:extLst>
          </p:cNvPr>
          <p:cNvGrpSpPr/>
          <p:nvPr/>
        </p:nvGrpSpPr>
        <p:grpSpPr>
          <a:xfrm>
            <a:off x="9758895" y="3460755"/>
            <a:ext cx="2880000" cy="2880000"/>
            <a:chOff x="4128782" y="1727644"/>
            <a:chExt cx="2880000" cy="2880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55EC490-D0D4-1F17-2D85-699DFAD26211}"/>
                </a:ext>
              </a:extLst>
            </p:cNvPr>
            <p:cNvSpPr/>
            <p:nvPr/>
          </p:nvSpPr>
          <p:spPr>
            <a:xfrm>
              <a:off x="5128209" y="2192651"/>
              <a:ext cx="898077" cy="861646"/>
            </a:xfrm>
            <a:prstGeom prst="ellipse">
              <a:avLst/>
            </a:prstGeom>
            <a:solidFill>
              <a:srgbClr val="D1EFD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9" name="Flowchart: Delay 58">
              <a:extLst>
                <a:ext uri="{FF2B5EF4-FFF2-40B4-BE49-F238E27FC236}">
                  <a16:creationId xmlns:a16="http://schemas.microsoft.com/office/drawing/2014/main" id="{E44C7D76-6C4C-CC48-127B-5F8C623AC1B2}"/>
                </a:ext>
              </a:extLst>
            </p:cNvPr>
            <p:cNvSpPr/>
            <p:nvPr/>
          </p:nvSpPr>
          <p:spPr>
            <a:xfrm rot="16200000">
              <a:off x="5122788" y="2805292"/>
              <a:ext cx="908919" cy="1872764"/>
            </a:xfrm>
            <a:prstGeom prst="flowChartDelay">
              <a:avLst/>
            </a:prstGeom>
            <a:solidFill>
              <a:srgbClr val="D1EF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62" name="Graphic 61" descr="User outline">
              <a:extLst>
                <a:ext uri="{FF2B5EF4-FFF2-40B4-BE49-F238E27FC236}">
                  <a16:creationId xmlns:a16="http://schemas.microsoft.com/office/drawing/2014/main" id="{F379C72F-BAB9-3E26-B5D0-A129796004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28782" y="1727644"/>
              <a:ext cx="2880000" cy="2880000"/>
            </a:xfrm>
            <a:prstGeom prst="rect">
              <a:avLst/>
            </a:prstGeom>
          </p:spPr>
        </p:pic>
        <p:pic>
          <p:nvPicPr>
            <p:cNvPr id="1024" name="Graphic 1023" descr="Germ with solid fill">
              <a:extLst>
                <a:ext uri="{FF2B5EF4-FFF2-40B4-BE49-F238E27FC236}">
                  <a16:creationId xmlns:a16="http://schemas.microsoft.com/office/drawing/2014/main" id="{F1876B28-A464-AFEB-F6B2-EF50CEE474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558574" y="2327429"/>
              <a:ext cx="360000" cy="360000"/>
            </a:xfrm>
            <a:prstGeom prst="rect">
              <a:avLst/>
            </a:prstGeom>
          </p:spPr>
        </p:pic>
      </p:grpSp>
      <p:sp>
        <p:nvSpPr>
          <p:cNvPr id="1029" name="Arc 1028">
            <a:extLst>
              <a:ext uri="{FF2B5EF4-FFF2-40B4-BE49-F238E27FC236}">
                <a16:creationId xmlns:a16="http://schemas.microsoft.com/office/drawing/2014/main" id="{53816BB2-F508-76B2-FDD0-326AC3B3ECD3}"/>
              </a:ext>
            </a:extLst>
          </p:cNvPr>
          <p:cNvSpPr/>
          <p:nvPr/>
        </p:nvSpPr>
        <p:spPr>
          <a:xfrm>
            <a:off x="9977327" y="3345538"/>
            <a:ext cx="1724572" cy="955995"/>
          </a:xfrm>
          <a:prstGeom prst="arc">
            <a:avLst>
              <a:gd name="adj1" fmla="val 19666276"/>
              <a:gd name="adj2" fmla="val 875670"/>
            </a:avLst>
          </a:prstGeom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30" name="Title 1">
            <a:extLst>
              <a:ext uri="{FF2B5EF4-FFF2-40B4-BE49-F238E27FC236}">
                <a16:creationId xmlns:a16="http://schemas.microsoft.com/office/drawing/2014/main" id="{E2D5EA2C-45B7-ABA6-208B-279BFD7BE210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What makes a good scintillator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DCB5CE8C-FD55-2ED0-BC44-2F2611A1F707}"/>
              </a:ext>
            </a:extLst>
          </p:cNvPr>
          <p:cNvSpPr txBox="1"/>
          <p:nvPr/>
        </p:nvSpPr>
        <p:spPr>
          <a:xfrm>
            <a:off x="9039862" y="3354013"/>
            <a:ext cx="2313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/>
              <a:t>Fluorodeoxyglucose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8" name="TextBox 1037">
                <a:extLst>
                  <a:ext uri="{FF2B5EF4-FFF2-40B4-BE49-F238E27FC236}">
                    <a16:creationId xmlns:a16="http://schemas.microsoft.com/office/drawing/2014/main" id="{9C8FA44F-0CB9-C7EE-6FFC-B4671410A193}"/>
                  </a:ext>
                </a:extLst>
              </p:cNvPr>
              <p:cNvSpPr txBox="1"/>
              <p:nvPr/>
            </p:nvSpPr>
            <p:spPr>
              <a:xfrm>
                <a:off x="2113106" y="3510272"/>
                <a:ext cx="16312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511 </m:t>
                      </m:r>
                      <m:r>
                        <a:rPr lang="en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1038" name="TextBox 1037">
                <a:extLst>
                  <a:ext uri="{FF2B5EF4-FFF2-40B4-BE49-F238E27FC236}">
                    <a16:creationId xmlns:a16="http://schemas.microsoft.com/office/drawing/2014/main" id="{9C8FA44F-0CB9-C7EE-6FFC-B4671410A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106" y="3510272"/>
                <a:ext cx="163127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9" name="TextBox 1038">
                <a:extLst>
                  <a:ext uri="{FF2B5EF4-FFF2-40B4-BE49-F238E27FC236}">
                    <a16:creationId xmlns:a16="http://schemas.microsoft.com/office/drawing/2014/main" id="{B5984DA7-F659-CEBE-839B-19BD62D308C5}"/>
                  </a:ext>
                </a:extLst>
              </p:cNvPr>
              <p:cNvSpPr txBox="1"/>
              <p:nvPr/>
            </p:nvSpPr>
            <p:spPr>
              <a:xfrm>
                <a:off x="3550692" y="5053824"/>
                <a:ext cx="16312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511 </m:t>
                      </m:r>
                      <m:r>
                        <a:rPr lang="en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1039" name="TextBox 1038">
                <a:extLst>
                  <a:ext uri="{FF2B5EF4-FFF2-40B4-BE49-F238E27FC236}">
                    <a16:creationId xmlns:a16="http://schemas.microsoft.com/office/drawing/2014/main" id="{B5984DA7-F659-CEBE-839B-19BD62D30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692" y="5053824"/>
                <a:ext cx="163127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0" name="Content Placeholder 2">
                <a:extLst>
                  <a:ext uri="{FF2B5EF4-FFF2-40B4-BE49-F238E27FC236}">
                    <a16:creationId xmlns:a16="http://schemas.microsoft.com/office/drawing/2014/main" id="{13243659-4152-90D0-CE77-A2F02E2582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5181600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18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See the </a:t>
                </a:r>
                <a14:m>
                  <m:oMath xmlns:m="http://schemas.openxmlformats.org/officeDocument/2006/math">
                    <m:r>
                      <a:rPr lang="en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see the tumour</a:t>
                </a:r>
              </a:p>
            </p:txBody>
          </p:sp>
        </mc:Choice>
        <mc:Fallback xmlns="">
          <p:sp>
            <p:nvSpPr>
              <p:cNvPr id="1040" name="Content Placeholder 2">
                <a:extLst>
                  <a:ext uri="{FF2B5EF4-FFF2-40B4-BE49-F238E27FC236}">
                    <a16:creationId xmlns:a16="http://schemas.microsoft.com/office/drawing/2014/main" id="{13243659-4152-90D0-CE77-A2F02E258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5181600" cy="435133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528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A2811-6DA3-E71D-0D88-C47510EF0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282CD9F-75CF-4075-EAA6-D1ECB524876D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727096-DEB8-1495-5286-7DFF650A8F1D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1" name="Graphic 59">
            <a:extLst>
              <a:ext uri="{FF2B5EF4-FFF2-40B4-BE49-F238E27FC236}">
                <a16:creationId xmlns:a16="http://schemas.microsoft.com/office/drawing/2014/main" id="{1B51131A-D7C4-D164-A503-DED5FC961132}"/>
              </a:ext>
            </a:extLst>
          </p:cNvPr>
          <p:cNvSpPr/>
          <p:nvPr/>
        </p:nvSpPr>
        <p:spPr>
          <a:xfrm rot="6046038" flipH="1" flipV="1">
            <a:off x="925999" y="4627957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C00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34" name="Graphic 59">
            <a:extLst>
              <a:ext uri="{FF2B5EF4-FFF2-40B4-BE49-F238E27FC236}">
                <a16:creationId xmlns:a16="http://schemas.microsoft.com/office/drawing/2014/main" id="{B5654D45-AC80-8309-849E-CC48E44D7D30}"/>
              </a:ext>
            </a:extLst>
          </p:cNvPr>
          <p:cNvSpPr/>
          <p:nvPr/>
        </p:nvSpPr>
        <p:spPr>
          <a:xfrm rot="12215658" flipH="1" flipV="1">
            <a:off x="3767715" y="4612358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pic>
        <p:nvPicPr>
          <p:cNvPr id="1036" name="Graphic 1035" descr="Collision with solid fill">
            <a:extLst>
              <a:ext uri="{FF2B5EF4-FFF2-40B4-BE49-F238E27FC236}">
                <a16:creationId xmlns:a16="http://schemas.microsoft.com/office/drawing/2014/main" id="{A264D5B4-C036-A292-6BDE-2912A89956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6475" y="3937977"/>
            <a:ext cx="914400" cy="914400"/>
          </a:xfrm>
          <a:prstGeom prst="rect">
            <a:avLst/>
          </a:prstGeom>
        </p:spPr>
      </p:pic>
      <p:pic>
        <p:nvPicPr>
          <p:cNvPr id="58" name="Graphic 57" descr="Video camera with solid fill">
            <a:extLst>
              <a:ext uri="{FF2B5EF4-FFF2-40B4-BE49-F238E27FC236}">
                <a16:creationId xmlns:a16="http://schemas.microsoft.com/office/drawing/2014/main" id="{F8A1FF63-CE88-D17A-B370-4FA9795F3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92365">
            <a:off x="1349953" y="3025523"/>
            <a:ext cx="914400" cy="914400"/>
          </a:xfrm>
          <a:prstGeom prst="rect">
            <a:avLst/>
          </a:prstGeom>
        </p:spPr>
      </p:pic>
      <p:sp>
        <p:nvSpPr>
          <p:cNvPr id="53" name="Graphic 59">
            <a:extLst>
              <a:ext uri="{FF2B5EF4-FFF2-40B4-BE49-F238E27FC236}">
                <a16:creationId xmlns:a16="http://schemas.microsoft.com/office/drawing/2014/main" id="{2ED43619-EC61-A847-494B-D40836F83D08}"/>
              </a:ext>
            </a:extLst>
          </p:cNvPr>
          <p:cNvSpPr/>
          <p:nvPr/>
        </p:nvSpPr>
        <p:spPr>
          <a:xfrm rot="19107423" flipH="1" flipV="1">
            <a:off x="7105775" y="4126555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54" name="Graphic 59">
            <a:extLst>
              <a:ext uri="{FF2B5EF4-FFF2-40B4-BE49-F238E27FC236}">
                <a16:creationId xmlns:a16="http://schemas.microsoft.com/office/drawing/2014/main" id="{F0C3EBA2-2922-6A58-DD5A-A9AB1687B8B6}"/>
              </a:ext>
            </a:extLst>
          </p:cNvPr>
          <p:cNvSpPr/>
          <p:nvPr/>
        </p:nvSpPr>
        <p:spPr>
          <a:xfrm rot="17819168" flipH="1" flipV="1">
            <a:off x="5325709" y="3879296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C00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57" name="Graphic 59">
            <a:extLst>
              <a:ext uri="{FF2B5EF4-FFF2-40B4-BE49-F238E27FC236}">
                <a16:creationId xmlns:a16="http://schemas.microsoft.com/office/drawing/2014/main" id="{394F2782-F739-899A-50A1-831EF9E61613}"/>
              </a:ext>
            </a:extLst>
          </p:cNvPr>
          <p:cNvSpPr/>
          <p:nvPr/>
        </p:nvSpPr>
        <p:spPr>
          <a:xfrm rot="6432731" flipH="1" flipV="1">
            <a:off x="8695697" y="2527895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59" name="Graphic 59">
            <a:extLst>
              <a:ext uri="{FF2B5EF4-FFF2-40B4-BE49-F238E27FC236}">
                <a16:creationId xmlns:a16="http://schemas.microsoft.com/office/drawing/2014/main" id="{9CE8D7F8-BE70-98B3-C964-8898E4F80618}"/>
              </a:ext>
            </a:extLst>
          </p:cNvPr>
          <p:cNvSpPr/>
          <p:nvPr/>
        </p:nvSpPr>
        <p:spPr>
          <a:xfrm rot="3579657" flipH="1" flipV="1">
            <a:off x="9516797" y="4700715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C00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60" name="Graphic 59">
            <a:extLst>
              <a:ext uri="{FF2B5EF4-FFF2-40B4-BE49-F238E27FC236}">
                <a16:creationId xmlns:a16="http://schemas.microsoft.com/office/drawing/2014/main" id="{56FFA220-29E2-DC6A-5CC8-85590FA030E8}"/>
              </a:ext>
            </a:extLst>
          </p:cNvPr>
          <p:cNvSpPr/>
          <p:nvPr/>
        </p:nvSpPr>
        <p:spPr>
          <a:xfrm rot="6672001" flipH="1" flipV="1">
            <a:off x="5818548" y="5383763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62" name="Graphic 59">
            <a:extLst>
              <a:ext uri="{FF2B5EF4-FFF2-40B4-BE49-F238E27FC236}">
                <a16:creationId xmlns:a16="http://schemas.microsoft.com/office/drawing/2014/main" id="{EA6EB697-D352-DB13-C649-69BB1D418C6B}"/>
              </a:ext>
            </a:extLst>
          </p:cNvPr>
          <p:cNvSpPr/>
          <p:nvPr/>
        </p:nvSpPr>
        <p:spPr>
          <a:xfrm rot="15600603" flipH="1" flipV="1">
            <a:off x="8155872" y="5287457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FFC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63" name="Graphic 59">
            <a:extLst>
              <a:ext uri="{FF2B5EF4-FFF2-40B4-BE49-F238E27FC236}">
                <a16:creationId xmlns:a16="http://schemas.microsoft.com/office/drawing/2014/main" id="{DAEA8850-BAAF-FE0F-B988-B281249C84D2}"/>
              </a:ext>
            </a:extLst>
          </p:cNvPr>
          <p:cNvSpPr/>
          <p:nvPr/>
        </p:nvSpPr>
        <p:spPr>
          <a:xfrm rot="15361675" flipH="1" flipV="1">
            <a:off x="3968655" y="3655007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FFC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24" name="Graphic 59">
            <a:extLst>
              <a:ext uri="{FF2B5EF4-FFF2-40B4-BE49-F238E27FC236}">
                <a16:creationId xmlns:a16="http://schemas.microsoft.com/office/drawing/2014/main" id="{3ACC1135-0E89-A627-893B-E3BAA5DE0164}"/>
              </a:ext>
            </a:extLst>
          </p:cNvPr>
          <p:cNvSpPr/>
          <p:nvPr/>
        </p:nvSpPr>
        <p:spPr>
          <a:xfrm rot="11177352" flipH="1" flipV="1">
            <a:off x="2166328" y="5046711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25" name="Graphic 59">
            <a:extLst>
              <a:ext uri="{FF2B5EF4-FFF2-40B4-BE49-F238E27FC236}">
                <a16:creationId xmlns:a16="http://schemas.microsoft.com/office/drawing/2014/main" id="{72B03DCF-5F16-F4DD-91D8-00AC606E134D}"/>
              </a:ext>
            </a:extLst>
          </p:cNvPr>
          <p:cNvSpPr/>
          <p:nvPr/>
        </p:nvSpPr>
        <p:spPr>
          <a:xfrm rot="11177352" flipH="1" flipV="1">
            <a:off x="398059" y="2677962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28" name="Graphic 59">
            <a:extLst>
              <a:ext uri="{FF2B5EF4-FFF2-40B4-BE49-F238E27FC236}">
                <a16:creationId xmlns:a16="http://schemas.microsoft.com/office/drawing/2014/main" id="{4D30C60B-4A7C-FC6A-DCB9-DE5370157893}"/>
              </a:ext>
            </a:extLst>
          </p:cNvPr>
          <p:cNvSpPr/>
          <p:nvPr/>
        </p:nvSpPr>
        <p:spPr>
          <a:xfrm rot="19440258" flipH="1" flipV="1">
            <a:off x="158162" y="4106776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FFC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29" name="Graphic 59">
            <a:extLst>
              <a:ext uri="{FF2B5EF4-FFF2-40B4-BE49-F238E27FC236}">
                <a16:creationId xmlns:a16="http://schemas.microsoft.com/office/drawing/2014/main" id="{7CC4EFAD-5893-4656-97D8-59BB09F490C2}"/>
              </a:ext>
            </a:extLst>
          </p:cNvPr>
          <p:cNvSpPr/>
          <p:nvPr/>
        </p:nvSpPr>
        <p:spPr>
          <a:xfrm rot="19440258" flipH="1" flipV="1">
            <a:off x="10884329" y="2882478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30" name="Graphic 59">
            <a:extLst>
              <a:ext uri="{FF2B5EF4-FFF2-40B4-BE49-F238E27FC236}">
                <a16:creationId xmlns:a16="http://schemas.microsoft.com/office/drawing/2014/main" id="{594F2D32-E26B-1D8A-52BD-80AA689D3454}"/>
              </a:ext>
            </a:extLst>
          </p:cNvPr>
          <p:cNvSpPr/>
          <p:nvPr/>
        </p:nvSpPr>
        <p:spPr>
          <a:xfrm rot="20978644" flipH="1" flipV="1">
            <a:off x="6570264" y="2600258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FFC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33" name="Graphic 59">
            <a:extLst>
              <a:ext uri="{FF2B5EF4-FFF2-40B4-BE49-F238E27FC236}">
                <a16:creationId xmlns:a16="http://schemas.microsoft.com/office/drawing/2014/main" id="{A24B033F-FE0D-8EF7-F540-589247BFBC77}"/>
              </a:ext>
            </a:extLst>
          </p:cNvPr>
          <p:cNvSpPr/>
          <p:nvPr/>
        </p:nvSpPr>
        <p:spPr>
          <a:xfrm rot="1415658" flipH="1" flipV="1">
            <a:off x="2245233" y="3927230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41" name="Graphic 59">
            <a:extLst>
              <a:ext uri="{FF2B5EF4-FFF2-40B4-BE49-F238E27FC236}">
                <a16:creationId xmlns:a16="http://schemas.microsoft.com/office/drawing/2014/main" id="{895C0D58-F770-514D-0ECD-6DF849847CBC}"/>
              </a:ext>
            </a:extLst>
          </p:cNvPr>
          <p:cNvSpPr/>
          <p:nvPr/>
        </p:nvSpPr>
        <p:spPr>
          <a:xfrm rot="2877588" flipH="1" flipV="1">
            <a:off x="4548213" y="2709977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42" name="Graphic 59">
            <a:extLst>
              <a:ext uri="{FF2B5EF4-FFF2-40B4-BE49-F238E27FC236}">
                <a16:creationId xmlns:a16="http://schemas.microsoft.com/office/drawing/2014/main" id="{14988F34-2527-D0E3-9E8E-4FEE9BD4C774}"/>
              </a:ext>
            </a:extLst>
          </p:cNvPr>
          <p:cNvSpPr/>
          <p:nvPr/>
        </p:nvSpPr>
        <p:spPr>
          <a:xfrm rot="10067923" flipH="1" flipV="1">
            <a:off x="2644806" y="2060926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C00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43" name="Graphic 59">
            <a:extLst>
              <a:ext uri="{FF2B5EF4-FFF2-40B4-BE49-F238E27FC236}">
                <a16:creationId xmlns:a16="http://schemas.microsoft.com/office/drawing/2014/main" id="{E9AF68AB-7A4F-A7A9-88D6-A5C51D7C3D1C}"/>
              </a:ext>
            </a:extLst>
          </p:cNvPr>
          <p:cNvSpPr/>
          <p:nvPr/>
        </p:nvSpPr>
        <p:spPr>
          <a:xfrm rot="19973797" flipH="1" flipV="1">
            <a:off x="2417774" y="3137730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07F13-FCBF-DDA8-B903-CF4F30CA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14</a:t>
            </a:fld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B2E5B5-5E3D-E252-F355-86E9EC61F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39444CFD-7B68-C81D-F276-F9FFCA18B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582C11E-7DFC-E682-4D6A-050CBD85EB83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What makes a good scintillator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59AEF6-F10A-A99F-AD2F-F86076E74E2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>
                <a:solidFill>
                  <a:schemeClr val="bg1"/>
                </a:solidFill>
              </a:rPr>
              <a:t>Noisy complications</a:t>
            </a:r>
          </a:p>
        </p:txBody>
      </p:sp>
    </p:spTree>
    <p:extLst>
      <p:ext uri="{BB962C8B-B14F-4D97-AF65-F5344CB8AC3E}">
        <p14:creationId xmlns:p14="http://schemas.microsoft.com/office/powerpoint/2010/main" val="3941278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0BB7F-0BB9-6E37-ADB9-63815774E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D2CD8C2-F936-3FF5-F3C2-FA9DB83E8FED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DBB9-0719-B975-F955-0302F63872D1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1" name="Graphic 59">
            <a:extLst>
              <a:ext uri="{FF2B5EF4-FFF2-40B4-BE49-F238E27FC236}">
                <a16:creationId xmlns:a16="http://schemas.microsoft.com/office/drawing/2014/main" id="{36C9650A-3BEE-ADE7-C9D2-4D61B9887B0D}"/>
              </a:ext>
            </a:extLst>
          </p:cNvPr>
          <p:cNvSpPr/>
          <p:nvPr/>
        </p:nvSpPr>
        <p:spPr>
          <a:xfrm rot="6046038" flipH="1" flipV="1">
            <a:off x="925999" y="4627957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C00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34" name="Graphic 59">
            <a:extLst>
              <a:ext uri="{FF2B5EF4-FFF2-40B4-BE49-F238E27FC236}">
                <a16:creationId xmlns:a16="http://schemas.microsoft.com/office/drawing/2014/main" id="{C092AA97-8234-D06A-F040-1ABFE2786238}"/>
              </a:ext>
            </a:extLst>
          </p:cNvPr>
          <p:cNvSpPr/>
          <p:nvPr/>
        </p:nvSpPr>
        <p:spPr>
          <a:xfrm rot="12215658" flipH="1" flipV="1">
            <a:off x="3767715" y="4612358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pic>
        <p:nvPicPr>
          <p:cNvPr id="1036" name="Graphic 1035" descr="Collision with solid fill">
            <a:extLst>
              <a:ext uri="{FF2B5EF4-FFF2-40B4-BE49-F238E27FC236}">
                <a16:creationId xmlns:a16="http://schemas.microsoft.com/office/drawing/2014/main" id="{8B5028B8-8501-7467-05BC-39AA635601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6475" y="3937977"/>
            <a:ext cx="914400" cy="914400"/>
          </a:xfrm>
          <a:prstGeom prst="rect">
            <a:avLst/>
          </a:prstGeom>
        </p:spPr>
      </p:pic>
      <p:pic>
        <p:nvPicPr>
          <p:cNvPr id="58" name="Graphic 57" descr="Video camera with solid fill">
            <a:extLst>
              <a:ext uri="{FF2B5EF4-FFF2-40B4-BE49-F238E27FC236}">
                <a16:creationId xmlns:a16="http://schemas.microsoft.com/office/drawing/2014/main" id="{CBD88A05-2A6A-0911-F089-C27BBA7F7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92365">
            <a:off x="1349953" y="3025523"/>
            <a:ext cx="914400" cy="914400"/>
          </a:xfrm>
          <a:prstGeom prst="rect">
            <a:avLst/>
          </a:prstGeom>
        </p:spPr>
      </p:pic>
      <p:sp>
        <p:nvSpPr>
          <p:cNvPr id="54" name="Graphic 59">
            <a:extLst>
              <a:ext uri="{FF2B5EF4-FFF2-40B4-BE49-F238E27FC236}">
                <a16:creationId xmlns:a16="http://schemas.microsoft.com/office/drawing/2014/main" id="{83783809-C582-8DB1-01DF-BC0078805BDB}"/>
              </a:ext>
            </a:extLst>
          </p:cNvPr>
          <p:cNvSpPr/>
          <p:nvPr/>
        </p:nvSpPr>
        <p:spPr>
          <a:xfrm rot="17819168" flipH="1" flipV="1">
            <a:off x="5325709" y="3879296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C00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63" name="Graphic 59">
            <a:extLst>
              <a:ext uri="{FF2B5EF4-FFF2-40B4-BE49-F238E27FC236}">
                <a16:creationId xmlns:a16="http://schemas.microsoft.com/office/drawing/2014/main" id="{D2E7B501-ACC6-FB28-9BDD-30BFA44C669F}"/>
              </a:ext>
            </a:extLst>
          </p:cNvPr>
          <p:cNvSpPr/>
          <p:nvPr/>
        </p:nvSpPr>
        <p:spPr>
          <a:xfrm rot="15361675" flipH="1" flipV="1">
            <a:off x="3968655" y="3655007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FFC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24" name="Graphic 59">
            <a:extLst>
              <a:ext uri="{FF2B5EF4-FFF2-40B4-BE49-F238E27FC236}">
                <a16:creationId xmlns:a16="http://schemas.microsoft.com/office/drawing/2014/main" id="{29611513-EAE7-96FC-689C-AB5C2F61DF28}"/>
              </a:ext>
            </a:extLst>
          </p:cNvPr>
          <p:cNvSpPr/>
          <p:nvPr/>
        </p:nvSpPr>
        <p:spPr>
          <a:xfrm rot="11177352" flipH="1" flipV="1">
            <a:off x="2166328" y="5046711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25" name="Graphic 59">
            <a:extLst>
              <a:ext uri="{FF2B5EF4-FFF2-40B4-BE49-F238E27FC236}">
                <a16:creationId xmlns:a16="http://schemas.microsoft.com/office/drawing/2014/main" id="{D4683543-3772-8CF2-A517-D49828BA76B1}"/>
              </a:ext>
            </a:extLst>
          </p:cNvPr>
          <p:cNvSpPr/>
          <p:nvPr/>
        </p:nvSpPr>
        <p:spPr>
          <a:xfrm rot="11177352" flipH="1" flipV="1">
            <a:off x="398059" y="2677962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28" name="Graphic 59">
            <a:extLst>
              <a:ext uri="{FF2B5EF4-FFF2-40B4-BE49-F238E27FC236}">
                <a16:creationId xmlns:a16="http://schemas.microsoft.com/office/drawing/2014/main" id="{A66C5F7B-DB7F-6246-C85A-8ACC9EFC0C2C}"/>
              </a:ext>
            </a:extLst>
          </p:cNvPr>
          <p:cNvSpPr/>
          <p:nvPr/>
        </p:nvSpPr>
        <p:spPr>
          <a:xfrm rot="19440258" flipH="1" flipV="1">
            <a:off x="158162" y="4106776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FFC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33" name="Graphic 59">
            <a:extLst>
              <a:ext uri="{FF2B5EF4-FFF2-40B4-BE49-F238E27FC236}">
                <a16:creationId xmlns:a16="http://schemas.microsoft.com/office/drawing/2014/main" id="{55718123-A121-EEE4-28BA-CC6A335C79F8}"/>
              </a:ext>
            </a:extLst>
          </p:cNvPr>
          <p:cNvSpPr/>
          <p:nvPr/>
        </p:nvSpPr>
        <p:spPr>
          <a:xfrm rot="1415658" flipH="1" flipV="1">
            <a:off x="2245233" y="3927230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pic>
        <p:nvPicPr>
          <p:cNvPr id="1040" name="Graphic 1039" descr="Video camera with solid fill">
            <a:extLst>
              <a:ext uri="{FF2B5EF4-FFF2-40B4-BE49-F238E27FC236}">
                <a16:creationId xmlns:a16="http://schemas.microsoft.com/office/drawing/2014/main" id="{88939EF0-19A1-0A1B-5A63-AE044B1C3E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46736" flipH="1">
            <a:off x="4726434" y="4578736"/>
            <a:ext cx="914400" cy="914400"/>
          </a:xfrm>
          <a:prstGeom prst="rect">
            <a:avLst/>
          </a:prstGeom>
        </p:spPr>
      </p:pic>
      <p:sp>
        <p:nvSpPr>
          <p:cNvPr id="1042" name="Graphic 59">
            <a:extLst>
              <a:ext uri="{FF2B5EF4-FFF2-40B4-BE49-F238E27FC236}">
                <a16:creationId xmlns:a16="http://schemas.microsoft.com/office/drawing/2014/main" id="{1642B77D-BD5C-23FF-FF38-8D90943359DE}"/>
              </a:ext>
            </a:extLst>
          </p:cNvPr>
          <p:cNvSpPr/>
          <p:nvPr/>
        </p:nvSpPr>
        <p:spPr>
          <a:xfrm rot="10067923" flipH="1" flipV="1">
            <a:off x="2644806" y="2060926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C0000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1043" name="Graphic 59">
            <a:extLst>
              <a:ext uri="{FF2B5EF4-FFF2-40B4-BE49-F238E27FC236}">
                <a16:creationId xmlns:a16="http://schemas.microsoft.com/office/drawing/2014/main" id="{7B09BAEF-F553-8E08-BD6D-7E6B9F84D134}"/>
              </a:ext>
            </a:extLst>
          </p:cNvPr>
          <p:cNvSpPr/>
          <p:nvPr/>
        </p:nvSpPr>
        <p:spPr>
          <a:xfrm rot="19973797" flipH="1" flipV="1">
            <a:off x="2417774" y="3137730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3AAD-50C7-8000-84CB-7FD59FDABF69}"/>
              </a:ext>
            </a:extLst>
          </p:cNvPr>
          <p:cNvSpPr txBox="1">
            <a:spLocks/>
          </p:cNvSpPr>
          <p:nvPr/>
        </p:nvSpPr>
        <p:spPr>
          <a:xfrm>
            <a:off x="6140892" y="1775939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Add another camera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Coincidence timing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Fast scintillation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EE2F9-6BB4-D995-9626-3F848FF59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15</a:t>
            </a:fld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278359-DF6C-81D7-A1C4-262D3E5F9E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8" name="Picture 7" descr="A close-up of a logo&#10;&#10;Description automatically generated">
            <a:extLst>
              <a:ext uri="{FF2B5EF4-FFF2-40B4-BE49-F238E27FC236}">
                <a16:creationId xmlns:a16="http://schemas.microsoft.com/office/drawing/2014/main" id="{430A6AF1-D4E5-F0C9-4869-777399E32A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709B5A6-4339-1C56-0E92-C9B9288DA99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>
                <a:solidFill>
                  <a:schemeClr val="bg1"/>
                </a:solidFill>
              </a:rPr>
              <a:t>Noise Elimination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C27C9-691F-7521-88DA-390B4653C8D8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What makes a good scintillator</a:t>
            </a:r>
          </a:p>
        </p:txBody>
      </p:sp>
    </p:spTree>
    <p:extLst>
      <p:ext uri="{BB962C8B-B14F-4D97-AF65-F5344CB8AC3E}">
        <p14:creationId xmlns:p14="http://schemas.microsoft.com/office/powerpoint/2010/main" val="1253818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10E82-301C-B035-6C0D-FD8C0FF15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F1F0486-5D4E-1D7A-C90E-919EE74B8994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1C9AF2-0AD3-4BD3-2C99-7E3ECC2D6EC8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34" name="Graphic 59">
            <a:extLst>
              <a:ext uri="{FF2B5EF4-FFF2-40B4-BE49-F238E27FC236}">
                <a16:creationId xmlns:a16="http://schemas.microsoft.com/office/drawing/2014/main" id="{1DFDE989-E048-9B28-5E0F-C272C1AA52D7}"/>
              </a:ext>
            </a:extLst>
          </p:cNvPr>
          <p:cNvSpPr/>
          <p:nvPr/>
        </p:nvSpPr>
        <p:spPr>
          <a:xfrm rot="12215658" flipH="1" flipV="1">
            <a:off x="3767715" y="4612358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pic>
        <p:nvPicPr>
          <p:cNvPr id="1036" name="Graphic 1035" descr="Collision with solid fill">
            <a:extLst>
              <a:ext uri="{FF2B5EF4-FFF2-40B4-BE49-F238E27FC236}">
                <a16:creationId xmlns:a16="http://schemas.microsoft.com/office/drawing/2014/main" id="{7EDF1CE5-084D-9420-061D-DF6773FD1A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6475" y="3937977"/>
            <a:ext cx="914400" cy="914400"/>
          </a:xfrm>
          <a:prstGeom prst="rect">
            <a:avLst/>
          </a:prstGeom>
        </p:spPr>
      </p:pic>
      <p:pic>
        <p:nvPicPr>
          <p:cNvPr id="58" name="Graphic 57" descr="Video camera with solid fill">
            <a:extLst>
              <a:ext uri="{FF2B5EF4-FFF2-40B4-BE49-F238E27FC236}">
                <a16:creationId xmlns:a16="http://schemas.microsoft.com/office/drawing/2014/main" id="{64185BC7-824A-A44D-1869-A67932A701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92365">
            <a:off x="1349953" y="3025523"/>
            <a:ext cx="914400" cy="914400"/>
          </a:xfrm>
          <a:prstGeom prst="rect">
            <a:avLst/>
          </a:prstGeom>
        </p:spPr>
      </p:pic>
      <p:sp>
        <p:nvSpPr>
          <p:cNvPr id="1033" name="Graphic 59">
            <a:extLst>
              <a:ext uri="{FF2B5EF4-FFF2-40B4-BE49-F238E27FC236}">
                <a16:creationId xmlns:a16="http://schemas.microsoft.com/office/drawing/2014/main" id="{F0D18ECF-FA61-11D7-F3EB-EF62DA55FFBA}"/>
              </a:ext>
            </a:extLst>
          </p:cNvPr>
          <p:cNvSpPr/>
          <p:nvPr/>
        </p:nvSpPr>
        <p:spPr>
          <a:xfrm rot="1415658" flipH="1" flipV="1">
            <a:off x="2245233" y="3927230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pic>
        <p:nvPicPr>
          <p:cNvPr id="1040" name="Graphic 1039" descr="Video camera with solid fill">
            <a:extLst>
              <a:ext uri="{FF2B5EF4-FFF2-40B4-BE49-F238E27FC236}">
                <a16:creationId xmlns:a16="http://schemas.microsoft.com/office/drawing/2014/main" id="{1FC2B902-8156-8304-A0C5-B83AC9B85F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46736" flipH="1">
            <a:off x="4726434" y="4578736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806C9-9A9B-32B2-C279-80278FC9F082}"/>
              </a:ext>
            </a:extLst>
          </p:cNvPr>
          <p:cNvSpPr txBox="1">
            <a:spLocks/>
          </p:cNvSpPr>
          <p:nvPr/>
        </p:nvSpPr>
        <p:spPr>
          <a:xfrm>
            <a:off x="6140892" y="1775939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Add another camera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Coincidence timing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Fast scintillation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Filter by Energy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Photopeak identification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Energy resolution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23FE0-4138-096C-7149-3D32E92F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16</a:t>
            </a:fld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3290F7-94EF-364C-FF93-F401E8498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8" name="Picture 7" descr="A close-up of a logo&#10;&#10;Description automatically generated">
            <a:extLst>
              <a:ext uri="{FF2B5EF4-FFF2-40B4-BE49-F238E27FC236}">
                <a16:creationId xmlns:a16="http://schemas.microsoft.com/office/drawing/2014/main" id="{5884DA18-6A1B-6B6D-6E5C-F081F0CAB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5A20C81-5A68-D6F7-5B4F-1AD43E9A9A7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>
                <a:solidFill>
                  <a:schemeClr val="bg1"/>
                </a:solidFill>
              </a:rPr>
              <a:t>Noise Elimination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B7DBA-B4D5-6092-9C84-7848CC12CAF4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What makes a good scintillator</a:t>
            </a:r>
          </a:p>
        </p:txBody>
      </p:sp>
    </p:spTree>
    <p:extLst>
      <p:ext uri="{BB962C8B-B14F-4D97-AF65-F5344CB8AC3E}">
        <p14:creationId xmlns:p14="http://schemas.microsoft.com/office/powerpoint/2010/main" val="4213750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14A96-C512-B383-35D1-EEA3D7ACB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E467A19-0676-EAC1-C326-497AF89304C8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D5553-5710-118B-EE09-805B3C98A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Light Yield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C43862-F81F-231B-7D90-7938A28E8E92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00AD7D2-A332-3847-AD30-783A4607F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17</a:t>
            </a:fld>
            <a:endParaRPr lang="en-ZA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EE4A48F-DB74-7837-3505-48303FDC3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33" name="Picture 32" descr="A close-up of a logo&#10;&#10;Description automatically generated">
            <a:extLst>
              <a:ext uri="{FF2B5EF4-FFF2-40B4-BE49-F238E27FC236}">
                <a16:creationId xmlns:a16="http://schemas.microsoft.com/office/drawing/2014/main" id="{80A4129C-812F-54A6-36D0-BED5D9744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499DCD5-CB9F-CB96-D625-DB0DD057394D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What makes a good scintillator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B9F550-21BC-7D65-6801-8047DBCB4CA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908187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High stopping power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Density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Atomic number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High transparency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Low self-absorption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Minimal scattering</a:t>
            </a:r>
          </a:p>
        </p:txBody>
      </p:sp>
      <p:pic>
        <p:nvPicPr>
          <p:cNvPr id="4" name="Picture Placeholder 11" descr="A set of arrows pointing to different directions&#10;&#10;AI-generated content may be incorrect.">
            <a:extLst>
              <a:ext uri="{FF2B5EF4-FFF2-40B4-BE49-F238E27FC236}">
                <a16:creationId xmlns:a16="http://schemas.microsoft.com/office/drawing/2014/main" id="{AD51F275-D950-F371-D9F6-A9C1B01C75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6" b="2546"/>
          <a:stretch>
            <a:fillRect/>
          </a:stretch>
        </p:blipFill>
        <p:spPr>
          <a:xfrm>
            <a:off x="7228911" y="2561101"/>
            <a:ext cx="2763378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0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56B23-DAEB-1CA8-5C42-C7F0D128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3F7F1D4-8329-E753-F326-D301FC66EA09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E2A28-E72F-F2E0-CB68-0E8BC05B3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Fast scintillation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35655F-0AD2-33F1-2928-50F4CC262BAE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4B24AF2-B014-A6C7-1FE1-AA1006F26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18</a:t>
            </a:fld>
            <a:endParaRPr lang="en-ZA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415D667-0605-D223-C466-A2A1BAA6A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33" name="Picture 32" descr="A close-up of a logo&#10;&#10;Description automatically generated">
            <a:extLst>
              <a:ext uri="{FF2B5EF4-FFF2-40B4-BE49-F238E27FC236}">
                <a16:creationId xmlns:a16="http://schemas.microsoft.com/office/drawing/2014/main" id="{16100BF6-8C17-EA0A-2705-5C3A9EAED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F8756D9-FD56-A0DA-59C5-0832419F437C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What makes a good scintillator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2B9FD6-DBF2-AB81-03D3-3B95231B53C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908187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Fast exciton decay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Short recombination length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Concentrated active </a:t>
            </a:r>
            <a:r>
              <a:rPr lang="en-ZA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centers</a:t>
            </a:r>
            <a:endParaRPr lang="en-Z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Efficient FRET/DET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Minimal energy transfer paths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Strong quantum resonance</a:t>
            </a:r>
          </a:p>
        </p:txBody>
      </p:sp>
      <p:pic>
        <p:nvPicPr>
          <p:cNvPr id="4" name="Picture Placeholder 11" descr="A couple of arrows pointing at different directions&#10;&#10;AI-generated content may be incorrect.">
            <a:extLst>
              <a:ext uri="{FF2B5EF4-FFF2-40B4-BE49-F238E27FC236}">
                <a16:creationId xmlns:a16="http://schemas.microsoft.com/office/drawing/2014/main" id="{ED34918D-22F3-F7D2-FDAA-DA4F8E3C36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6" b="2546"/>
          <a:stretch>
            <a:fillRect/>
          </a:stretch>
        </p:blipFill>
        <p:spPr>
          <a:xfrm>
            <a:off x="7229982" y="2561101"/>
            <a:ext cx="2763378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62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3A76-1288-EB4E-2472-F77E13C13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7830C55-45BD-C9E7-6344-272F52BD52B1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34A85-7139-8370-BC66-FD95FC45F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Energy Resolution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ED141-07D2-86DE-9DDE-266E24B0FEB5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EBD14F0-2465-82AB-1EDC-178BEFAE3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19</a:t>
            </a:fld>
            <a:endParaRPr lang="en-ZA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B2330FE-AE40-01BF-F3F5-05E95BA05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33" name="Picture 32" descr="A close-up of a logo&#10;&#10;Description automatically generated">
            <a:extLst>
              <a:ext uri="{FF2B5EF4-FFF2-40B4-BE49-F238E27FC236}">
                <a16:creationId xmlns:a16="http://schemas.microsoft.com/office/drawing/2014/main" id="{F53C4287-AB7E-5807-63EA-630FB17E9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CDA3EA9-20BA-2CEE-0C2E-CACE4B32FE05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What makes a good scintillator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F60C1C4-E67B-DF39-5B29-DD9392FABD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4908187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 stopping power</a:t>
                </a:r>
              </a:p>
              <a:p>
                <a:pPr lvl="1"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Reduce radiation escape</a:t>
                </a:r>
              </a:p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Photoelectric interaction </a:t>
                </a:r>
                <a14:m>
                  <m:oMath xmlns:m="http://schemas.openxmlformats.org/officeDocument/2006/math">
                    <m:r>
                      <a:rPr lang="en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n-Z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 </a:t>
                </a:r>
                <a:r>
                  <a:rPr lang="en-ZA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</a:t>
                </a:r>
              </a:p>
              <a:p>
                <a:pPr lvl="1"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</a:buBlip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Z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Z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</m:t>
                        </m:r>
                      </m:sub>
                    </m:sSub>
                    <m:r>
                      <a:rPr lang="en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Z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Z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Z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Z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Z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Z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Z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Z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F60C1C4-E67B-DF39-5B29-DD9392FAB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908187" cy="43513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Placeholder 8" descr="A set of arrows pointing at different directions&#10;&#10;AI-generated content may be incorrect.">
            <a:extLst>
              <a:ext uri="{FF2B5EF4-FFF2-40B4-BE49-F238E27FC236}">
                <a16:creationId xmlns:a16="http://schemas.microsoft.com/office/drawing/2014/main" id="{B8928F1E-6659-7502-A599-74EDADA2EB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" b="310"/>
          <a:stretch>
            <a:fillRect/>
          </a:stretch>
        </p:blipFill>
        <p:spPr>
          <a:xfrm>
            <a:off x="7228911" y="2592539"/>
            <a:ext cx="2763378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270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96F9E-EC85-0149-0972-DBBF47CF7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3C9699F-8864-4F7C-3F64-E6C7D8F9E71A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8D6A5-CC01-A262-0EBA-313977808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Scintillator Landscape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821D39-4F47-E2A4-7D12-2530D4B8A3E1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95D56E9-FEE3-3653-B758-B573C00FCBA8}"/>
              </a:ext>
            </a:extLst>
          </p:cNvPr>
          <p:cNvSpPr txBox="1">
            <a:spLocks/>
          </p:cNvSpPr>
          <p:nvPr/>
        </p:nvSpPr>
        <p:spPr>
          <a:xfrm>
            <a:off x="0" y="1825625"/>
            <a:ext cx="12192000" cy="1265227"/>
          </a:xfrm>
          <a:prstGeom prst="rect">
            <a:avLst/>
          </a:prstGeom>
        </p:spPr>
        <p:txBody>
          <a:bodyPr numCol="3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2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Crystals</a:t>
            </a:r>
          </a:p>
          <a:p>
            <a:pPr algn="ctr">
              <a:lnSpc>
                <a:spcPct val="2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endParaRPr lang="en-Z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>
              <a:lnSpc>
                <a:spcPct val="2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endParaRPr lang="en-Z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>
              <a:lnSpc>
                <a:spcPct val="2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Organics</a:t>
            </a:r>
          </a:p>
          <a:p>
            <a:pPr algn="ctr">
              <a:lnSpc>
                <a:spcPct val="2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endParaRPr lang="en-Z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>
              <a:lnSpc>
                <a:spcPct val="2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endParaRPr lang="en-Z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>
              <a:lnSpc>
                <a:spcPct val="2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Ceramics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EE393C4-931E-6217-5FD3-FED282D7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20</a:t>
            </a:fld>
            <a:endParaRPr lang="en-ZA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224E87F-9884-A326-3E81-53E2984FD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33" name="Picture 32" descr="A close-up of a logo&#10;&#10;Description automatically generated">
            <a:extLst>
              <a:ext uri="{FF2B5EF4-FFF2-40B4-BE49-F238E27FC236}">
                <a16:creationId xmlns:a16="http://schemas.microsoft.com/office/drawing/2014/main" id="{2214701D-5573-3022-598F-C543CA73E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11AE74-9839-43BB-CFBA-DA587C1189A0}"/>
              </a:ext>
            </a:extLst>
          </p:cNvPr>
          <p:cNvSpPr/>
          <p:nvPr/>
        </p:nvSpPr>
        <p:spPr>
          <a:xfrm>
            <a:off x="1168941" y="3225789"/>
            <a:ext cx="2180592" cy="186572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5453" t="-2323" r="-20547" b="232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5834A4-15EE-83FE-8F6D-211BA87C02C9}"/>
              </a:ext>
            </a:extLst>
          </p:cNvPr>
          <p:cNvSpPr/>
          <p:nvPr/>
        </p:nvSpPr>
        <p:spPr>
          <a:xfrm>
            <a:off x="5014170" y="3230728"/>
            <a:ext cx="2180592" cy="1865722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000" b="-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16E65-EABC-D431-D1DC-D372E9DC410F}"/>
              </a:ext>
            </a:extLst>
          </p:cNvPr>
          <p:cNvSpPr/>
          <p:nvPr/>
        </p:nvSpPr>
        <p:spPr>
          <a:xfrm>
            <a:off x="8859399" y="3225789"/>
            <a:ext cx="2180592" cy="1865722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262" t="-43978" r="-14542" b="-41156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6081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6CCC5-8910-C8F6-F875-603CA7ED8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41EF442-CC21-E5DB-A1A3-6862301DA2C4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9D501-57D1-DCB3-A9FA-BA92C756C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Crystals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F3488F-1A7E-31AB-1F15-0B80525C4818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00537A-401F-BAB8-61EB-52BD62FF7199}"/>
              </a:ext>
            </a:extLst>
          </p:cNvPr>
          <p:cNvSpPr txBox="1">
            <a:spLocks/>
          </p:cNvSpPr>
          <p:nvPr/>
        </p:nvSpPr>
        <p:spPr>
          <a:xfrm>
            <a:off x="360679" y="1825625"/>
            <a:ext cx="9152972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Stopping power 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– 1 cm attenuation (high Z)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Energy resolution 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– photoelectric events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Fast scintillation 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– 40 ns decay time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Transparent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 – 32 000 photons/MeV light yield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Z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Expensive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endParaRPr lang="en-Z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endParaRPr lang="en-Z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7" name="Title 1">
            <a:extLst>
              <a:ext uri="{FF2B5EF4-FFF2-40B4-BE49-F238E27FC236}">
                <a16:creationId xmlns:a16="http://schemas.microsoft.com/office/drawing/2014/main" id="{35920562-C715-B90C-C78C-AAE00734C473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Scintillator Landscape</a:t>
            </a:r>
          </a:p>
        </p:txBody>
      </p:sp>
      <p:sp>
        <p:nvSpPr>
          <p:cNvPr id="89" name="Slide Number Placeholder 88">
            <a:extLst>
              <a:ext uri="{FF2B5EF4-FFF2-40B4-BE49-F238E27FC236}">
                <a16:creationId xmlns:a16="http://schemas.microsoft.com/office/drawing/2014/main" id="{3112720C-E2CC-8FF7-7464-AFBABE74B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21</a:t>
            </a:fld>
            <a:endParaRPr lang="en-ZA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57888218-E83D-5CC1-766C-030D75B57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91" name="Picture 90" descr="A close-up of a logo&#10;&#10;Description automatically generated">
            <a:extLst>
              <a:ext uri="{FF2B5EF4-FFF2-40B4-BE49-F238E27FC236}">
                <a16:creationId xmlns:a16="http://schemas.microsoft.com/office/drawing/2014/main" id="{B9A844FC-0CD8-49AC-722A-9975CC4AF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DFE850-3A37-A587-BF44-F1C552B7B82E}"/>
              </a:ext>
            </a:extLst>
          </p:cNvPr>
          <p:cNvSpPr>
            <a:spLocks noChangeAspect="1"/>
          </p:cNvSpPr>
          <p:nvPr/>
        </p:nvSpPr>
        <p:spPr>
          <a:xfrm>
            <a:off x="8610600" y="2169000"/>
            <a:ext cx="2945290" cy="2520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5453" t="-2323" r="-20547" b="232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3124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80F96-6227-1C04-3F57-7E0064D7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A9B7A0-314E-C775-7542-0BCC7F6C2D72}"/>
              </a:ext>
            </a:extLst>
          </p:cNvPr>
          <p:cNvSpPr/>
          <p:nvPr/>
        </p:nvSpPr>
        <p:spPr>
          <a:xfrm>
            <a:off x="8610600" y="2168999"/>
            <a:ext cx="2945290" cy="2520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000" b="-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46253C-3E1F-BAB5-6FF4-75F9BC94A99F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54180-6ECD-E696-8048-00EF77CD5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Organics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C895FA-31A3-49A7-B465-B135765B65D3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47849E-DFDB-D10C-CC9F-32D6C060009A}"/>
              </a:ext>
            </a:extLst>
          </p:cNvPr>
          <p:cNvSpPr txBox="1">
            <a:spLocks/>
          </p:cNvSpPr>
          <p:nvPr/>
        </p:nvSpPr>
        <p:spPr>
          <a:xfrm>
            <a:off x="360679" y="1825625"/>
            <a:ext cx="9152972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Stopping power 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– 10 cm attenuation (low Z)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Energy resolution 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– NO photoelectric events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Fast scintillation 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– 2 ns decay time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Transparent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 – 10 000 photons/MeV light yield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Expensive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Z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Z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7" name="Title 1">
            <a:extLst>
              <a:ext uri="{FF2B5EF4-FFF2-40B4-BE49-F238E27FC236}">
                <a16:creationId xmlns:a16="http://schemas.microsoft.com/office/drawing/2014/main" id="{895CC228-DCE4-9552-DF63-81CE3B6881BC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Scintillator Landscape</a:t>
            </a:r>
          </a:p>
        </p:txBody>
      </p:sp>
      <p:sp>
        <p:nvSpPr>
          <p:cNvPr id="89" name="Slide Number Placeholder 88">
            <a:extLst>
              <a:ext uri="{FF2B5EF4-FFF2-40B4-BE49-F238E27FC236}">
                <a16:creationId xmlns:a16="http://schemas.microsoft.com/office/drawing/2014/main" id="{0F6A1A57-18A7-4EB0-C140-E2109A51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22</a:t>
            </a:fld>
            <a:endParaRPr lang="en-ZA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00416366-5474-430F-7020-A9D696583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91" name="Picture 90" descr="A close-up of a logo&#10;&#10;Description automatically generated">
            <a:extLst>
              <a:ext uri="{FF2B5EF4-FFF2-40B4-BE49-F238E27FC236}">
                <a16:creationId xmlns:a16="http://schemas.microsoft.com/office/drawing/2014/main" id="{2DB9E159-4378-459D-D19B-6846E44B5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550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872E1-BD90-84DA-CCFB-B47E1DE08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E47619-7D6F-40DC-452D-B4A3DF11E4F3}"/>
              </a:ext>
            </a:extLst>
          </p:cNvPr>
          <p:cNvSpPr/>
          <p:nvPr/>
        </p:nvSpPr>
        <p:spPr>
          <a:xfrm>
            <a:off x="8610600" y="2168997"/>
            <a:ext cx="2945290" cy="251999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262" t="-43978" r="-14542" b="-41156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3EB139-94EC-BB9F-3FD9-A907DD80B43A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60E83B-BDE7-D710-0EE9-028225B5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Ceramics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51D34F-8DAC-BDBB-4919-51C1AA091685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5D6AA29-765F-1C91-9352-D2EBB8A8C7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0679" y="1825625"/>
                <a:ext cx="9152972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:r>
                  <a:rPr lang="en-ZA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Stopping power </a:t>
                </a: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 10 cm attenuation (high Z)</a:t>
                </a:r>
              </a:p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:r>
                  <a:rPr lang="en-ZA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Energy resolution </a:t>
                </a: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–photoelectric events</a:t>
                </a:r>
              </a:p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:r>
                  <a:rPr lang="en-ZA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Slow scintillation </a:t>
                </a: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 1 </a:t>
                </a:r>
                <a14:m>
                  <m:oMath xmlns:m="http://schemas.openxmlformats.org/officeDocument/2006/math">
                    <m:r>
                      <a:rPr lang="en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 decay time</a:t>
                </a:r>
              </a:p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:r>
                  <a:rPr lang="en-ZA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Opaque </a:t>
                </a: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 20 000 photons/MeV light yield</a:t>
                </a:r>
              </a:p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:r>
                  <a:rPr lang="en-ZA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Inexpensive</a:t>
                </a:r>
              </a:p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:endParaRPr lang="en-Z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</a:buBlip>
                </a:pPr>
                <a:endParaRPr lang="en-Z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5D6AA29-765F-1C91-9352-D2EBB8A8C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79" y="1825625"/>
                <a:ext cx="9152972" cy="4351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itle 1">
            <a:extLst>
              <a:ext uri="{FF2B5EF4-FFF2-40B4-BE49-F238E27FC236}">
                <a16:creationId xmlns:a16="http://schemas.microsoft.com/office/drawing/2014/main" id="{03C66E6B-D463-394D-7497-2AB10BDB6DA3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Scintillator Landscape</a:t>
            </a:r>
          </a:p>
        </p:txBody>
      </p:sp>
      <p:sp>
        <p:nvSpPr>
          <p:cNvPr id="89" name="Slide Number Placeholder 88">
            <a:extLst>
              <a:ext uri="{FF2B5EF4-FFF2-40B4-BE49-F238E27FC236}">
                <a16:creationId xmlns:a16="http://schemas.microsoft.com/office/drawing/2014/main" id="{B3D2C063-41AE-F3DF-9D0F-0C71FB5F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23</a:t>
            </a:fld>
            <a:endParaRPr lang="en-ZA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45322B2F-4B73-D638-102A-1919A40A6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91" name="Picture 90" descr="A close-up of a logo&#10;&#10;Description automatically generated">
            <a:extLst>
              <a:ext uri="{FF2B5EF4-FFF2-40B4-BE49-F238E27FC236}">
                <a16:creationId xmlns:a16="http://schemas.microsoft.com/office/drawing/2014/main" id="{1F2A5A6F-BE4D-D0D2-C250-D473A36E3F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45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14AE-B1DA-1AED-FBEF-2BDC7B036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497AC2D-6C89-28B4-F7A9-168413700E04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EDEB0-CC5D-AB33-4E91-1B0D4DC7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Motivation for Nanocomposites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E161FA-1B82-4655-E6E0-6F484F8C185B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0B8A6652-537D-2873-0356-AAE751515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F8BE923-0D0C-DA8E-217C-51509648152B}"/>
              </a:ext>
            </a:extLst>
          </p:cNvPr>
          <p:cNvSpPr/>
          <p:nvPr/>
        </p:nvSpPr>
        <p:spPr>
          <a:xfrm>
            <a:off x="919480" y="3960000"/>
            <a:ext cx="2707640" cy="926583"/>
          </a:xfrm>
          <a:custGeom>
            <a:avLst/>
            <a:gdLst>
              <a:gd name="connsiteX0" fmla="*/ 0 w 2184088"/>
              <a:gd name="connsiteY0" fmla="*/ 0 h 926583"/>
              <a:gd name="connsiteX1" fmla="*/ 2184088 w 2184088"/>
              <a:gd name="connsiteY1" fmla="*/ 0 h 926583"/>
              <a:gd name="connsiteX2" fmla="*/ 2184088 w 2184088"/>
              <a:gd name="connsiteY2" fmla="*/ 926583 h 926583"/>
              <a:gd name="connsiteX3" fmla="*/ 0 w 2184088"/>
              <a:gd name="connsiteY3" fmla="*/ 926583 h 926583"/>
              <a:gd name="connsiteX4" fmla="*/ 0 w 2184088"/>
              <a:gd name="connsiteY4" fmla="*/ 0 h 926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4088" h="926583">
                <a:moveTo>
                  <a:pt x="0" y="0"/>
                </a:moveTo>
                <a:lnTo>
                  <a:pt x="2184088" y="0"/>
                </a:lnTo>
                <a:lnTo>
                  <a:pt x="2184088" y="926583"/>
                </a:lnTo>
                <a:lnTo>
                  <a:pt x="0" y="92658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0668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ZA" sz="2400" kern="1200" dirty="0"/>
              <a:t> Cheap polymer host </a:t>
            </a:r>
            <a:r>
              <a:rPr lang="en-ZA" sz="2400" dirty="0"/>
              <a:t>matrix</a:t>
            </a:r>
            <a:endParaRPr lang="en-US" sz="2400" kern="12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43FCC62-02C3-0847-ADEB-2208609BC3AD}"/>
              </a:ext>
            </a:extLst>
          </p:cNvPr>
          <p:cNvSpPr/>
          <p:nvPr/>
        </p:nvSpPr>
        <p:spPr>
          <a:xfrm>
            <a:off x="4554153" y="3960000"/>
            <a:ext cx="2862052" cy="926583"/>
          </a:xfrm>
          <a:custGeom>
            <a:avLst/>
            <a:gdLst>
              <a:gd name="connsiteX0" fmla="*/ 0 w 2184088"/>
              <a:gd name="connsiteY0" fmla="*/ 0 h 926583"/>
              <a:gd name="connsiteX1" fmla="*/ 2184088 w 2184088"/>
              <a:gd name="connsiteY1" fmla="*/ 0 h 926583"/>
              <a:gd name="connsiteX2" fmla="*/ 2184088 w 2184088"/>
              <a:gd name="connsiteY2" fmla="*/ 926583 h 926583"/>
              <a:gd name="connsiteX3" fmla="*/ 0 w 2184088"/>
              <a:gd name="connsiteY3" fmla="*/ 926583 h 926583"/>
              <a:gd name="connsiteX4" fmla="*/ 0 w 2184088"/>
              <a:gd name="connsiteY4" fmla="*/ 0 h 926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4088" h="926583">
                <a:moveTo>
                  <a:pt x="0" y="0"/>
                </a:moveTo>
                <a:lnTo>
                  <a:pt x="2184088" y="0"/>
                </a:lnTo>
                <a:lnTo>
                  <a:pt x="2184088" y="926583"/>
                </a:lnTo>
                <a:lnTo>
                  <a:pt x="0" y="92658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0668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ZA" sz="2400" kern="1200" dirty="0"/>
              <a:t>Small, dense activation </a:t>
            </a:r>
            <a:r>
              <a:rPr lang="en-ZA" sz="2400" dirty="0"/>
              <a:t>centres</a:t>
            </a:r>
            <a:endParaRPr lang="en-US" sz="2400" kern="120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1CF0C1A-D89A-7737-8BB3-815CB37929F7}"/>
              </a:ext>
            </a:extLst>
          </p:cNvPr>
          <p:cNvSpPr/>
          <p:nvPr/>
        </p:nvSpPr>
        <p:spPr>
          <a:xfrm>
            <a:off x="8270106" y="3960000"/>
            <a:ext cx="2862052" cy="926583"/>
          </a:xfrm>
          <a:custGeom>
            <a:avLst/>
            <a:gdLst>
              <a:gd name="connsiteX0" fmla="*/ 0 w 2184088"/>
              <a:gd name="connsiteY0" fmla="*/ 0 h 926583"/>
              <a:gd name="connsiteX1" fmla="*/ 2184088 w 2184088"/>
              <a:gd name="connsiteY1" fmla="*/ 0 h 926583"/>
              <a:gd name="connsiteX2" fmla="*/ 2184088 w 2184088"/>
              <a:gd name="connsiteY2" fmla="*/ 926583 h 926583"/>
              <a:gd name="connsiteX3" fmla="*/ 0 w 2184088"/>
              <a:gd name="connsiteY3" fmla="*/ 926583 h 926583"/>
              <a:gd name="connsiteX4" fmla="*/ 0 w 2184088"/>
              <a:gd name="connsiteY4" fmla="*/ 0 h 926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4088" h="926583">
                <a:moveTo>
                  <a:pt x="0" y="0"/>
                </a:moveTo>
                <a:lnTo>
                  <a:pt x="2184088" y="0"/>
                </a:lnTo>
                <a:lnTo>
                  <a:pt x="2184088" y="926583"/>
                </a:lnTo>
                <a:lnTo>
                  <a:pt x="0" y="92658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0668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ZA" sz="2400" kern="1200" dirty="0"/>
              <a:t> Fast scintillation</a:t>
            </a:r>
            <a:endParaRPr lang="en-US" sz="2400" kern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16D04AB-A60E-4CE3-2508-54D2D0FEB9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000" y="2880000"/>
            <a:ext cx="9919754" cy="1080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D51F0-949F-2912-D65F-8C9F54989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24</a:t>
            </a:fld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68194-F1FA-773A-CB94-B83B0A661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71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E59CF-B007-F525-D3FF-CF77C2E1B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C435E45-21A9-23FA-54E8-333CFFFDBF0A}"/>
              </a:ext>
            </a:extLst>
          </p:cNvPr>
          <p:cNvSpPr/>
          <p:nvPr/>
        </p:nvSpPr>
        <p:spPr>
          <a:xfrm>
            <a:off x="5913120" y="2330459"/>
            <a:ext cx="5679440" cy="3224039"/>
          </a:xfrm>
          <a:prstGeom prst="rect">
            <a:avLst/>
          </a:prstGeom>
          <a:solidFill>
            <a:srgbClr val="CCD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ZA" dirty="0">
                <a:solidFill>
                  <a:schemeClr val="tx2"/>
                </a:solidFill>
              </a:rPr>
              <a:t>Host Matrix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726129-2438-A198-19C9-A25275C87847}"/>
              </a:ext>
            </a:extLst>
          </p:cNvPr>
          <p:cNvSpPr/>
          <p:nvPr/>
        </p:nvSpPr>
        <p:spPr>
          <a:xfrm>
            <a:off x="9103360" y="4968431"/>
            <a:ext cx="360000" cy="360000"/>
          </a:xfrm>
          <a:prstGeom prst="ellipse">
            <a:avLst/>
          </a:prstGeom>
          <a:solidFill>
            <a:srgbClr val="A6CA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73EDDA-DC98-5371-5C9F-72AFAD53DAC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857041" y="4372743"/>
            <a:ext cx="3906854" cy="1347337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38FA952-0D8A-BABE-0170-76EFF6F9C8FE}"/>
              </a:ext>
            </a:extLst>
          </p:cNvPr>
          <p:cNvSpPr/>
          <p:nvPr/>
        </p:nvSpPr>
        <p:spPr>
          <a:xfrm>
            <a:off x="8430113" y="3402478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EE82543-FAD0-3ECD-131B-FACD56EA63B6}"/>
              </a:ext>
            </a:extLst>
          </p:cNvPr>
          <p:cNvSpPr/>
          <p:nvPr/>
        </p:nvSpPr>
        <p:spPr>
          <a:xfrm>
            <a:off x="10916626" y="4608431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10" name="Partial Circle 9">
            <a:extLst>
              <a:ext uri="{FF2B5EF4-FFF2-40B4-BE49-F238E27FC236}">
                <a16:creationId xmlns:a16="http://schemas.microsoft.com/office/drawing/2014/main" id="{92B9E469-EA5A-1CC3-15FC-2624C2010FF3}"/>
              </a:ext>
            </a:extLst>
          </p:cNvPr>
          <p:cNvSpPr/>
          <p:nvPr/>
        </p:nvSpPr>
        <p:spPr>
          <a:xfrm>
            <a:off x="9053317" y="3964447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11" name="Partial Circle 10">
            <a:extLst>
              <a:ext uri="{FF2B5EF4-FFF2-40B4-BE49-F238E27FC236}">
                <a16:creationId xmlns:a16="http://schemas.microsoft.com/office/drawing/2014/main" id="{AC73B6D8-61A7-45B1-EF58-49BFA8BC7D81}"/>
              </a:ext>
            </a:extLst>
          </p:cNvPr>
          <p:cNvSpPr/>
          <p:nvPr/>
        </p:nvSpPr>
        <p:spPr>
          <a:xfrm>
            <a:off x="10530407" y="3967323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12" name="Partial Circle 11">
            <a:extLst>
              <a:ext uri="{FF2B5EF4-FFF2-40B4-BE49-F238E27FC236}">
                <a16:creationId xmlns:a16="http://schemas.microsoft.com/office/drawing/2014/main" id="{1AC5C10B-6C37-4470-88F9-F72F58F7195D}"/>
              </a:ext>
            </a:extLst>
          </p:cNvPr>
          <p:cNvSpPr/>
          <p:nvPr/>
        </p:nvSpPr>
        <p:spPr>
          <a:xfrm>
            <a:off x="8130294" y="2816243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16" name="Partial Circle 15">
            <a:extLst>
              <a:ext uri="{FF2B5EF4-FFF2-40B4-BE49-F238E27FC236}">
                <a16:creationId xmlns:a16="http://schemas.microsoft.com/office/drawing/2014/main" id="{0AD8A3C5-AE19-515D-3D7C-5A2B1B206BB8}"/>
              </a:ext>
            </a:extLst>
          </p:cNvPr>
          <p:cNvSpPr/>
          <p:nvPr/>
        </p:nvSpPr>
        <p:spPr>
          <a:xfrm>
            <a:off x="7694643" y="-3048485"/>
            <a:ext cx="9000000" cy="9000000"/>
          </a:xfrm>
          <a:prstGeom prst="pie">
            <a:avLst>
              <a:gd name="adj1" fmla="val 5410531"/>
              <a:gd name="adj2" fmla="val 10800000"/>
            </a:avLst>
          </a:prstGeom>
          <a:solidFill>
            <a:schemeClr val="bg1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6BB1C2-1AC7-7D0E-0CBC-3214EEA0BBC3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2B607C-754D-4DAB-B1D0-7297E194C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Nanoparticle Activation </a:t>
            </a:r>
            <a:r>
              <a:rPr lang="en-ZA" dirty="0" err="1">
                <a:solidFill>
                  <a:schemeClr val="bg1"/>
                </a:solidFill>
              </a:rPr>
              <a:t>Centers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40DED3-4B45-408C-EE58-3BC565DF39D6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674ACB6-2748-A39A-9FE6-69CCA3277C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0679" y="1825625"/>
                <a:ext cx="5626987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Spatially confined excitons</a:t>
                </a:r>
              </a:p>
              <a:p>
                <a:pPr lvl="1"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Fast scintillation</a:t>
                </a:r>
              </a:p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endParaRPr lang="en-Z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cross-section</a:t>
                </a:r>
              </a:p>
              <a:p>
                <a:pPr lvl="1"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Photoelectric interactions</a:t>
                </a:r>
              </a:p>
              <a:p>
                <a:pPr>
                  <a:lnSpc>
                    <a:spcPct val="150000"/>
                  </a:lnSpc>
                  <a:buBlip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</a:buBlip>
                </a:pPr>
                <a:r>
                  <a:rPr lang="en-Z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Tuneable excitation/emission 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674ACB6-2748-A39A-9FE6-69CCA3277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79" y="1825625"/>
                <a:ext cx="5626987" cy="435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itle 1">
            <a:extLst>
              <a:ext uri="{FF2B5EF4-FFF2-40B4-BE49-F238E27FC236}">
                <a16:creationId xmlns:a16="http://schemas.microsoft.com/office/drawing/2014/main" id="{536AE2F8-E2D8-F8D5-E4FE-04926430CA6F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Motivation for Nanocomposites</a:t>
            </a:r>
          </a:p>
        </p:txBody>
      </p:sp>
      <p:sp>
        <p:nvSpPr>
          <p:cNvPr id="89" name="Slide Number Placeholder 88">
            <a:extLst>
              <a:ext uri="{FF2B5EF4-FFF2-40B4-BE49-F238E27FC236}">
                <a16:creationId xmlns:a16="http://schemas.microsoft.com/office/drawing/2014/main" id="{51197C48-27F5-65EB-4853-4F740C1D0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25</a:t>
            </a:fld>
            <a:endParaRPr lang="en-ZA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0018D2AB-FBA7-0E05-143A-B804F4B8D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91" name="Picture 90" descr="A close-up of a logo&#10;&#10;Description automatically generated">
            <a:extLst>
              <a:ext uri="{FF2B5EF4-FFF2-40B4-BE49-F238E27FC236}">
                <a16:creationId xmlns:a16="http://schemas.microsoft.com/office/drawing/2014/main" id="{7CA5045B-AFFD-3EAF-D415-D94684A28E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95A16C5-3AB8-86DE-7731-1714BED15676}"/>
              </a:ext>
            </a:extLst>
          </p:cNvPr>
          <p:cNvSpPr/>
          <p:nvPr/>
        </p:nvSpPr>
        <p:spPr>
          <a:xfrm>
            <a:off x="6624320" y="2936431"/>
            <a:ext cx="360000" cy="360000"/>
          </a:xfrm>
          <a:prstGeom prst="ellipse">
            <a:avLst/>
          </a:prstGeom>
          <a:solidFill>
            <a:srgbClr val="A6CA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569101-0BB8-3D97-5713-73CE95EDBAB9}"/>
              </a:ext>
            </a:extLst>
          </p:cNvPr>
          <p:cNvSpPr/>
          <p:nvPr/>
        </p:nvSpPr>
        <p:spPr>
          <a:xfrm>
            <a:off x="6804320" y="4065464"/>
            <a:ext cx="360000" cy="360000"/>
          </a:xfrm>
          <a:prstGeom prst="ellipse">
            <a:avLst/>
          </a:prstGeom>
          <a:solidFill>
            <a:srgbClr val="A6CAEC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E68E82-F946-7146-1480-DB833775B380}"/>
              </a:ext>
            </a:extLst>
          </p:cNvPr>
          <p:cNvSpPr/>
          <p:nvPr/>
        </p:nvSpPr>
        <p:spPr>
          <a:xfrm>
            <a:off x="10088880" y="3016853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13" name="Partial Circle 12">
            <a:extLst>
              <a:ext uri="{FF2B5EF4-FFF2-40B4-BE49-F238E27FC236}">
                <a16:creationId xmlns:a16="http://schemas.microsoft.com/office/drawing/2014/main" id="{5FD1A9BC-0F65-6748-3C2E-EE67A70F2AAC}"/>
              </a:ext>
            </a:extLst>
          </p:cNvPr>
          <p:cNvSpPr/>
          <p:nvPr/>
        </p:nvSpPr>
        <p:spPr>
          <a:xfrm>
            <a:off x="6074432" y="4767170"/>
            <a:ext cx="360000" cy="360000"/>
          </a:xfrm>
          <a:prstGeom prst="pi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C73BECC-4D18-FC92-2DCD-93565A278DC0}"/>
              </a:ext>
            </a:extLst>
          </p:cNvPr>
          <p:cNvCxnSpPr>
            <a:stCxn id="6" idx="1"/>
            <a:endCxn id="16" idx="2"/>
          </p:cNvCxnSpPr>
          <p:nvPr/>
        </p:nvCxnSpPr>
        <p:spPr>
          <a:xfrm flipV="1">
            <a:off x="6857041" y="1451515"/>
            <a:ext cx="837602" cy="266667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581878E-1582-053A-AF58-7EBD0A4C51F0}"/>
              </a:ext>
            </a:extLst>
          </p:cNvPr>
          <p:cNvSpPr/>
          <p:nvPr/>
        </p:nvSpPr>
        <p:spPr>
          <a:xfrm>
            <a:off x="9556419" y="2403596"/>
            <a:ext cx="1800000" cy="18000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/>
            <a:endParaRPr lang="en-ZA" dirty="0">
              <a:solidFill>
                <a:schemeClr val="bg2"/>
              </a:solidFill>
            </a:endParaRPr>
          </a:p>
        </p:txBody>
      </p:sp>
      <p:sp>
        <p:nvSpPr>
          <p:cNvPr id="24" name="Graphic 59">
            <a:extLst>
              <a:ext uri="{FF2B5EF4-FFF2-40B4-BE49-F238E27FC236}">
                <a16:creationId xmlns:a16="http://schemas.microsoft.com/office/drawing/2014/main" id="{AB060382-0514-BEB7-EB0F-4D1D1652E043}"/>
              </a:ext>
            </a:extLst>
          </p:cNvPr>
          <p:cNvSpPr/>
          <p:nvPr/>
        </p:nvSpPr>
        <p:spPr>
          <a:xfrm rot="10800000" flipH="1" flipV="1">
            <a:off x="8564883" y="3196609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255B788-4FE5-C5E8-D450-7CECDAD3D7AC}"/>
                  </a:ext>
                </a:extLst>
              </p:cNvPr>
              <p:cNvSpPr/>
              <p:nvPr/>
            </p:nvSpPr>
            <p:spPr>
              <a:xfrm>
                <a:off x="9754176" y="2772401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255B788-4FE5-C5E8-D450-7CECDAD3D7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4176" y="2772401"/>
                <a:ext cx="180000" cy="180000"/>
              </a:xfrm>
              <a:prstGeom prst="ellipse">
                <a:avLst/>
              </a:prstGeom>
              <a:blipFill>
                <a:blip r:embed="rId6"/>
                <a:stretch>
                  <a:fillRect l="-10000" r="-20000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028D021-029F-2320-1314-0994FAD47241}"/>
                  </a:ext>
                </a:extLst>
              </p:cNvPr>
              <p:cNvSpPr/>
              <p:nvPr/>
            </p:nvSpPr>
            <p:spPr>
              <a:xfrm>
                <a:off x="9764364" y="362644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028D021-029F-2320-1314-0994FAD47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4364" y="3626443"/>
                <a:ext cx="180000" cy="180000"/>
              </a:xfrm>
              <a:prstGeom prst="ellipse">
                <a:avLst/>
              </a:prstGeom>
              <a:blipFill>
                <a:blip r:embed="rId7"/>
                <a:stretch>
                  <a:fillRect l="-27586" t="-24138" r="-41379" b="-413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6CF0A52-1371-2762-84B1-5DDB4B76D7C1}"/>
              </a:ext>
            </a:extLst>
          </p:cNvPr>
          <p:cNvCxnSpPr>
            <a:cxnSpLocks/>
          </p:cNvCxnSpPr>
          <p:nvPr/>
        </p:nvCxnSpPr>
        <p:spPr>
          <a:xfrm>
            <a:off x="9945602" y="2874881"/>
            <a:ext cx="107720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4F00A6A-FD7B-EEBD-6457-4711F3937435}"/>
              </a:ext>
            </a:extLst>
          </p:cNvPr>
          <p:cNvCxnSpPr>
            <a:cxnSpLocks/>
          </p:cNvCxnSpPr>
          <p:nvPr/>
        </p:nvCxnSpPr>
        <p:spPr>
          <a:xfrm>
            <a:off x="9944364" y="3744018"/>
            <a:ext cx="1077209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7F2A936-E42D-F1D5-97F2-0333D72060D5}"/>
                  </a:ext>
                </a:extLst>
              </p:cNvPr>
              <p:cNvSpPr/>
              <p:nvPr/>
            </p:nvSpPr>
            <p:spPr>
              <a:xfrm>
                <a:off x="10975559" y="2779527"/>
                <a:ext cx="180000" cy="180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ZA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7F2A936-E42D-F1D5-97F2-0333D72060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5559" y="2779527"/>
                <a:ext cx="180000" cy="180000"/>
              </a:xfrm>
              <a:prstGeom prst="ellipse">
                <a:avLst/>
              </a:prstGeom>
              <a:blipFill>
                <a:blip r:embed="rId8"/>
                <a:stretch>
                  <a:fillRect l="-6667" r="-23333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728F060C-DEDD-4E4F-A7AF-76E1888196DC}"/>
                  </a:ext>
                </a:extLst>
              </p:cNvPr>
              <p:cNvSpPr/>
              <p:nvPr/>
            </p:nvSpPr>
            <p:spPr>
              <a:xfrm>
                <a:off x="10985747" y="3633569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ZA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728F060C-DEDD-4E4F-A7AF-76E1888196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5747" y="3633569"/>
                <a:ext cx="180000" cy="180000"/>
              </a:xfrm>
              <a:prstGeom prst="ellipse">
                <a:avLst/>
              </a:prstGeom>
              <a:blipFill>
                <a:blip r:embed="rId9"/>
                <a:stretch>
                  <a:fillRect l="-26667" t="-23333" r="-36667" b="-3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Graphic 59">
            <a:extLst>
              <a:ext uri="{FF2B5EF4-FFF2-40B4-BE49-F238E27FC236}">
                <a16:creationId xmlns:a16="http://schemas.microsoft.com/office/drawing/2014/main" id="{F1E3AD6D-1598-7A8B-BCE2-465666AFB02C}"/>
              </a:ext>
            </a:extLst>
          </p:cNvPr>
          <p:cNvSpPr/>
          <p:nvPr/>
        </p:nvSpPr>
        <p:spPr>
          <a:xfrm rot="10800000" flipH="1" flipV="1">
            <a:off x="11183944" y="3165485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49EB6B-93BD-A77C-8A86-FDE9E41806AB}"/>
                  </a:ext>
                </a:extLst>
              </p:cNvPr>
              <p:cNvSpPr txBox="1"/>
              <p:nvPr/>
            </p:nvSpPr>
            <p:spPr>
              <a:xfrm>
                <a:off x="8760768" y="3252030"/>
                <a:ext cx="3302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ZA" sz="3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ZA" sz="3600" dirty="0"/>
                  <a:t> 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49EB6B-93BD-A77C-8A86-FDE9E4180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768" y="3252030"/>
                <a:ext cx="330200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Graphic 59">
            <a:extLst>
              <a:ext uri="{FF2B5EF4-FFF2-40B4-BE49-F238E27FC236}">
                <a16:creationId xmlns:a16="http://schemas.microsoft.com/office/drawing/2014/main" id="{3A3C5EAF-9C97-A671-119B-C9F0E27E9613}"/>
              </a:ext>
            </a:extLst>
          </p:cNvPr>
          <p:cNvSpPr/>
          <p:nvPr/>
        </p:nvSpPr>
        <p:spPr>
          <a:xfrm rot="10800000" flipH="1" flipV="1">
            <a:off x="7412183" y="4132565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/>
          </a:p>
        </p:txBody>
      </p:sp>
      <p:sp>
        <p:nvSpPr>
          <p:cNvPr id="45" name="Graphic 59">
            <a:extLst>
              <a:ext uri="{FF2B5EF4-FFF2-40B4-BE49-F238E27FC236}">
                <a16:creationId xmlns:a16="http://schemas.microsoft.com/office/drawing/2014/main" id="{EA1A2599-8793-D3DD-ED47-DF5DFDA548D2}"/>
              </a:ext>
            </a:extLst>
          </p:cNvPr>
          <p:cNvSpPr/>
          <p:nvPr/>
        </p:nvSpPr>
        <p:spPr>
          <a:xfrm rot="10800000" flipH="1" flipV="1">
            <a:off x="5661298" y="4154123"/>
            <a:ext cx="938939" cy="216030"/>
          </a:xfrm>
          <a:custGeom>
            <a:avLst/>
            <a:gdLst>
              <a:gd name="csX0" fmla="*/ -39 w 938939"/>
              <a:gd name="csY0" fmla="*/ 216511 h 216030"/>
              <a:gd name="csX1" fmla="*/ 169053 w 938939"/>
              <a:gd name="csY1" fmla="*/ 510 h 216030"/>
              <a:gd name="csX2" fmla="*/ 335340 w 938939"/>
              <a:gd name="csY2" fmla="*/ 216511 h 216030"/>
              <a:gd name="csX3" fmla="*/ 501627 w 938939"/>
              <a:gd name="csY3" fmla="*/ 510 h 216030"/>
              <a:gd name="csX4" fmla="*/ 667908 w 938939"/>
              <a:gd name="csY4" fmla="*/ 216511 h 216030"/>
              <a:gd name="csX5" fmla="*/ 803937 w 938939"/>
              <a:gd name="csY5" fmla="*/ 108523 h 216030"/>
              <a:gd name="csX6" fmla="*/ 938900 w 938939"/>
              <a:gd name="csY6" fmla="*/ 108523 h 2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939" h="216030">
                <a:moveTo>
                  <a:pt x="-39" y="216511"/>
                </a:moveTo>
                <a:cubicBezTo>
                  <a:pt x="93632" y="216511"/>
                  <a:pt x="78189" y="510"/>
                  <a:pt x="169053" y="510"/>
                </a:cubicBezTo>
                <a:cubicBezTo>
                  <a:pt x="259917" y="510"/>
                  <a:pt x="244476" y="216511"/>
                  <a:pt x="335340" y="216511"/>
                </a:cubicBezTo>
                <a:cubicBezTo>
                  <a:pt x="426204" y="216511"/>
                  <a:pt x="410763" y="510"/>
                  <a:pt x="501627" y="510"/>
                </a:cubicBezTo>
                <a:cubicBezTo>
                  <a:pt x="592492" y="510"/>
                  <a:pt x="577072" y="214416"/>
                  <a:pt x="667908" y="216511"/>
                </a:cubicBezTo>
                <a:cubicBezTo>
                  <a:pt x="759525" y="218619"/>
                  <a:pt x="720016" y="108523"/>
                  <a:pt x="803937" y="108523"/>
                </a:cubicBezTo>
                <a:lnTo>
                  <a:pt x="938900" y="108523"/>
                </a:lnTo>
              </a:path>
            </a:pathLst>
          </a:custGeom>
          <a:noFill/>
          <a:ln w="38100" cap="flat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med"/>
          </a:ln>
        </p:spPr>
        <p:txBody>
          <a:bodyPr/>
          <a:lstStyle/>
          <a:p>
            <a:endParaRPr lang="en-ZA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29D6C5-8278-5D4E-56D0-47D8D2C999E3}"/>
              </a:ext>
            </a:extLst>
          </p:cNvPr>
          <p:cNvCxnSpPr>
            <a:cxnSpLocks/>
          </p:cNvCxnSpPr>
          <p:nvPr/>
        </p:nvCxnSpPr>
        <p:spPr>
          <a:xfrm flipV="1">
            <a:off x="9841023" y="2954837"/>
            <a:ext cx="0" cy="668177"/>
          </a:xfrm>
          <a:prstGeom prst="straightConnector1">
            <a:avLst/>
          </a:prstGeom>
          <a:ln w="25400">
            <a:solidFill>
              <a:srgbClr val="C0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990A961-A5DE-72EC-FE30-7DA5BB08003C}"/>
              </a:ext>
            </a:extLst>
          </p:cNvPr>
          <p:cNvCxnSpPr>
            <a:cxnSpLocks/>
          </p:cNvCxnSpPr>
          <p:nvPr/>
        </p:nvCxnSpPr>
        <p:spPr>
          <a:xfrm flipV="1">
            <a:off x="11067722" y="3315596"/>
            <a:ext cx="0" cy="317973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6E7678-13C7-1DBF-2BC3-FA251EC65B03}"/>
              </a:ext>
            </a:extLst>
          </p:cNvPr>
          <p:cNvCxnSpPr>
            <a:cxnSpLocks/>
          </p:cNvCxnSpPr>
          <p:nvPr/>
        </p:nvCxnSpPr>
        <p:spPr>
          <a:xfrm>
            <a:off x="11067722" y="2954837"/>
            <a:ext cx="0" cy="323534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72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61047-D7A8-DC92-6BED-1EDC6AF92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13A803-450B-B9FB-8C32-3C9CEE3ECFDD}"/>
              </a:ext>
            </a:extLst>
          </p:cNvPr>
          <p:cNvSpPr/>
          <p:nvPr/>
        </p:nvSpPr>
        <p:spPr>
          <a:xfrm>
            <a:off x="8610600" y="2168997"/>
            <a:ext cx="2945290" cy="251999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7578" t="-20284" r="-18136" b="-20858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B8E2D9-55EB-F2CB-FA2C-1B20179F6EEA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7F70F-A00A-A23F-BED3-1777FFF32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Nanocomposite plastic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9FD534-DC5B-F0F3-7C2C-943EECDDF91C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5729A4-3CD1-D9D5-83FA-954B1A109F54}"/>
              </a:ext>
            </a:extLst>
          </p:cNvPr>
          <p:cNvSpPr txBox="1">
            <a:spLocks/>
          </p:cNvSpPr>
          <p:nvPr/>
        </p:nvSpPr>
        <p:spPr>
          <a:xfrm>
            <a:off x="360679" y="1825625"/>
            <a:ext cx="9152972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Stopping power 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– High </a:t>
            </a:r>
            <a:r>
              <a:rPr lang="en-ZA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endParaRPr lang="en-Z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Energy resolution 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–photoelectric events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Fast scintillation 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– 1 ns decay time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dirty="0">
                <a:solidFill>
                  <a:schemeClr val="accent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Transparent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?</a:t>
            </a:r>
            <a:r>
              <a:rPr lang="en-Z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– High self-absorption and scattering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dirty="0">
                <a:solidFill>
                  <a:schemeClr val="accent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Inexpensive</a:t>
            </a:r>
            <a:r>
              <a:rPr lang="en-ZA" dirty="0">
                <a:latin typeface="Cambria Math" panose="02040503050406030204" pitchFamily="18" charset="0"/>
                <a:ea typeface="Cambria Math" panose="02040503050406030204" pitchFamily="18" charset="0"/>
              </a:rPr>
              <a:t>?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Z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Z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7" name="Title 1">
            <a:extLst>
              <a:ext uri="{FF2B5EF4-FFF2-40B4-BE49-F238E27FC236}">
                <a16:creationId xmlns:a16="http://schemas.microsoft.com/office/drawing/2014/main" id="{4E09A70B-9D08-9BEC-774D-54156F4C1FF6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Motivation for Nanocomposites</a:t>
            </a:r>
          </a:p>
        </p:txBody>
      </p:sp>
      <p:sp>
        <p:nvSpPr>
          <p:cNvPr id="89" name="Slide Number Placeholder 88">
            <a:extLst>
              <a:ext uri="{FF2B5EF4-FFF2-40B4-BE49-F238E27FC236}">
                <a16:creationId xmlns:a16="http://schemas.microsoft.com/office/drawing/2014/main" id="{EC4F1554-35DA-12FD-8D76-70905485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26</a:t>
            </a:fld>
            <a:endParaRPr lang="en-ZA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A9C2BC30-9A5F-00BE-2472-3380DC966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pic>
        <p:nvPicPr>
          <p:cNvPr id="91" name="Picture 90" descr="A close-up of a logo&#10;&#10;Description automatically generated">
            <a:extLst>
              <a:ext uri="{FF2B5EF4-FFF2-40B4-BE49-F238E27FC236}">
                <a16:creationId xmlns:a16="http://schemas.microsoft.com/office/drawing/2014/main" id="{427E2794-F1F8-17B5-47EE-D7E90ACC0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51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BA725-4C44-EEA8-3039-E5AB5E4BC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CE721EA-226E-2D15-1900-6392EFC30D17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70D03D-09C7-80E4-27E0-F8B84BB10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Trial #1 – Epoxy Resin + </a:t>
            </a:r>
            <a:r>
              <a:rPr lang="en-ZA" dirty="0" err="1">
                <a:solidFill>
                  <a:schemeClr val="bg1"/>
                </a:solidFill>
              </a:rPr>
              <a:t>CdS</a:t>
            </a:r>
            <a:r>
              <a:rPr lang="en-ZA" dirty="0">
                <a:solidFill>
                  <a:schemeClr val="bg1"/>
                </a:solidFill>
              </a:rPr>
              <a:t> Nanoplatelets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7B20C3-60C1-2191-FA19-E63909CACDDD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8327016A-3839-FDB4-4852-F82707E59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DA9FEF-2005-8C2E-A6E6-061FC8B84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0AD59-C331-CCF6-9D28-494D9D74C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27</a:t>
            </a:fld>
            <a:endParaRPr lang="en-ZA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E96A0A-5FD6-BBDC-1213-FE0450F2F146}"/>
              </a:ext>
            </a:extLst>
          </p:cNvPr>
          <p:cNvGrpSpPr>
            <a:grpSpLocks noChangeAspect="1"/>
          </p:cNvGrpSpPr>
          <p:nvPr/>
        </p:nvGrpSpPr>
        <p:grpSpPr>
          <a:xfrm>
            <a:off x="6292016" y="2021102"/>
            <a:ext cx="5033796" cy="3600000"/>
            <a:chOff x="4857604" y="1100740"/>
            <a:chExt cx="6497784" cy="4646994"/>
          </a:xfrm>
        </p:grpSpPr>
        <p:pic>
          <p:nvPicPr>
            <p:cNvPr id="5" name="Content Placeholder 8" descr="A group of green and white rectangular objects&#10;&#10;AI-generated content may be incorrect.">
              <a:extLst>
                <a:ext uri="{FF2B5EF4-FFF2-40B4-BE49-F238E27FC236}">
                  <a16:creationId xmlns:a16="http://schemas.microsoft.com/office/drawing/2014/main" id="{B5AF1D2C-11B6-56E8-EFBB-13FDE580D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3188" y="1100740"/>
              <a:ext cx="6172200" cy="464699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3B5087-A3ED-8D6A-BEAC-18266A863652}"/>
                </a:ext>
              </a:extLst>
            </p:cNvPr>
            <p:cNvSpPr txBox="1"/>
            <p:nvPr/>
          </p:nvSpPr>
          <p:spPr>
            <a:xfrm rot="16200000">
              <a:off x="6730503" y="849509"/>
              <a:ext cx="1965960" cy="5711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ZA" sz="2400" b="1" dirty="0">
                  <a:solidFill>
                    <a:srgbClr val="A5E51D"/>
                  </a:solidFill>
                </a:rPr>
                <a:t>0.05</a:t>
              </a:r>
            </a:p>
            <a:p>
              <a:pPr>
                <a:lnSpc>
                  <a:spcPct val="200000"/>
                </a:lnSpc>
              </a:pPr>
              <a:r>
                <a:rPr lang="en-ZA" sz="2400" b="1" dirty="0">
                  <a:solidFill>
                    <a:srgbClr val="A5E51D"/>
                  </a:solidFill>
                </a:rPr>
                <a:t>0.10</a:t>
              </a:r>
            </a:p>
            <a:p>
              <a:pPr>
                <a:lnSpc>
                  <a:spcPct val="200000"/>
                </a:lnSpc>
              </a:pPr>
              <a:r>
                <a:rPr lang="en-ZA" sz="2400" b="1" dirty="0">
                  <a:solidFill>
                    <a:srgbClr val="A5E51D"/>
                  </a:solidFill>
                </a:rPr>
                <a:t>0.20</a:t>
              </a:r>
            </a:p>
            <a:p>
              <a:pPr>
                <a:lnSpc>
                  <a:spcPct val="200000"/>
                </a:lnSpc>
              </a:pPr>
              <a:r>
                <a:rPr lang="en-ZA" sz="2400" b="1" dirty="0">
                  <a:solidFill>
                    <a:srgbClr val="A5E51D"/>
                  </a:solidFill>
                </a:rPr>
                <a:t>0.30</a:t>
              </a:r>
            </a:p>
            <a:p>
              <a:pPr>
                <a:lnSpc>
                  <a:spcPct val="200000"/>
                </a:lnSpc>
              </a:pPr>
              <a:r>
                <a:rPr lang="en-ZA" sz="2400" b="1" dirty="0">
                  <a:solidFill>
                    <a:srgbClr val="A5E51D"/>
                  </a:solidFill>
                </a:rPr>
                <a:t>0.40</a:t>
              </a:r>
            </a:p>
            <a:p>
              <a:pPr>
                <a:lnSpc>
                  <a:spcPct val="200000"/>
                </a:lnSpc>
              </a:pPr>
              <a:r>
                <a:rPr lang="en-ZA" sz="2400" b="1" dirty="0">
                  <a:solidFill>
                    <a:srgbClr val="A5E51D"/>
                  </a:solidFill>
                </a:rPr>
                <a:t>0.60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42AEB2-BD4F-752F-95FC-45FD17697161}"/>
                </a:ext>
              </a:extLst>
            </p:cNvPr>
            <p:cNvSpPr txBox="1"/>
            <p:nvPr/>
          </p:nvSpPr>
          <p:spPr>
            <a:xfrm>
              <a:off x="7191947" y="4625956"/>
              <a:ext cx="2452477" cy="944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ZA" sz="2400" b="1" dirty="0">
                  <a:solidFill>
                    <a:srgbClr val="A5E51D"/>
                  </a:solidFill>
                </a:rPr>
                <a:t>Wt. % </a:t>
              </a:r>
              <a:r>
                <a:rPr lang="en-ZA" sz="2400" b="1" dirty="0" err="1">
                  <a:solidFill>
                    <a:srgbClr val="A5E51D"/>
                  </a:solidFill>
                </a:rPr>
                <a:t>CdS</a:t>
              </a:r>
              <a:endParaRPr lang="en-ZA" sz="2400" b="1" dirty="0">
                <a:solidFill>
                  <a:srgbClr val="A5E51D"/>
                </a:solidFill>
              </a:endParaRPr>
            </a:p>
          </p:txBody>
        </p:sp>
      </p:grpSp>
      <p:pic>
        <p:nvPicPr>
          <p:cNvPr id="10" name="Content Placeholder 15">
            <a:extLst>
              <a:ext uri="{FF2B5EF4-FFF2-40B4-BE49-F238E27FC236}">
                <a16:creationId xmlns:a16="http://schemas.microsoft.com/office/drawing/2014/main" id="{727C3547-4C44-BBC9-247D-598A47430B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t="4586"/>
          <a:stretch/>
        </p:blipFill>
        <p:spPr bwMode="auto">
          <a:xfrm>
            <a:off x="1056956" y="2502478"/>
            <a:ext cx="484303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D3B65A3B-B91C-A064-B378-C237DC0D1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998" y="1673554"/>
            <a:ext cx="2437473" cy="9254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94235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87547-672F-2993-F33D-97CD5825D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9">
            <a:extLst>
              <a:ext uri="{FF2B5EF4-FFF2-40B4-BE49-F238E27FC236}">
                <a16:creationId xmlns:a16="http://schemas.microsoft.com/office/drawing/2014/main" id="{3F3891F8-313A-E131-0F4E-1C4705F20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31"/>
          <a:stretch>
            <a:fillRect/>
          </a:stretch>
        </p:blipFill>
        <p:spPr>
          <a:xfrm>
            <a:off x="838200" y="1612674"/>
            <a:ext cx="5023357" cy="4439124"/>
          </a:xfrm>
          <a:prstGeom prst="rect">
            <a:avLst/>
          </a:prstGeom>
        </p:spPr>
      </p:pic>
      <p:pic>
        <p:nvPicPr>
          <p:cNvPr id="3" name="Content Placeholder 11">
            <a:extLst>
              <a:ext uri="{FF2B5EF4-FFF2-40B4-BE49-F238E27FC236}">
                <a16:creationId xmlns:a16="http://schemas.microsoft.com/office/drawing/2014/main" id="{9EF43F04-2F64-279D-CCBA-3CEEC2E3A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9281" y="1005840"/>
            <a:ext cx="5047274" cy="504727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123BD41-EAB3-130F-8490-8B7E7D9DAE5E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83F9D-225A-9FA7-62F5-0F5EA1F17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Transmittance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4B1165-F2B0-EA9C-91E2-DD58F7D4A57D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53DA0191-3C7B-5451-7599-D3B992E4A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6C8791-C071-72D7-DC9D-B70833512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FF72A-E530-E40B-CC8E-19187594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28</a:t>
            </a:fld>
            <a:endParaRPr lang="en-ZA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B2753E9-D4C8-ABAA-2998-B6E468ADFDCF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Trial#1</a:t>
            </a:r>
          </a:p>
        </p:txBody>
      </p:sp>
    </p:spTree>
    <p:extLst>
      <p:ext uri="{BB962C8B-B14F-4D97-AF65-F5344CB8AC3E}">
        <p14:creationId xmlns:p14="http://schemas.microsoft.com/office/powerpoint/2010/main" val="23815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511EB-0ECB-B9DF-70EE-217BCF7B4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11" descr="A graph of emission spectrum&#10;&#10;AI-generated content may be incorrect.">
            <a:extLst>
              <a:ext uri="{FF2B5EF4-FFF2-40B4-BE49-F238E27FC236}">
                <a16:creationId xmlns:a16="http://schemas.microsoft.com/office/drawing/2014/main" id="{F4FEF2BE-B6B8-8125-5B68-ABFF526ED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1" b="2496"/>
          <a:stretch>
            <a:fillRect/>
          </a:stretch>
        </p:blipFill>
        <p:spPr>
          <a:xfrm>
            <a:off x="6102396" y="1405455"/>
            <a:ext cx="4972004" cy="458887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6469FE-1EAC-0535-335D-6FDCBB718A61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640EBC-D78F-8B17-5678-088FBE7B5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Photoluminescence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37BC11-AD21-A85B-A8D1-1F5912EC14EA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1CF59F14-E2D1-F3DA-33DF-C3B603D80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E7D76F-E52F-0142-CF4A-15C8D8F5E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10FB8-FE42-0533-EBE0-50F8991AE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29</a:t>
            </a:fld>
            <a:endParaRPr lang="en-ZA"/>
          </a:p>
        </p:txBody>
      </p:sp>
      <p:pic>
        <p:nvPicPr>
          <p:cNvPr id="13" name="Content Placeholder 15" descr="A light on a device&#10;&#10;AI-generated content may be incorrect.">
            <a:extLst>
              <a:ext uri="{FF2B5EF4-FFF2-40B4-BE49-F238E27FC236}">
                <a16:creationId xmlns:a16="http://schemas.microsoft.com/office/drawing/2014/main" id="{D71D0F74-3C4E-57B6-BEC7-59B229A22C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0" r="2320"/>
          <a:stretch/>
        </p:blipFill>
        <p:spPr>
          <a:xfrm>
            <a:off x="838200" y="1794460"/>
            <a:ext cx="4825841" cy="381052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4A0725DA-E450-EA3B-EDE1-A71F24D908F4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Trial#1</a:t>
            </a:r>
          </a:p>
        </p:txBody>
      </p:sp>
    </p:spTree>
    <p:extLst>
      <p:ext uri="{BB962C8B-B14F-4D97-AF65-F5344CB8AC3E}">
        <p14:creationId xmlns:p14="http://schemas.microsoft.com/office/powerpoint/2010/main" val="134348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5B9B-C571-2BB5-B07B-2723AEAE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2CBA94-5D83-C327-A79A-EEEEA5604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39"/>
          <a:stretch>
            <a:fillRect/>
          </a:stretch>
        </p:blipFill>
        <p:spPr>
          <a:xfrm>
            <a:off x="1772295" y="1137041"/>
            <a:ext cx="8572500" cy="4400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206EE93-26E1-4BDA-324A-F57AFB60ECBE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DCDFED-227E-3D35-344F-CF815D1B7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Light Yield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FA77A8-C2C3-A156-8616-EDB0FAA7EE5A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FF51AB4F-C7CF-D53D-3D78-411501125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B29DF8-19FB-0D3D-3D95-6F17D4BAD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622C5-69ED-C291-785A-73DB4F85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30</a:t>
            </a:fld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ACC160-AF81-C869-6756-24717A50B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776" b="4607"/>
          <a:stretch>
            <a:fillRect/>
          </a:stretch>
        </p:blipFill>
        <p:spPr>
          <a:xfrm>
            <a:off x="1772295" y="5432169"/>
            <a:ext cx="8572500" cy="38522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1E46F70-0535-571B-A93C-4D27DD040CD1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Trial#1</a:t>
            </a:r>
          </a:p>
        </p:txBody>
      </p:sp>
    </p:spTree>
    <p:extLst>
      <p:ext uri="{BB962C8B-B14F-4D97-AF65-F5344CB8AC3E}">
        <p14:creationId xmlns:p14="http://schemas.microsoft.com/office/powerpoint/2010/main" val="4052391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B4338-AADC-D15F-F39F-76A99EF7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58640D3-B9B4-DF1E-A637-5E737BE08C0F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42811B-C39D-3F94-1E7F-6908856D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Problems and Potential Solutions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53E982-91C1-7A31-55EC-8DF64CB87EB7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57E19EF8-C4F5-A9C0-332C-647EC394C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B08DF8-2804-65BD-7CF8-6C44925AF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21A0D-CEA1-2657-65E9-61A28F94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31</a:t>
            </a:fld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9E26-24EB-9A6E-70CE-B91C358CB34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3883135"/>
          </a:xfrm>
          <a:prstGeom prst="rect">
            <a:avLst/>
          </a:prstGeom>
        </p:spPr>
        <p:txBody>
          <a:bodyPr numCol="2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Low transmittance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Nanoparticle aggregation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Poor polymer integration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Low light yield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Inefficient energy transfer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Inadequate active </a:t>
            </a:r>
            <a:r>
              <a:rPr lang="en-ZA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centers</a:t>
            </a:r>
            <a:endParaRPr lang="en-ZA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High self absorption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Surface Ligand Exchange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Co-polymerizable coupling agents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Mitigate defect formation</a:t>
            </a:r>
          </a:p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Conventional dopants</a:t>
            </a:r>
            <a:endParaRPr lang="en-ZA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Secondary active </a:t>
            </a:r>
            <a:r>
              <a:rPr lang="en-ZA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centers</a:t>
            </a:r>
            <a:r>
              <a:rPr lang="en-Z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– PPO</a:t>
            </a:r>
          </a:p>
          <a:p>
            <a:pPr lvl="1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Wavelength shifter - POPOP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B8387A-8595-D099-71B9-E4483AD24901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Trial#1</a:t>
            </a:r>
          </a:p>
        </p:txBody>
      </p:sp>
    </p:spTree>
    <p:extLst>
      <p:ext uri="{BB962C8B-B14F-4D97-AF65-F5344CB8AC3E}">
        <p14:creationId xmlns:p14="http://schemas.microsoft.com/office/powerpoint/2010/main" val="1739876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1CCE4-5F7B-9A67-120D-960228833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AD868C0-47DA-7ED3-0053-57F32D24F6D7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4FC20F-B80F-4E7D-4CF4-71536A0D7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Trial #2 – Conventional Polystyrene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A2D871-2637-CB8F-0FBB-EC2E7C9EA10F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E1EEDCA0-B4E8-CA81-6F8C-E8ACBCD90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E4B812-58B6-CBCD-64ED-95C27F9A2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CB79D-B68D-4A4A-E3FF-B5D28B8B9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32</a:t>
            </a:fld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F0233-5926-8AC3-4CBE-269948FB5A9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3883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Styrene </a:t>
            </a:r>
          </a:p>
          <a:p>
            <a:pPr>
              <a:lnSpc>
                <a:spcPct val="2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2,5-Diphenyloxazole (PPO)</a:t>
            </a:r>
          </a:p>
          <a:p>
            <a:pPr>
              <a:lnSpc>
                <a:spcPct val="2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1,4-Bis(5-phenyl-2-oxazolyl)benzene (POPOP) </a:t>
            </a:r>
          </a:p>
        </p:txBody>
      </p:sp>
      <p:pic>
        <p:nvPicPr>
          <p:cNvPr id="5" name="Picture 4" descr="Styrene &amp;#8805;99%">
            <a:extLst>
              <a:ext uri="{FF2B5EF4-FFF2-40B4-BE49-F238E27FC236}">
                <a16:creationId xmlns:a16="http://schemas.microsoft.com/office/drawing/2014/main" id="{94110930-48E6-5EA1-31F3-2A33EE1B7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6438" y="2225273"/>
            <a:ext cx="1171526" cy="540000"/>
          </a:xfrm>
          <a:prstGeom prst="rect">
            <a:avLst/>
          </a:prstGeom>
        </p:spPr>
      </p:pic>
      <p:pic>
        <p:nvPicPr>
          <p:cNvPr id="7" name="Picture 6" descr="2,5-Diphenyloxazole 99%, suitable for scintillation">
            <a:extLst>
              <a:ext uri="{FF2B5EF4-FFF2-40B4-BE49-F238E27FC236}">
                <a16:creationId xmlns:a16="http://schemas.microsoft.com/office/drawing/2014/main" id="{F22520E4-FE62-1FBB-CCE9-6548127FE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1200" y="3150478"/>
            <a:ext cx="1689600" cy="792000"/>
          </a:xfrm>
          <a:prstGeom prst="rect">
            <a:avLst/>
          </a:prstGeom>
        </p:spPr>
      </p:pic>
      <p:pic>
        <p:nvPicPr>
          <p:cNvPr id="10" name="Picture 9" descr="1,4-Bis(5-phenyl-2-oxazolyl)benzene BioReagent, suitable for scintillation">
            <a:extLst>
              <a:ext uri="{FF2B5EF4-FFF2-40B4-BE49-F238E27FC236}">
                <a16:creationId xmlns:a16="http://schemas.microsoft.com/office/drawing/2014/main" id="{A9BAC70E-D045-60C2-E6DA-31404410BF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6200" y="4044684"/>
            <a:ext cx="2938775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836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1FEB9-3D35-F680-C385-22D53AB82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A4A3668-23B5-529F-A6B2-AF676E6E4F75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24F5BA-C74F-26EF-B65D-2E9D18B0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Trial #2 – Conventional Polystyrene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0B8850-162A-EACD-FD44-5EE1D5CD6A7E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0E8E3FCF-7B4E-1AE2-4A7F-7B03D00EC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8039D0-3066-4D26-C8DD-6070852BC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26F9E-BDFE-D690-56D4-0C2AD1F6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33</a:t>
            </a:fld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66A1F-BA59-0527-F888-62614AF20EB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3883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Styrene </a:t>
            </a:r>
          </a:p>
          <a:p>
            <a:pPr>
              <a:lnSpc>
                <a:spcPct val="20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PPO</a:t>
            </a:r>
          </a:p>
          <a:p>
            <a:pPr>
              <a:lnSpc>
                <a:spcPct val="20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ZA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POPOP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0B5047-BBF0-228D-3019-59F04B563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7" b="1990"/>
          <a:stretch>
            <a:fillRect/>
          </a:stretch>
        </p:blipFill>
        <p:spPr>
          <a:xfrm>
            <a:off x="6935931" y="1504557"/>
            <a:ext cx="3827964" cy="432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226954-1DA8-E118-ADF3-75AF12A9E2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52" t="42526" r="6720" b="29482"/>
          <a:stretch>
            <a:fillRect/>
          </a:stretch>
        </p:blipFill>
        <p:spPr>
          <a:xfrm>
            <a:off x="968517" y="4433479"/>
            <a:ext cx="4969123" cy="1440000"/>
          </a:xfrm>
          <a:prstGeom prst="rect">
            <a:avLst/>
          </a:prstGeom>
        </p:spPr>
      </p:pic>
      <p:pic>
        <p:nvPicPr>
          <p:cNvPr id="5" name="Picture 4" descr="Styrene &amp;#8805;99%">
            <a:extLst>
              <a:ext uri="{FF2B5EF4-FFF2-40B4-BE49-F238E27FC236}">
                <a16:creationId xmlns:a16="http://schemas.microsoft.com/office/drawing/2014/main" id="{E47ED232-F2E4-A2FE-7252-C0DCA89CEB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4817" y="2079867"/>
            <a:ext cx="937220" cy="432000"/>
          </a:xfrm>
          <a:prstGeom prst="rect">
            <a:avLst/>
          </a:prstGeom>
        </p:spPr>
      </p:pic>
      <p:pic>
        <p:nvPicPr>
          <p:cNvPr id="7" name="Picture 6" descr="2,5-Diphenyloxazole 99%, suitable for scintillation">
            <a:extLst>
              <a:ext uri="{FF2B5EF4-FFF2-40B4-BE49-F238E27FC236}">
                <a16:creationId xmlns:a16="http://schemas.microsoft.com/office/drawing/2014/main" id="{F8491EEB-168A-3784-D1C3-F2B79268EF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4817" y="2766109"/>
            <a:ext cx="1459200" cy="684000"/>
          </a:xfrm>
          <a:prstGeom prst="rect">
            <a:avLst/>
          </a:prstGeom>
        </p:spPr>
      </p:pic>
      <p:pic>
        <p:nvPicPr>
          <p:cNvPr id="10" name="Picture 9" descr="1,4-Bis(5-phenyl-2-oxazolyl)benzene BioReagent, suitable for scintillation">
            <a:extLst>
              <a:ext uri="{FF2B5EF4-FFF2-40B4-BE49-F238E27FC236}">
                <a16:creationId xmlns:a16="http://schemas.microsoft.com/office/drawing/2014/main" id="{4EA6F7E3-17C3-2E81-12C5-7E42213B14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4817" y="3597089"/>
            <a:ext cx="23510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437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7EC33-900B-B551-1726-ECBF40724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0A70452-E10F-F3B4-FD40-6D9F304B787F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7A683B-ED5B-482E-C2BE-861E8537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Energy spectrum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60E465-55AB-8058-9DCD-45034363D548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A6B07C8A-13A2-E57B-AF45-8426D0AFD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734857-C6A1-2A11-13A0-00B96A958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61901-69FA-9923-F388-C22F4C64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34</a:t>
            </a:fld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6B700-F1F8-7181-B78C-3A04CBCD7F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3883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en-ZA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561BDAE-6F6B-3155-FAD5-8406E821E23A}"/>
              </a:ext>
            </a:extLst>
          </p:cNvPr>
          <p:cNvSpPr txBox="1">
            <a:spLocks/>
          </p:cNvSpPr>
          <p:nvPr/>
        </p:nvSpPr>
        <p:spPr>
          <a:xfrm>
            <a:off x="32239" y="-3805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dirty="0">
                <a:solidFill>
                  <a:srgbClr val="004A7A"/>
                </a:solidFill>
              </a:rPr>
              <a:t>Trial#2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0FAFD78-26F1-08FF-ED98-19E4578F2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3202" y="1599945"/>
            <a:ext cx="8744637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793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4DB3-2133-8DF0-BC66-EB93100E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869B80E-ADA9-4723-95CB-62FDCAB540DA}"/>
              </a:ext>
            </a:extLst>
          </p:cNvPr>
          <p:cNvSpPr/>
          <p:nvPr/>
        </p:nvSpPr>
        <p:spPr>
          <a:xfrm>
            <a:off x="0" y="521351"/>
            <a:ext cx="12192000" cy="926583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30A83-19B9-EE6E-BC7B-BEE6DB727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Trial #3 – Add </a:t>
            </a:r>
            <a:r>
              <a:rPr lang="en-ZA" dirty="0" err="1">
                <a:solidFill>
                  <a:schemeClr val="bg1"/>
                </a:solidFill>
              </a:rPr>
              <a:t>CdSe</a:t>
            </a:r>
            <a:r>
              <a:rPr lang="en-ZA" dirty="0">
                <a:solidFill>
                  <a:schemeClr val="bg1"/>
                </a:solidFill>
              </a:rPr>
              <a:t> nanoparticles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AE6ECF-6D7D-8DA4-6B8B-EF05E65246BD}"/>
              </a:ext>
            </a:extLst>
          </p:cNvPr>
          <p:cNvSpPr/>
          <p:nvPr/>
        </p:nvSpPr>
        <p:spPr>
          <a:xfrm>
            <a:off x="-101600" y="5951515"/>
            <a:ext cx="12412133" cy="926583"/>
          </a:xfrm>
          <a:prstGeom prst="rect">
            <a:avLst/>
          </a:prstGeom>
          <a:noFill/>
          <a:ln w="38100">
            <a:solidFill>
              <a:srgbClr val="004A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9079040C-2B82-7E86-48F2-3F18AF293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7" y="6014655"/>
            <a:ext cx="3600000" cy="843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F3C038-C00D-7ECE-8F73-9E3B55B0A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895" y="521350"/>
            <a:ext cx="1428105" cy="9265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973C7-897C-5648-A404-41327BC54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0BBC-C811-4B41-B5E2-8F25E4C64F15}" type="slidenum">
              <a:rPr lang="en-ZA" smtClean="0"/>
              <a:t>35</a:t>
            </a:fld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06E83-7904-F318-2C6E-D823D7BA19C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3883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ZA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E12028-8546-315C-7DD5-640E6D131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202" y="1599945"/>
            <a:ext cx="8744637" cy="4320000"/>
          </a:xfrm>
          <a:prstGeom prst="rect">
            <a:avLst/>
          </a:prstGeom>
        </p:spPr>
      </p:pic>
      <p:sp>
        <p:nvSpPr>
          <p:cNvPr id="7" name="Flowchart: Delay 6">
            <a:extLst>
              <a:ext uri="{FF2B5EF4-FFF2-40B4-BE49-F238E27FC236}">
                <a16:creationId xmlns:a16="http://schemas.microsoft.com/office/drawing/2014/main" id="{F9A7314B-D38A-7AF8-5826-C76B1987652E}"/>
              </a:ext>
            </a:extLst>
          </p:cNvPr>
          <p:cNvSpPr/>
          <p:nvPr/>
        </p:nvSpPr>
        <p:spPr>
          <a:xfrm rot="16200000">
            <a:off x="4125520" y="3915751"/>
            <a:ext cx="1600622" cy="1427218"/>
          </a:xfrm>
          <a:custGeom>
            <a:avLst/>
            <a:gdLst>
              <a:gd name="csX0" fmla="*/ 0 w 706056"/>
              <a:gd name="csY0" fmla="*/ 0 h 393540"/>
              <a:gd name="csX1" fmla="*/ 353028 w 706056"/>
              <a:gd name="csY1" fmla="*/ 0 h 393540"/>
              <a:gd name="csX2" fmla="*/ 706056 w 706056"/>
              <a:gd name="csY2" fmla="*/ 196770 h 393540"/>
              <a:gd name="csX3" fmla="*/ 353028 w 706056"/>
              <a:gd name="csY3" fmla="*/ 393540 h 393540"/>
              <a:gd name="csX4" fmla="*/ 0 w 706056"/>
              <a:gd name="csY4" fmla="*/ 393540 h 393540"/>
              <a:gd name="csX5" fmla="*/ 0 w 706056"/>
              <a:gd name="csY5" fmla="*/ 0 h 393540"/>
              <a:gd name="csX0" fmla="*/ 0 w 764476"/>
              <a:gd name="csY0" fmla="*/ 0 h 487520"/>
              <a:gd name="csX1" fmla="*/ 411448 w 764476"/>
              <a:gd name="csY1" fmla="*/ 93980 h 487520"/>
              <a:gd name="csX2" fmla="*/ 764476 w 764476"/>
              <a:gd name="csY2" fmla="*/ 290750 h 487520"/>
              <a:gd name="csX3" fmla="*/ 411448 w 764476"/>
              <a:gd name="csY3" fmla="*/ 487520 h 487520"/>
              <a:gd name="csX4" fmla="*/ 58420 w 764476"/>
              <a:gd name="csY4" fmla="*/ 487520 h 487520"/>
              <a:gd name="csX5" fmla="*/ 0 w 764476"/>
              <a:gd name="csY5" fmla="*/ 0 h 487520"/>
              <a:gd name="csX0" fmla="*/ 0 w 764476"/>
              <a:gd name="csY0" fmla="*/ 0 h 683100"/>
              <a:gd name="csX1" fmla="*/ 411448 w 764476"/>
              <a:gd name="csY1" fmla="*/ 93980 h 683100"/>
              <a:gd name="csX2" fmla="*/ 764476 w 764476"/>
              <a:gd name="csY2" fmla="*/ 290750 h 683100"/>
              <a:gd name="csX3" fmla="*/ 411448 w 764476"/>
              <a:gd name="csY3" fmla="*/ 487520 h 683100"/>
              <a:gd name="csX4" fmla="*/ 2540 w 764476"/>
              <a:gd name="csY4" fmla="*/ 683100 h 683100"/>
              <a:gd name="csX5" fmla="*/ 0 w 764476"/>
              <a:gd name="csY5" fmla="*/ 0 h 683100"/>
              <a:gd name="csX0" fmla="*/ 245 w 762181"/>
              <a:gd name="csY0" fmla="*/ 0 h 754220"/>
              <a:gd name="csX1" fmla="*/ 409153 w 762181"/>
              <a:gd name="csY1" fmla="*/ 165100 h 754220"/>
              <a:gd name="csX2" fmla="*/ 762181 w 762181"/>
              <a:gd name="csY2" fmla="*/ 361870 h 754220"/>
              <a:gd name="csX3" fmla="*/ 409153 w 762181"/>
              <a:gd name="csY3" fmla="*/ 558640 h 754220"/>
              <a:gd name="csX4" fmla="*/ 245 w 762181"/>
              <a:gd name="csY4" fmla="*/ 754220 h 754220"/>
              <a:gd name="csX5" fmla="*/ 245 w 762181"/>
              <a:gd name="csY5" fmla="*/ 0 h 754220"/>
              <a:gd name="csX0" fmla="*/ 245 w 762181"/>
              <a:gd name="csY0" fmla="*/ 0 h 754220"/>
              <a:gd name="csX1" fmla="*/ 409153 w 762181"/>
              <a:gd name="csY1" fmla="*/ 165100 h 754220"/>
              <a:gd name="csX2" fmla="*/ 762181 w 762181"/>
              <a:gd name="csY2" fmla="*/ 361870 h 754220"/>
              <a:gd name="csX3" fmla="*/ 409153 w 762181"/>
              <a:gd name="csY3" fmla="*/ 558640 h 754220"/>
              <a:gd name="csX4" fmla="*/ 245 w 762181"/>
              <a:gd name="csY4" fmla="*/ 754220 h 754220"/>
              <a:gd name="csX5" fmla="*/ 245 w 762181"/>
              <a:gd name="csY5" fmla="*/ 0 h 754220"/>
              <a:gd name="csX0" fmla="*/ 245 w 762181"/>
              <a:gd name="csY0" fmla="*/ 0 h 754220"/>
              <a:gd name="csX1" fmla="*/ 409153 w 762181"/>
              <a:gd name="csY1" fmla="*/ 165100 h 754220"/>
              <a:gd name="csX2" fmla="*/ 762181 w 762181"/>
              <a:gd name="csY2" fmla="*/ 361870 h 754220"/>
              <a:gd name="csX3" fmla="*/ 409153 w 762181"/>
              <a:gd name="csY3" fmla="*/ 558640 h 754220"/>
              <a:gd name="csX4" fmla="*/ 245 w 762181"/>
              <a:gd name="csY4" fmla="*/ 754220 h 754220"/>
              <a:gd name="csX5" fmla="*/ 245 w 762181"/>
              <a:gd name="csY5" fmla="*/ 0 h 754220"/>
              <a:gd name="csX0" fmla="*/ 245 w 762181"/>
              <a:gd name="csY0" fmla="*/ 0 h 754220"/>
              <a:gd name="csX1" fmla="*/ 409153 w 762181"/>
              <a:gd name="csY1" fmla="*/ 165100 h 754220"/>
              <a:gd name="csX2" fmla="*/ 762181 w 762181"/>
              <a:gd name="csY2" fmla="*/ 361870 h 754220"/>
              <a:gd name="csX3" fmla="*/ 409153 w 762181"/>
              <a:gd name="csY3" fmla="*/ 558640 h 754220"/>
              <a:gd name="csX4" fmla="*/ 245 w 762181"/>
              <a:gd name="csY4" fmla="*/ 754220 h 754220"/>
              <a:gd name="csX5" fmla="*/ 245 w 762181"/>
              <a:gd name="csY5" fmla="*/ 0 h 754220"/>
              <a:gd name="csX0" fmla="*/ 245 w 762181"/>
              <a:gd name="csY0" fmla="*/ 0 h 754220"/>
              <a:gd name="csX1" fmla="*/ 409153 w 762181"/>
              <a:gd name="csY1" fmla="*/ 165100 h 754220"/>
              <a:gd name="csX2" fmla="*/ 762181 w 762181"/>
              <a:gd name="csY2" fmla="*/ 361870 h 754220"/>
              <a:gd name="csX3" fmla="*/ 409153 w 762181"/>
              <a:gd name="csY3" fmla="*/ 558640 h 754220"/>
              <a:gd name="csX4" fmla="*/ 245 w 762181"/>
              <a:gd name="csY4" fmla="*/ 754220 h 754220"/>
              <a:gd name="csX5" fmla="*/ 245 w 762181"/>
              <a:gd name="csY5" fmla="*/ 0 h 754220"/>
              <a:gd name="csX0" fmla="*/ 245 w 762181"/>
              <a:gd name="csY0" fmla="*/ 0 h 754220"/>
              <a:gd name="csX1" fmla="*/ 409153 w 762181"/>
              <a:gd name="csY1" fmla="*/ 165100 h 754220"/>
              <a:gd name="csX2" fmla="*/ 762181 w 762181"/>
              <a:gd name="csY2" fmla="*/ 361870 h 754220"/>
              <a:gd name="csX3" fmla="*/ 409153 w 762181"/>
              <a:gd name="csY3" fmla="*/ 558640 h 754220"/>
              <a:gd name="csX4" fmla="*/ 245 w 762181"/>
              <a:gd name="csY4" fmla="*/ 754220 h 754220"/>
              <a:gd name="csX5" fmla="*/ 245 w 762181"/>
              <a:gd name="csY5" fmla="*/ 0 h 754220"/>
              <a:gd name="csX0" fmla="*/ 245 w 762181"/>
              <a:gd name="csY0" fmla="*/ 8417 h 762637"/>
              <a:gd name="csX1" fmla="*/ 762181 w 762181"/>
              <a:gd name="csY1" fmla="*/ 370287 h 762637"/>
              <a:gd name="csX2" fmla="*/ 409153 w 762181"/>
              <a:gd name="csY2" fmla="*/ 567057 h 762637"/>
              <a:gd name="csX3" fmla="*/ 245 w 762181"/>
              <a:gd name="csY3" fmla="*/ 762637 h 762637"/>
              <a:gd name="csX4" fmla="*/ 245 w 762181"/>
              <a:gd name="csY4" fmla="*/ 8417 h 762637"/>
              <a:gd name="csX0" fmla="*/ 245 w 762181"/>
              <a:gd name="csY0" fmla="*/ 8417 h 769987"/>
              <a:gd name="csX1" fmla="*/ 762181 w 762181"/>
              <a:gd name="csY1" fmla="*/ 370287 h 769987"/>
              <a:gd name="csX2" fmla="*/ 245 w 762181"/>
              <a:gd name="csY2" fmla="*/ 762637 h 769987"/>
              <a:gd name="csX3" fmla="*/ 245 w 762181"/>
              <a:gd name="csY3" fmla="*/ 8417 h 769987"/>
              <a:gd name="csX0" fmla="*/ 245 w 762181"/>
              <a:gd name="csY0" fmla="*/ 0 h 761570"/>
              <a:gd name="csX1" fmla="*/ 762181 w 762181"/>
              <a:gd name="csY1" fmla="*/ 361870 h 761570"/>
              <a:gd name="csX2" fmla="*/ 245 w 762181"/>
              <a:gd name="csY2" fmla="*/ 754220 h 761570"/>
              <a:gd name="csX3" fmla="*/ 245 w 762181"/>
              <a:gd name="csY3" fmla="*/ 0 h 761570"/>
              <a:gd name="csX0" fmla="*/ 245 w 762181"/>
              <a:gd name="csY0" fmla="*/ 0 h 754220"/>
              <a:gd name="csX1" fmla="*/ 762181 w 762181"/>
              <a:gd name="csY1" fmla="*/ 361870 h 754220"/>
              <a:gd name="csX2" fmla="*/ 245 w 762181"/>
              <a:gd name="csY2" fmla="*/ 754220 h 754220"/>
              <a:gd name="csX3" fmla="*/ 245 w 762181"/>
              <a:gd name="csY3" fmla="*/ 0 h 754220"/>
              <a:gd name="csX0" fmla="*/ 245 w 762192"/>
              <a:gd name="csY0" fmla="*/ 0 h 754220"/>
              <a:gd name="csX1" fmla="*/ 762181 w 762192"/>
              <a:gd name="csY1" fmla="*/ 361870 h 754220"/>
              <a:gd name="csX2" fmla="*/ 245 w 762192"/>
              <a:gd name="csY2" fmla="*/ 754220 h 754220"/>
              <a:gd name="csX3" fmla="*/ 245 w 762192"/>
              <a:gd name="csY3" fmla="*/ 0 h 754220"/>
              <a:gd name="csX0" fmla="*/ 245 w 762219"/>
              <a:gd name="csY0" fmla="*/ 0 h 754220"/>
              <a:gd name="csX1" fmla="*/ 762181 w 762219"/>
              <a:gd name="csY1" fmla="*/ 361870 h 754220"/>
              <a:gd name="csX2" fmla="*/ 245 w 762219"/>
              <a:gd name="csY2" fmla="*/ 754220 h 754220"/>
              <a:gd name="csX3" fmla="*/ 245 w 762219"/>
              <a:gd name="csY3" fmla="*/ 0 h 754220"/>
              <a:gd name="csX0" fmla="*/ 0 w 761974"/>
              <a:gd name="csY0" fmla="*/ 0 h 802888"/>
              <a:gd name="csX1" fmla="*/ 761936 w 761974"/>
              <a:gd name="csY1" fmla="*/ 361870 h 802888"/>
              <a:gd name="csX2" fmla="*/ 44019 w 761974"/>
              <a:gd name="csY2" fmla="*/ 802888 h 802888"/>
              <a:gd name="csX0" fmla="*/ 8559 w 770533"/>
              <a:gd name="csY0" fmla="*/ 0 h 759629"/>
              <a:gd name="csX1" fmla="*/ 770495 w 770533"/>
              <a:gd name="csY1" fmla="*/ 361870 h 759629"/>
              <a:gd name="csX2" fmla="*/ 0 w 770533"/>
              <a:gd name="csY2" fmla="*/ 759629 h 759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533" h="759629">
                <a:moveTo>
                  <a:pt x="8559" y="0"/>
                </a:moveTo>
                <a:cubicBezTo>
                  <a:pt x="181268" y="310528"/>
                  <a:pt x="776004" y="192566"/>
                  <a:pt x="770495" y="361870"/>
                </a:cubicBezTo>
                <a:cubicBezTo>
                  <a:pt x="764986" y="531174"/>
                  <a:pt x="100750" y="321696"/>
                  <a:pt x="0" y="759629"/>
                </a:cubicBezTo>
              </a:path>
            </a:pathLst>
          </a:custGeom>
          <a:noFill/>
          <a:ln w="38100">
            <a:solidFill>
              <a:srgbClr val="D28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976443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C1553-0D1E-588D-9200-2783BDDE9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04CE7DE-4FDC-8303-172F-AE232FA04318}"/>
              </a:ext>
            </a:extLst>
          </p:cNvPr>
          <p:cNvSpPr/>
          <p:nvPr/>
        </p:nvSpPr>
        <p:spPr>
          <a:xfrm>
            <a:off x="0" y="2386598"/>
            <a:ext cx="12192000" cy="3081898"/>
          </a:xfrm>
          <a:prstGeom prst="rect">
            <a:avLst/>
          </a:prstGeom>
          <a:solidFill>
            <a:srgbClr val="004A7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69C1C-60E3-09AC-335B-D7A78C625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114" y="2584430"/>
            <a:ext cx="11588885" cy="1973223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Thank you!</a:t>
            </a:r>
            <a:endParaRPr lang="en-ZA" sz="40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D6747-1B9B-FAAD-0C3D-4D9D7BB6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8A2E-7959-466D-8508-99564D9C4A02}" type="slidenum">
              <a:rPr lang="en-ZA" smtClean="0"/>
              <a:t>36</a:t>
            </a:fld>
            <a:endParaRPr lang="en-Z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58F0AD-4FC3-1117-D012-4179974D1C5B}"/>
              </a:ext>
            </a:extLst>
          </p:cNvPr>
          <p:cNvGrpSpPr/>
          <p:nvPr/>
        </p:nvGrpSpPr>
        <p:grpSpPr>
          <a:xfrm>
            <a:off x="111022" y="136525"/>
            <a:ext cx="11864546" cy="843345"/>
            <a:chOff x="111022" y="136525"/>
            <a:chExt cx="11864546" cy="843345"/>
          </a:xfrm>
        </p:grpSpPr>
        <p:pic>
          <p:nvPicPr>
            <p:cNvPr id="5" name="Picture 4" descr="A close-up of a logo&#10;&#10;Description automatically generated">
              <a:extLst>
                <a:ext uri="{FF2B5EF4-FFF2-40B4-BE49-F238E27FC236}">
                  <a16:creationId xmlns:a16="http://schemas.microsoft.com/office/drawing/2014/main" id="{398B4E05-8802-CA58-70B1-9D18B6228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022" y="136525"/>
              <a:ext cx="3600000" cy="84334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75D1FF4-D99D-E54F-C439-C2AC0EC6E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77211" y="137470"/>
              <a:ext cx="1298357" cy="842400"/>
            </a:xfrm>
            <a:prstGeom prst="rect">
              <a:avLst/>
            </a:prstGeom>
          </p:spPr>
        </p:pic>
      </p:grpSp>
      <p:pic>
        <p:nvPicPr>
          <p:cNvPr id="1026" name="Picture 2" descr="Tracey Webster - Chief Executive Officer - Oppenheimer Memorial Trust |  LinkedIn">
            <a:extLst>
              <a:ext uri="{FF2B5EF4-FFF2-40B4-BE49-F238E27FC236}">
                <a16:creationId xmlns:a16="http://schemas.microsoft.com/office/drawing/2014/main" id="{A5E900BC-5BEE-45B6-2443-FEB5C37BB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66" y="5910791"/>
            <a:ext cx="3564467" cy="891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A0ED1-1074-29C0-BA04-3D447FF2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438D-66BC-4B19-BEE6-F78B7661F339}" type="datetime1">
              <a:rPr lang="en-ZA" smtClean="0"/>
              <a:t>2026/06/01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82730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Nanocrystal Enhancement of Low-Cost Scintillators for PET Imaging OMT</Template>
  <TotalTime>5701</TotalTime>
  <Words>911</Words>
  <Application>Microsoft Office PowerPoint</Application>
  <PresentationFormat>Widescreen</PresentationFormat>
  <Paragraphs>468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Cambria Math</vt:lpstr>
      <vt:lpstr>Office Theme</vt:lpstr>
      <vt:lpstr>Nanocomposite Organic Scintillators for PET Imaging</vt:lpstr>
      <vt:lpstr>Outline</vt:lpstr>
      <vt:lpstr>The Big Question</vt:lpstr>
      <vt:lpstr>What scintillators do</vt:lpstr>
      <vt:lpstr>How scintillators work</vt:lpstr>
      <vt:lpstr>Stopping γ photons is not trivial</vt:lpstr>
      <vt:lpstr>Absorption</vt:lpstr>
      <vt:lpstr>Absorption</vt:lpstr>
      <vt:lpstr>Energy Transfer</vt:lpstr>
      <vt:lpstr>Luminescence</vt:lpstr>
      <vt:lpstr>Losses</vt:lpstr>
      <vt:lpstr>What makes a good scintillator</vt:lpstr>
      <vt:lpstr>Recap</vt:lpstr>
      <vt:lpstr>PowerPoint Presentation</vt:lpstr>
      <vt:lpstr>PowerPoint Presentation</vt:lpstr>
      <vt:lpstr>PowerPoint Presentation</vt:lpstr>
      <vt:lpstr>Light Yield</vt:lpstr>
      <vt:lpstr>Fast scintillation</vt:lpstr>
      <vt:lpstr>Energy Resolution</vt:lpstr>
      <vt:lpstr>Scintillator Landscape</vt:lpstr>
      <vt:lpstr>Crystals</vt:lpstr>
      <vt:lpstr>Organics</vt:lpstr>
      <vt:lpstr>Ceramics</vt:lpstr>
      <vt:lpstr>Motivation for Nanocomposites</vt:lpstr>
      <vt:lpstr>Nanoparticle Activation Centers</vt:lpstr>
      <vt:lpstr>Nanocomposite plastic</vt:lpstr>
      <vt:lpstr>Trial #1 – Epoxy Resin + CdS Nanoplatelets</vt:lpstr>
      <vt:lpstr>Transmittance</vt:lpstr>
      <vt:lpstr>Photoluminescence</vt:lpstr>
      <vt:lpstr>Light Yield</vt:lpstr>
      <vt:lpstr>Problems and Potential Solutions</vt:lpstr>
      <vt:lpstr>Trial #2 – Conventional Polystyrene</vt:lpstr>
      <vt:lpstr>Trial #2 – Conventional Polystyrene</vt:lpstr>
      <vt:lpstr>Energy spectrum</vt:lpstr>
      <vt:lpstr>Trial #3 – Add CdSe nanoparticles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Declan Mahony</dc:creator>
  <cp:lastModifiedBy>Declan Mahony</cp:lastModifiedBy>
  <cp:revision>236</cp:revision>
  <dcterms:created xsi:type="dcterms:W3CDTF">2026-05-28T14:46:29Z</dcterms:created>
  <dcterms:modified xsi:type="dcterms:W3CDTF">2026-06-01T16:05:57Z</dcterms:modified>
</cp:coreProperties>
</file>